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3"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4A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BBB277-129A-4BA6-B106-5BF29C7F762D}" v="8" dt="2026-07-05T00:28:39.7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436" autoAdjust="0"/>
  </p:normalViewPr>
  <p:slideViewPr>
    <p:cSldViewPr snapToGrid="0" snapToObjects="1">
      <p:cViewPr varScale="1">
        <p:scale>
          <a:sx n="132" d="100"/>
          <a:sy n="132" d="100"/>
        </p:scale>
        <p:origin x="1050" y="114"/>
      </p:cViewPr>
      <p:guideLst/>
    </p:cSldViewPr>
  </p:slideViewPr>
  <p:notesTextViewPr>
    <p:cViewPr>
      <p:scale>
        <a:sx n="1" d="1"/>
        <a:sy n="1" d="1"/>
      </p:scale>
      <p:origin x="0" y="0"/>
    </p:cViewPr>
  </p:notesTextViewPr>
  <p:sorterViewPr>
    <p:cViewPr>
      <p:scale>
        <a:sx n="200" d="100"/>
        <a:sy n="200" d="100"/>
      </p:scale>
      <p:origin x="0" y="-184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רותם מרבנט" userId="7888dee8-1b8b-4b86-91df-cf6483ef1474" providerId="ADAL" clId="{14B257B0-295C-474C-A378-767CE792C82C}"/>
    <pc:docChg chg="undo custSel modSld">
      <pc:chgData name="רותם מרבנט" userId="7888dee8-1b8b-4b86-91df-cf6483ef1474" providerId="ADAL" clId="{14B257B0-295C-474C-A378-767CE792C82C}" dt="2026-07-05T00:30:22.811" v="71" actId="1076"/>
      <pc:docMkLst>
        <pc:docMk/>
      </pc:docMkLst>
      <pc:sldChg chg="addSp delSp modSp mod">
        <pc:chgData name="רותם מרבנט" userId="7888dee8-1b8b-4b86-91df-cf6483ef1474" providerId="ADAL" clId="{14B257B0-295C-474C-A378-767CE792C82C}" dt="2026-07-05T00:30:22.811" v="71" actId="1076"/>
        <pc:sldMkLst>
          <pc:docMk/>
          <pc:sldMk cId="0" sldId="260"/>
        </pc:sldMkLst>
        <pc:spChg chg="mod">
          <ac:chgData name="רותם מרבנט" userId="7888dee8-1b8b-4b86-91df-cf6483ef1474" providerId="ADAL" clId="{14B257B0-295C-474C-A378-767CE792C82C}" dt="2026-07-05T00:28:58.847" v="67" actId="1076"/>
          <ac:spMkLst>
            <pc:docMk/>
            <pc:sldMk cId="0" sldId="260"/>
            <ac:spMk id="14" creationId="{00000000-0000-0000-0000-000000000000}"/>
          </ac:spMkLst>
        </pc:spChg>
        <pc:grpChg chg="add del mod">
          <ac:chgData name="רותם מרבנט" userId="7888dee8-1b8b-4b86-91df-cf6483ef1474" providerId="ADAL" clId="{14B257B0-295C-474C-A378-767CE792C82C}" dt="2026-07-05T00:28:42.772" v="61" actId="478"/>
          <ac:grpSpMkLst>
            <pc:docMk/>
            <pc:sldMk cId="0" sldId="260"/>
            <ac:grpSpMk id="22" creationId="{3C705F9B-6ACF-5E43-7FB6-CA83854D6DA4}"/>
          </ac:grpSpMkLst>
        </pc:grpChg>
        <pc:picChg chg="add del">
          <ac:chgData name="רותם מרבנט" userId="7888dee8-1b8b-4b86-91df-cf6483ef1474" providerId="ADAL" clId="{14B257B0-295C-474C-A378-767CE792C82C}" dt="2026-07-05T00:16:22.693" v="34" actId="478"/>
          <ac:picMkLst>
            <pc:docMk/>
            <pc:sldMk cId="0" sldId="260"/>
            <ac:picMk id="5" creationId="{00000000-0000-0000-0000-000000000000}"/>
          </ac:picMkLst>
        </pc:picChg>
        <pc:picChg chg="add del">
          <ac:chgData name="רותם מרבנט" userId="7888dee8-1b8b-4b86-91df-cf6483ef1474" providerId="ADAL" clId="{14B257B0-295C-474C-A378-767CE792C82C}" dt="2026-07-05T00:28:04.896" v="56" actId="478"/>
          <ac:picMkLst>
            <pc:docMk/>
            <pc:sldMk cId="0" sldId="260"/>
            <ac:picMk id="9" creationId="{00000000-0000-0000-0000-000000000000}"/>
          </ac:picMkLst>
        </pc:picChg>
        <pc:picChg chg="add del">
          <ac:chgData name="רותם מרבנט" userId="7888dee8-1b8b-4b86-91df-cf6483ef1474" providerId="ADAL" clId="{14B257B0-295C-474C-A378-767CE792C82C}" dt="2026-07-05T00:16:21.878" v="32" actId="478"/>
          <ac:picMkLst>
            <pc:docMk/>
            <pc:sldMk cId="0" sldId="260"/>
            <ac:picMk id="13" creationId="{00000000-0000-0000-0000-000000000000}"/>
          </ac:picMkLst>
        </pc:picChg>
        <pc:picChg chg="add del mod">
          <ac:chgData name="רותם מרבנט" userId="7888dee8-1b8b-4b86-91df-cf6483ef1474" providerId="ADAL" clId="{14B257B0-295C-474C-A378-767CE792C82C}" dt="2026-07-05T00:26:47.600" v="36" actId="478"/>
          <ac:picMkLst>
            <pc:docMk/>
            <pc:sldMk cId="0" sldId="260"/>
            <ac:picMk id="17" creationId="{A51EBD42-35C4-BDEA-0AE0-C818B60468EC}"/>
          </ac:picMkLst>
        </pc:picChg>
        <pc:picChg chg="add del mod modCrop">
          <ac:chgData name="רותם מרבנט" userId="7888dee8-1b8b-4b86-91df-cf6483ef1474" providerId="ADAL" clId="{14B257B0-295C-474C-A378-767CE792C82C}" dt="2026-07-05T00:30:22.811" v="71" actId="1076"/>
          <ac:picMkLst>
            <pc:docMk/>
            <pc:sldMk cId="0" sldId="260"/>
            <ac:picMk id="19" creationId="{FF24EE04-D7D7-6BCC-3071-FB803AE0B713}"/>
          </ac:picMkLst>
        </pc:picChg>
        <pc:picChg chg="add mod modCrop">
          <ac:chgData name="רותם מרבנט" userId="7888dee8-1b8b-4b86-91df-cf6483ef1474" providerId="ADAL" clId="{14B257B0-295C-474C-A378-767CE792C82C}" dt="2026-07-05T00:27:37.742" v="51"/>
          <ac:picMkLst>
            <pc:docMk/>
            <pc:sldMk cId="0" sldId="260"/>
            <ac:picMk id="20" creationId="{1000D088-D25A-8C35-383B-42B71B637BBE}"/>
          </ac:picMkLst>
        </pc:picChg>
        <pc:picChg chg="add mod">
          <ac:chgData name="רותם מרבנט" userId="7888dee8-1b8b-4b86-91df-cf6483ef1474" providerId="ADAL" clId="{14B257B0-295C-474C-A378-767CE792C82C}" dt="2026-07-05T00:28:17.898" v="59" actId="1076"/>
          <ac:picMkLst>
            <pc:docMk/>
            <pc:sldMk cId="0" sldId="260"/>
            <ac:picMk id="21" creationId="{20240CAA-5375-4F90-2CE9-514467CE6C19}"/>
          </ac:picMkLst>
        </pc:picChg>
        <pc:picChg chg="add mod topLvl">
          <ac:chgData name="רותם מרבנט" userId="7888dee8-1b8b-4b86-91df-cf6483ef1474" providerId="ADAL" clId="{14B257B0-295C-474C-A378-767CE792C82C}" dt="2026-07-05T00:30:06.290" v="70" actId="1076"/>
          <ac:picMkLst>
            <pc:docMk/>
            <pc:sldMk cId="0" sldId="260"/>
            <ac:picMk id="23" creationId="{B9DEEBF2-F65C-D6A4-1149-26D957D62096}"/>
          </ac:picMkLst>
        </pc:picChg>
        <pc:picChg chg="add del mod topLvl">
          <ac:chgData name="רותם מרבנט" userId="7888dee8-1b8b-4b86-91df-cf6483ef1474" providerId="ADAL" clId="{14B257B0-295C-474C-A378-767CE792C82C}" dt="2026-07-05T00:28:42.772" v="61" actId="478"/>
          <ac:picMkLst>
            <pc:docMk/>
            <pc:sldMk cId="0" sldId="260"/>
            <ac:picMk id="24" creationId="{BFCB3B65-3AB9-4255-D2B8-2778451CAEC6}"/>
          </ac:picMkLst>
        </pc:picChg>
      </pc:sldChg>
      <pc:sldChg chg="modSp mod">
        <pc:chgData name="רותם מרבנט" userId="7888dee8-1b8b-4b86-91df-cf6483ef1474" providerId="ADAL" clId="{14B257B0-295C-474C-A378-767CE792C82C}" dt="2026-07-05T00:07:59.345" v="25" actId="20577"/>
        <pc:sldMkLst>
          <pc:docMk/>
          <pc:sldMk cId="0" sldId="273"/>
        </pc:sldMkLst>
        <pc:spChg chg="mod">
          <ac:chgData name="רותם מרבנט" userId="7888dee8-1b8b-4b86-91df-cf6483ef1474" providerId="ADAL" clId="{14B257B0-295C-474C-A378-767CE792C82C}" dt="2026-07-05T00:07:59.345" v="25" actId="20577"/>
          <ac:spMkLst>
            <pc:docMk/>
            <pc:sldMk cId="0" sldId="273"/>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883062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dirty="0"/>
              <a:t>Irit:</a:t>
            </a:r>
            <a:br>
              <a:rPr lang="en-US" dirty="0"/>
            </a:br>
            <a:br>
              <a:rPr lang="en-US" dirty="0"/>
            </a:br>
            <a:r>
              <a:rPr lang="en-US" sz="1200" kern="1200" dirty="0">
                <a:solidFill>
                  <a:schemeClr val="tx1"/>
                </a:solidFill>
                <a:effectLst/>
                <a:latin typeface="+mn-lt"/>
                <a:ea typeface="+mn-ea"/>
                <a:cs typeface="+mn-cs"/>
              </a:rPr>
              <a:t>Good afternoon, my name is Irit and together with my partner Rotem, we will be presenting our research on evaluating 'Network Stability using a Hyperbolic Geometric Latent Diffusion Model, supervised by our advisors, Dr. Renata </a:t>
            </a:r>
            <a:r>
              <a:rPr lang="en-US" sz="1200" kern="1200" dirty="0" err="1">
                <a:solidFill>
                  <a:schemeClr val="tx1"/>
                </a:solidFill>
                <a:effectLst/>
                <a:latin typeface="+mn-lt"/>
                <a:ea typeface="+mn-ea"/>
                <a:cs typeface="+mn-cs"/>
              </a:rPr>
              <a:t>Avros</a:t>
            </a:r>
            <a:r>
              <a:rPr lang="en-US" sz="1200" kern="1200" dirty="0">
                <a:solidFill>
                  <a:schemeClr val="tx1"/>
                </a:solidFill>
                <a:effectLst/>
                <a:latin typeface="+mn-lt"/>
                <a:ea typeface="+mn-ea"/>
                <a:cs typeface="+mn-cs"/>
              </a:rPr>
              <a:t> and Prof. Zeev </a:t>
            </a:r>
            <a:r>
              <a:rPr lang="en-US" sz="1200" kern="1200" dirty="0" err="1">
                <a:solidFill>
                  <a:schemeClr val="tx1"/>
                </a:solidFill>
                <a:effectLst/>
                <a:latin typeface="+mn-lt"/>
                <a:ea typeface="+mn-ea"/>
                <a:cs typeface="+mn-cs"/>
              </a:rPr>
              <a:t>Volkovich</a:t>
            </a:r>
            <a:r>
              <a:rPr lang="en-US" sz="1200" kern="1200" dirty="0">
                <a:solidFill>
                  <a:schemeClr val="tx1"/>
                </a:solidFill>
                <a:effectLst/>
                <a:latin typeface="+mn-lt"/>
                <a:ea typeface="+mn-ea"/>
                <a:cs typeface="+mn-cs"/>
              </a:rPr>
              <a:t>.</a:t>
            </a:r>
            <a:endParaRPr lang="en-IL" sz="1200" kern="1200" dirty="0">
              <a:solidFill>
                <a:schemeClr val="tx1"/>
              </a:solidFill>
              <a:effectLst/>
              <a:latin typeface="+mn-lt"/>
              <a:ea typeface="+mn-ea"/>
              <a:cs typeface="+mn-cs"/>
            </a:endParaRPr>
          </a:p>
          <a:p>
            <a:pPr algn="l"/>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Irit:</a:t>
            </a:r>
            <a:br>
              <a:rPr lang="en-US" dirty="0"/>
            </a:br>
            <a:br>
              <a:rPr lang="en-US" dirty="0"/>
            </a:br>
            <a:r>
              <a:rPr lang="en-US" sz="1200" kern="1200" dirty="0">
                <a:solidFill>
                  <a:schemeClr val="tx1"/>
                </a:solidFill>
                <a:effectLst/>
                <a:latin typeface="+mn-lt"/>
                <a:ea typeface="+mn-ea"/>
                <a:cs typeface="+mn-cs"/>
              </a:rPr>
              <a:t>Let's start with a quick look at where we're going. </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First, we'll explain why this problem matters and why current tools can't solve it. </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Then we will cover the mathematical framework and the specific model we build upon, known as HypDiff. </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The core of our presentation will detail our custom pipeline, which consists of three modules. </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And finally, we'll review our datasets, our validation methods, and close with a summary.</a:t>
            </a:r>
            <a:endParaRPr lang="en-IL" sz="1200" kern="1200" dirty="0">
              <a:solidFill>
                <a:schemeClr val="tx1"/>
              </a:solidFill>
              <a:effectLst/>
              <a:latin typeface="+mn-lt"/>
              <a:ea typeface="+mn-ea"/>
              <a:cs typeface="+mn-cs"/>
            </a:endParaRPr>
          </a:p>
          <a:p>
            <a:pPr algn="l"/>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dirty="0"/>
              <a:t>Irit:</a:t>
            </a:r>
            <a:br>
              <a:rPr lang="en-US" dirty="0"/>
            </a:br>
            <a:br>
              <a:rPr lang="en-US" dirty="0"/>
            </a:br>
            <a:r>
              <a:rPr lang="en-US" sz="1200" kern="1200" dirty="0">
                <a:solidFill>
                  <a:schemeClr val="tx1"/>
                </a:solidFill>
                <a:effectLst/>
                <a:latin typeface="+mn-lt"/>
                <a:ea typeface="+mn-ea"/>
                <a:cs typeface="+mn-cs"/>
              </a:rPr>
              <a:t>Complex networks are not a theoretical abstraction - they're the backbone of every critical system we depend on. Power grids, biological systems, social platforms - all controlled by the same underlying mathematical structures. The challenge is that these topologies are almost never static. They're constantly exposed to environmental stress, heavy dynamic loads, and even targeted structural failures such as a power grid losing connections, or a biological network changing under disease conditions. Because these systems are so critical, identifying their structural vulnerabilities early is essential to prevent catastrophic collapse. The key insight: stability isn't just about measuring the current graph - it's about understanding how that graph behaves under damage, and whether its important structural properties can still be recovered.</a:t>
            </a:r>
            <a:endParaRPr lang="en-IL" sz="1200" kern="1200" dirty="0">
              <a:solidFill>
                <a:schemeClr val="tx1"/>
              </a:solidFill>
              <a:effectLst/>
              <a:latin typeface="+mn-lt"/>
              <a:ea typeface="+mn-ea"/>
              <a:cs typeface="+mn-cs"/>
            </a:endParaRPr>
          </a:p>
          <a:p>
            <a:pPr algn="l"/>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Irit:</a:t>
            </a:r>
            <a:br>
              <a:rPr lang="en-US" dirty="0"/>
            </a:br>
            <a:br>
              <a:rPr lang="en-US" dirty="0"/>
            </a:br>
            <a:r>
              <a:rPr lang="en-US" sz="1200" kern="1200" dirty="0">
                <a:solidFill>
                  <a:schemeClr val="tx1"/>
                </a:solidFill>
                <a:effectLst/>
                <a:latin typeface="+mn-lt"/>
                <a:ea typeface="+mn-ea"/>
                <a:cs typeface="+mn-cs"/>
              </a:rPr>
              <a:t>You might assume that network stability is a solved problem, but it is far from it. There are three fundamental reasons why current approaches fall short. </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First, classical metrics treat a network as a single, static structure, ignoring the fact that a damaged network has many potential structural states. </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Second, standard graph neural networks suffer from significant geometric distortion because they attempt to embed hierarchical, tree-like structures into Euclidean space. Since these networks grow exponentially while Euclidean space only expands polynomially, the underlying structure is compressed and misrepresented.</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Finally, standard diffusion models inject uniform noise in every direction, which destroys the very topological structure we are trying to measure. </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Together, these issues mean that current resilience scores simply cannot be trusted. </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Now, Rotem will explain the mathematics that allow us to overcome these limitations.</a:t>
            </a:r>
            <a:endParaRPr lang="en-IL" sz="1200" kern="1200" dirty="0">
              <a:solidFill>
                <a:schemeClr val="tx1"/>
              </a:solidFill>
              <a:effectLst/>
              <a:latin typeface="+mn-lt"/>
              <a:ea typeface="+mn-ea"/>
              <a:cs typeface="+mn-cs"/>
            </a:endParaRPr>
          </a:p>
          <a:p>
            <a:pPr algn="l"/>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Rotem:</a:t>
            </a:r>
            <a:br>
              <a:rPr lang="en-US" dirty="0"/>
            </a:br>
            <a:br>
              <a:rPr lang="en-US" dirty="0"/>
            </a:br>
            <a:r>
              <a:rPr lang="en-IL" sz="1200" kern="1200" dirty="0">
                <a:solidFill>
                  <a:schemeClr val="tx1"/>
                </a:solidFill>
                <a:effectLst/>
                <a:latin typeface="+mn-lt"/>
                <a:ea typeface="+mn-ea"/>
                <a:cs typeface="+mn-cs"/>
              </a:rPr>
              <a:t>To address the problems we just outlined, we rely on three mathematical foundations.</a:t>
            </a:r>
          </a:p>
          <a:p>
            <a:pPr algn="l"/>
            <a:r>
              <a:rPr lang="en-US" sz="1200" b="1" kern="1200" dirty="0">
                <a:solidFill>
                  <a:schemeClr val="tx1"/>
                </a:solidFill>
                <a:effectLst/>
                <a:latin typeface="+mn-lt"/>
                <a:ea typeface="+mn-ea"/>
                <a:cs typeface="+mn-cs"/>
              </a:rPr>
              <a:t>The first is Hyperbolic geometry </a:t>
            </a:r>
            <a:r>
              <a:rPr lang="en-US" sz="1200" kern="1200" dirty="0">
                <a:solidFill>
                  <a:schemeClr val="tx1"/>
                </a:solidFill>
                <a:effectLst/>
                <a:latin typeface="+mn-lt"/>
                <a:ea typeface="+mn-ea"/>
                <a:cs typeface="+mn-cs"/>
              </a:rPr>
              <a:t>– a space with </a:t>
            </a:r>
            <a:r>
              <a:rPr lang="en-IL" sz="1200" kern="1200" dirty="0">
                <a:solidFill>
                  <a:schemeClr val="tx1"/>
                </a:solidFill>
                <a:effectLst/>
                <a:latin typeface="+mn-lt"/>
                <a:ea typeface="+mn-ea"/>
                <a:cs typeface="+mn-cs"/>
              </a:rPr>
              <a:t>constant negative curvature that expands exponentially as you move outward from the center. This is exactly the right property for representing complex structures.</a:t>
            </a:r>
          </a:p>
          <a:p>
            <a:pPr algn="l"/>
            <a:br>
              <a:rPr lang="en-IL" sz="1200" kern="1200" dirty="0">
                <a:solidFill>
                  <a:schemeClr val="tx1"/>
                </a:solidFill>
                <a:effectLst/>
                <a:latin typeface="+mn-lt"/>
                <a:ea typeface="+mn-ea"/>
                <a:cs typeface="+mn-cs"/>
              </a:rPr>
            </a:br>
            <a:r>
              <a:rPr lang="en-IL" sz="1200" kern="1200" dirty="0">
                <a:solidFill>
                  <a:schemeClr val="tx1"/>
                </a:solidFill>
                <a:effectLst/>
                <a:latin typeface="+mn-lt"/>
                <a:ea typeface="+mn-ea"/>
                <a:cs typeface="+mn-cs"/>
              </a:rPr>
              <a:t>Now, hyperbolic space has no linear structure, so operations like adding points or adding Gaussian noise — which diffusion models rely on — aren't even defined.</a:t>
            </a:r>
            <a:br>
              <a:rPr lang="en-IL" sz="1200" kern="1200" dirty="0">
                <a:solidFill>
                  <a:schemeClr val="tx1"/>
                </a:solidFill>
                <a:effectLst/>
                <a:latin typeface="+mn-lt"/>
                <a:ea typeface="+mn-ea"/>
                <a:cs typeface="+mn-cs"/>
              </a:rPr>
            </a:br>
            <a:r>
              <a:rPr lang="en-IL" sz="1200" kern="1200" dirty="0">
                <a:solidFill>
                  <a:schemeClr val="tx1"/>
                </a:solidFill>
                <a:effectLst/>
                <a:latin typeface="+mn-lt"/>
                <a:ea typeface="+mn-ea"/>
                <a:cs typeface="+mn-cs"/>
              </a:rPr>
              <a:t>This is where the second foundation </a:t>
            </a:r>
            <a:r>
              <a:rPr lang="en-US" sz="1200" kern="1200" dirty="0">
                <a:solidFill>
                  <a:schemeClr val="tx1"/>
                </a:solidFill>
                <a:effectLst/>
                <a:latin typeface="+mn-lt"/>
                <a:ea typeface="+mn-ea"/>
                <a:cs typeface="+mn-cs"/>
              </a:rPr>
              <a:t>steps </a:t>
            </a:r>
            <a:r>
              <a:rPr lang="en-IL" sz="1200" kern="1200" dirty="0">
                <a:solidFill>
                  <a:schemeClr val="tx1"/>
                </a:solidFill>
                <a:effectLst/>
                <a:latin typeface="+mn-lt"/>
                <a:ea typeface="+mn-ea"/>
                <a:cs typeface="+mn-cs"/>
              </a:rPr>
              <a:t>in.</a:t>
            </a:r>
            <a:br>
              <a:rPr lang="en-IL" sz="1200" kern="1200" dirty="0">
                <a:solidFill>
                  <a:schemeClr val="tx1"/>
                </a:solidFill>
                <a:effectLst/>
                <a:latin typeface="+mn-lt"/>
                <a:ea typeface="+mn-ea"/>
                <a:cs typeface="+mn-cs"/>
              </a:rPr>
            </a:br>
            <a:r>
              <a:rPr lang="en-IL" sz="1200" kern="1200" dirty="0">
                <a:solidFill>
                  <a:schemeClr val="tx1"/>
                </a:solidFill>
                <a:effectLst/>
                <a:latin typeface="+mn-lt"/>
                <a:ea typeface="+mn-ea"/>
                <a:cs typeface="+mn-cs"/>
              </a:rPr>
              <a:t>At any point on the manifold, we attach a tangent space, which is locally Euclidean. </a:t>
            </a:r>
            <a:br>
              <a:rPr lang="he-IL" sz="1200" kern="1200" dirty="0">
                <a:solidFill>
                  <a:schemeClr val="tx1"/>
                </a:solidFill>
                <a:effectLst/>
                <a:latin typeface="+mn-lt"/>
                <a:ea typeface="+mn-ea"/>
                <a:cs typeface="+mn-cs"/>
              </a:rPr>
            </a:br>
            <a:r>
              <a:rPr lang="en-IL" sz="1200" kern="1200" dirty="0">
                <a:solidFill>
                  <a:schemeClr val="tx1"/>
                </a:solidFill>
                <a:effectLst/>
                <a:latin typeface="+mn-lt"/>
                <a:ea typeface="+mn-ea"/>
                <a:cs typeface="+mn-cs"/>
              </a:rPr>
              <a:t>The log map projects a point from the manifold into that tangent space. The exp map does the reverse.</a:t>
            </a:r>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algn="l"/>
            <a:r>
              <a:rPr lang="en-IL" sz="1200" kern="1200" dirty="0">
                <a:solidFill>
                  <a:schemeClr val="tx1"/>
                </a:solidFill>
                <a:effectLst/>
                <a:latin typeface="+mn-lt"/>
                <a:ea typeface="+mn-ea"/>
                <a:cs typeface="+mn-cs"/>
              </a:rPr>
              <a:t>The last foundation is the </a:t>
            </a:r>
            <a:r>
              <a:rPr lang="en-IL" sz="1200" b="1" kern="1200" dirty="0">
                <a:solidFill>
                  <a:schemeClr val="tx1"/>
                </a:solidFill>
                <a:effectLst/>
                <a:latin typeface="+mn-lt"/>
                <a:ea typeface="+mn-ea"/>
                <a:cs typeface="+mn-cs"/>
              </a:rPr>
              <a:t>Popularity-Similarity Optimization framework</a:t>
            </a:r>
            <a:r>
              <a:rPr lang="en-IL" sz="1200" kern="1200" dirty="0">
                <a:solidFill>
                  <a:schemeClr val="tx1"/>
                </a:solidFill>
                <a:effectLst/>
                <a:latin typeface="+mn-lt"/>
                <a:ea typeface="+mn-ea"/>
                <a:cs typeface="+mn-cs"/>
              </a:rPr>
              <a:t>, or PSO.</a:t>
            </a:r>
            <a:br>
              <a:rPr lang="en-IL" sz="1200" kern="1200" dirty="0">
                <a:solidFill>
                  <a:schemeClr val="tx1"/>
                </a:solidFill>
                <a:effectLst/>
                <a:latin typeface="+mn-lt"/>
                <a:ea typeface="+mn-ea"/>
                <a:cs typeface="+mn-cs"/>
              </a:rPr>
            </a:br>
            <a:r>
              <a:rPr lang="en-IL" sz="1200" kern="1200" dirty="0">
                <a:solidFill>
                  <a:schemeClr val="tx1"/>
                </a:solidFill>
                <a:effectLst/>
                <a:latin typeface="+mn-lt"/>
                <a:ea typeface="+mn-ea"/>
                <a:cs typeface="+mn-cs"/>
              </a:rPr>
              <a:t>Each node is mapped to a polar coordinates on the hyperbolic disk.</a:t>
            </a:r>
            <a:br>
              <a:rPr lang="en-IL" sz="1200" kern="1200" dirty="0">
                <a:solidFill>
                  <a:schemeClr val="tx1"/>
                </a:solidFill>
                <a:effectLst/>
                <a:latin typeface="+mn-lt"/>
                <a:ea typeface="+mn-ea"/>
                <a:cs typeface="+mn-cs"/>
              </a:rPr>
            </a:br>
            <a:r>
              <a:rPr lang="en-IL" sz="1200" kern="1200" dirty="0">
                <a:solidFill>
                  <a:schemeClr val="tx1"/>
                </a:solidFill>
                <a:effectLst/>
                <a:latin typeface="+mn-lt"/>
                <a:ea typeface="+mn-ea"/>
                <a:cs typeface="+mn-cs"/>
              </a:rPr>
              <a:t>The radial coordinate encodes popularity – a smaller radius means the node is more central and attracts more connections.</a:t>
            </a:r>
            <a:br>
              <a:rPr lang="en-IL" sz="1200" kern="1200" dirty="0">
                <a:solidFill>
                  <a:schemeClr val="tx1"/>
                </a:solidFill>
                <a:effectLst/>
                <a:latin typeface="+mn-lt"/>
                <a:ea typeface="+mn-ea"/>
                <a:cs typeface="+mn-cs"/>
              </a:rPr>
            </a:br>
            <a:r>
              <a:rPr lang="en-IL" sz="1200" kern="1200" dirty="0">
                <a:solidFill>
                  <a:schemeClr val="tx1"/>
                </a:solidFill>
                <a:effectLst/>
                <a:latin typeface="+mn-lt"/>
                <a:ea typeface="+mn-ea"/>
                <a:cs typeface="+mn-cs"/>
              </a:rPr>
              <a:t>The angular coordinate encodes structural similarity, so nodes at close angles cluster into local communities.</a:t>
            </a:r>
            <a:br>
              <a:rPr lang="en-IL"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Rotem:</a:t>
            </a:r>
            <a:br>
              <a:rPr lang="en-US" dirty="0"/>
            </a:br>
            <a:br>
              <a:rPr lang="en-US" dirty="0"/>
            </a:br>
            <a:r>
              <a:rPr lang="en-IL" sz="1200" kern="1200" dirty="0">
                <a:solidFill>
                  <a:schemeClr val="tx1"/>
                </a:solidFill>
                <a:effectLst/>
                <a:latin typeface="+mn-lt"/>
                <a:ea typeface="+mn-ea"/>
                <a:cs typeface="+mn-cs"/>
              </a:rPr>
              <a:t>This brings us to HypDiff, the state-of-the-art model our project builds on.</a:t>
            </a:r>
          </a:p>
          <a:p>
            <a:pPr algn="l"/>
            <a:r>
              <a:rPr lang="en-IL" sz="1200" kern="1200" dirty="0">
                <a:solidFill>
                  <a:schemeClr val="tx1"/>
                </a:solidFill>
                <a:effectLst/>
                <a:latin typeface="+mn-lt"/>
                <a:ea typeface="+mn-ea"/>
                <a:cs typeface="+mn-cs"/>
              </a:rPr>
              <a:t>HypDiff is a latent diffusion model for graph generation — but unlike standard diffusion models, its latent space is hyperbolic. </a:t>
            </a:r>
          </a:p>
          <a:p>
            <a:pPr algn="l"/>
            <a:r>
              <a:rPr lang="en-IL" sz="1200" kern="1200" dirty="0">
                <a:solidFill>
                  <a:schemeClr val="tx1"/>
                </a:solidFill>
                <a:effectLst/>
                <a:latin typeface="+mn-lt"/>
                <a:ea typeface="+mn-ea"/>
                <a:cs typeface="+mn-cs"/>
              </a:rPr>
              <a:t>The </a:t>
            </a:r>
            <a:r>
              <a:rPr lang="en-IL" sz="1200" b="1" kern="1200" dirty="0">
                <a:solidFill>
                  <a:schemeClr val="tx1"/>
                </a:solidFill>
                <a:effectLst/>
                <a:latin typeface="+mn-lt"/>
                <a:ea typeface="+mn-ea"/>
                <a:cs typeface="+mn-cs"/>
              </a:rPr>
              <a:t>encoder</a:t>
            </a:r>
            <a:r>
              <a:rPr lang="en-IL" sz="1200" kern="1200" dirty="0">
                <a:solidFill>
                  <a:schemeClr val="tx1"/>
                </a:solidFill>
                <a:effectLst/>
                <a:latin typeface="+mn-lt"/>
                <a:ea typeface="+mn-ea"/>
                <a:cs typeface="+mn-cs"/>
              </a:rPr>
              <a:t> is a hyperbolic version of a standard GCN.</a:t>
            </a:r>
            <a:br>
              <a:rPr lang="en-IL" sz="1200" kern="1200" dirty="0">
                <a:solidFill>
                  <a:schemeClr val="tx1"/>
                </a:solidFill>
                <a:effectLst/>
                <a:latin typeface="+mn-lt"/>
                <a:ea typeface="+mn-ea"/>
                <a:cs typeface="+mn-cs"/>
              </a:rPr>
            </a:br>
            <a:r>
              <a:rPr lang="en-IL" sz="1200" kern="1200" dirty="0">
                <a:solidFill>
                  <a:schemeClr val="tx1"/>
                </a:solidFill>
                <a:effectLst/>
                <a:latin typeface="+mn-lt"/>
                <a:ea typeface="+mn-ea"/>
                <a:cs typeface="+mn-cs"/>
              </a:rPr>
              <a:t>It uses log and exp maps to move features into the tangent space, aggregate there, and map back. The result is a node embedding that preserves the graph's hierarchical structure.</a:t>
            </a:r>
          </a:p>
          <a:p>
            <a:pPr algn="l"/>
            <a:r>
              <a:rPr lang="en-IL" sz="1200" kern="1200" dirty="0">
                <a:solidFill>
                  <a:schemeClr val="tx1"/>
                </a:solidFill>
                <a:effectLst/>
                <a:latin typeface="+mn-lt"/>
                <a:ea typeface="+mn-ea"/>
                <a:cs typeface="+mn-cs"/>
              </a:rPr>
              <a:t>The </a:t>
            </a:r>
            <a:r>
              <a:rPr lang="en-IL" sz="1200" b="1" kern="1200" dirty="0">
                <a:solidFill>
                  <a:schemeClr val="tx1"/>
                </a:solidFill>
                <a:effectLst/>
                <a:latin typeface="+mn-lt"/>
                <a:ea typeface="+mn-ea"/>
                <a:cs typeface="+mn-cs"/>
              </a:rPr>
              <a:t>decoder</a:t>
            </a:r>
            <a:r>
              <a:rPr lang="en-IL" sz="1200" kern="1200" dirty="0">
                <a:solidFill>
                  <a:schemeClr val="tx1"/>
                </a:solidFill>
                <a:effectLst/>
                <a:latin typeface="+mn-lt"/>
                <a:ea typeface="+mn-ea"/>
                <a:cs typeface="+mn-cs"/>
              </a:rPr>
              <a:t> is Fermi-Dirac. </a:t>
            </a:r>
            <a:br>
              <a:rPr lang="en-IL" sz="1200" kern="1200" dirty="0">
                <a:solidFill>
                  <a:schemeClr val="tx1"/>
                </a:solidFill>
                <a:effectLst/>
                <a:latin typeface="+mn-lt"/>
                <a:ea typeface="+mn-ea"/>
                <a:cs typeface="+mn-cs"/>
              </a:rPr>
            </a:br>
            <a:r>
              <a:rPr lang="en-IL" sz="1200" kern="1200" dirty="0">
                <a:solidFill>
                  <a:schemeClr val="tx1"/>
                </a:solidFill>
                <a:effectLst/>
                <a:latin typeface="+mn-lt"/>
                <a:ea typeface="+mn-ea"/>
                <a:cs typeface="+mn-cs"/>
              </a:rPr>
              <a:t>It takes the hyperbolic distance between two nodes and converts it into a probability of an edge existing between them, which is used to reconstruct the discrete graph.</a:t>
            </a:r>
          </a:p>
          <a:p>
            <a:pPr algn="l"/>
            <a:r>
              <a:rPr lang="en-IL" sz="1200" kern="1200" dirty="0">
                <a:solidFill>
                  <a:schemeClr val="tx1"/>
                </a:solidFill>
                <a:effectLst/>
                <a:latin typeface="+mn-lt"/>
                <a:ea typeface="+mn-ea"/>
                <a:cs typeface="+mn-cs"/>
              </a:rPr>
              <a:t>Irit will now cover the anisotropic diffusion process.</a:t>
            </a:r>
          </a:p>
          <a:p>
            <a:pPr algn="l"/>
            <a:r>
              <a:rPr lang="en-IL" sz="1200" kern="1200" dirty="0">
                <a:solidFill>
                  <a:schemeClr val="tx1"/>
                </a:solidFill>
                <a:effectLst/>
                <a:latin typeface="+mn-lt"/>
                <a:ea typeface="+mn-ea"/>
                <a:cs typeface="+mn-cs"/>
              </a:rPr>
              <a:t> </a:t>
            </a:r>
          </a:p>
          <a:p>
            <a:pPr algn="l"/>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Irit:</a:t>
            </a:r>
            <a:br>
              <a:rPr lang="en-US" dirty="0"/>
            </a:br>
            <a:br>
              <a:rPr lang="en-US" dirty="0"/>
            </a:br>
            <a:r>
              <a:rPr lang="en-US" sz="1200" kern="1200" dirty="0">
                <a:solidFill>
                  <a:schemeClr val="tx1"/>
                </a:solidFill>
                <a:effectLst/>
                <a:latin typeface="+mn-lt"/>
                <a:ea typeface="+mn-ea"/>
                <a:cs typeface="+mn-cs"/>
              </a:rPr>
              <a:t>The autoencoder is only half the story; the second component is what makes HypDiff truly effective — its anisotropic diffusion process.</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Instead of uniform noise, the forward process injects directional noise along two geometric constraints defined by the Popularity-Similarity model: the angular direction, aligned with local community structure, and the radial direction, which preserves node popularity and hierarchy.</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As you can see, while unconstrained isotropic noise completely dissolves community structures, constrained anisotropic noise preserves them throughout the process.</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The reverse process then denoises along those same directions, rebuilding the graph step by step.</a:t>
            </a:r>
            <a:endParaRPr lang="en-IL" sz="1200" kern="1200" dirty="0">
              <a:solidFill>
                <a:schemeClr val="tx1"/>
              </a:solidFill>
              <a:effectLst/>
              <a:latin typeface="+mn-lt"/>
              <a:ea typeface="+mn-ea"/>
              <a:cs typeface="+mn-cs"/>
            </a:endParaRPr>
          </a:p>
          <a:p>
            <a:pPr algn="l"/>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Rotem:</a:t>
            </a:r>
            <a:br>
              <a:rPr lang="en-US" dirty="0"/>
            </a:br>
            <a:br>
              <a:rPr lang="en-US" dirty="0"/>
            </a:br>
            <a:r>
              <a:rPr lang="en-IL" sz="1200" kern="1200" dirty="0">
                <a:solidFill>
                  <a:schemeClr val="tx1"/>
                </a:solidFill>
                <a:effectLst/>
                <a:latin typeface="+mn-lt"/>
                <a:ea typeface="+mn-ea"/>
                <a:cs typeface="+mn-cs"/>
              </a:rPr>
              <a:t>That was HypDiff. Now — our solution.</a:t>
            </a:r>
          </a:p>
          <a:p>
            <a:pPr algn="l"/>
            <a:r>
              <a:rPr lang="en-IL" sz="1200" b="1" kern="1200" dirty="0">
                <a:solidFill>
                  <a:schemeClr val="tx1"/>
                </a:solidFill>
                <a:effectLst/>
                <a:latin typeface="+mn-lt"/>
                <a:ea typeface="+mn-ea"/>
                <a:cs typeface="+mn-cs"/>
              </a:rPr>
              <a:t>The gap</a:t>
            </a:r>
            <a:r>
              <a:rPr lang="en-IL" sz="1200" kern="1200" dirty="0">
                <a:solidFill>
                  <a:schemeClr val="tx1"/>
                </a:solidFill>
                <a:effectLst/>
                <a:latin typeface="+mn-lt"/>
                <a:ea typeface="+mn-ea"/>
                <a:cs typeface="+mn-cs"/>
              </a:rPr>
              <a:t> is simple. HypDiff was built purely for graph generation — not for measuring how a network holds up under stress.</a:t>
            </a:r>
          </a:p>
          <a:p>
            <a:pPr algn="l"/>
            <a:r>
              <a:rPr lang="en-US" sz="1200" b="1" kern="1200" dirty="0">
                <a:solidFill>
                  <a:schemeClr val="tx1"/>
                </a:solidFill>
                <a:effectLst/>
                <a:latin typeface="+mn-lt"/>
                <a:ea typeface="+mn-ea"/>
                <a:cs typeface="+mn-cs"/>
              </a:rPr>
              <a:t>Our core idea </a:t>
            </a:r>
            <a:r>
              <a:rPr lang="en-IL" sz="1200" kern="1200" dirty="0">
                <a:solidFill>
                  <a:schemeClr val="tx1"/>
                </a:solidFill>
                <a:effectLst/>
                <a:latin typeface="+mn-lt"/>
                <a:ea typeface="+mn-ea"/>
                <a:cs typeface="+mn-cs"/>
              </a:rPr>
              <a:t>is a reframing: instead of representing a network as a single fixed point —we represent it as a probability distribution over the many structural states a damaged network can have.</a:t>
            </a:r>
          </a:p>
          <a:p>
            <a:pPr algn="l"/>
            <a:r>
              <a:rPr lang="en-IL" sz="1200" kern="1200" dirty="0">
                <a:solidFill>
                  <a:schemeClr val="tx1"/>
                </a:solidFill>
                <a:effectLst/>
                <a:latin typeface="+mn-lt"/>
                <a:ea typeface="+mn-ea"/>
                <a:cs typeface="+mn-cs"/>
              </a:rPr>
              <a:t>In practice, we take the pretrained HypDiff and wrap it in a dedicated pipeline that takes in damaged graphs and produces a measurable stability signal.</a:t>
            </a:r>
          </a:p>
          <a:p>
            <a:pPr algn="l"/>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Irit:</a:t>
            </a:r>
            <a:br>
              <a:rPr lang="en-US" dirty="0"/>
            </a:br>
            <a:br>
              <a:rPr lang="en-US" dirty="0"/>
            </a:br>
            <a:r>
              <a:rPr lang="en-US" sz="1200" kern="1200" dirty="0">
                <a:solidFill>
                  <a:schemeClr val="tx1"/>
                </a:solidFill>
                <a:effectLst/>
                <a:latin typeface="+mn-lt"/>
                <a:ea typeface="+mn-ea"/>
                <a:cs typeface="+mn-cs"/>
              </a:rPr>
              <a:t>With that foundation in place, we can now look at how our system is built.</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Our system architecture consists of three sequential modules. First, Module One damages the graph systematically. Module Two then passes that damaged graph into HypDiff to perform generative recovery. Finally, Module Three compares the recovered graph against the original ground-truth to produce a stability score.</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We execute the entire pipeline once per damage level — from ten percent up to fifty percent. Consequently, our final output is not just a single number, but a performance curve that shows exactly how stability degrades as damage increases.</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Let's zoom in on Module One to see exactly how we simulate these structural attacks.</a:t>
            </a:r>
            <a:endParaRPr lang="en-IL" sz="1200" kern="1200" dirty="0">
              <a:solidFill>
                <a:schemeClr val="tx1"/>
              </a:solidFill>
              <a:effectLst/>
              <a:latin typeface="+mn-lt"/>
              <a:ea typeface="+mn-ea"/>
              <a:cs typeface="+mn-cs"/>
            </a:endParaRPr>
          </a:p>
          <a:p>
            <a:pPr algn="l"/>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Irit:</a:t>
            </a:r>
            <a:br>
              <a:rPr lang="en-US" dirty="0"/>
            </a:br>
            <a:br>
              <a:rPr lang="en-US" dirty="0"/>
            </a:br>
            <a:r>
              <a:rPr lang="en-US" sz="1200" kern="1200" dirty="0">
                <a:solidFill>
                  <a:schemeClr val="tx1"/>
                </a:solidFill>
                <a:effectLst/>
                <a:latin typeface="+mn-lt"/>
                <a:ea typeface="+mn-ea"/>
                <a:cs typeface="+mn-cs"/>
              </a:rPr>
              <a:t>Starting with Module One, we systematically disrupt the graph using two methods. First, we apply random edge removal, deleting a fixed fraction of edges uniformly.</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Next, we execute targeted attacks by ranking edges according to the combined degree of their endpoints, to disable the network’s most critical hubs.</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Relying on a single damaged graph doesn’t give us a reliable statistical picture. To fix this, we use iterative batch generation: we repeat the removal process N independent times to create a statistically robust batch.</a:t>
            </a:r>
            <a:endParaRPr lang="en-IL" sz="1200" kern="1200" dirty="0">
              <a:solidFill>
                <a:schemeClr val="tx1"/>
              </a:solidFill>
              <a:effectLst/>
              <a:latin typeface="+mn-lt"/>
              <a:ea typeface="+mn-ea"/>
              <a:cs typeface="+mn-cs"/>
            </a:endParaRPr>
          </a:p>
          <a:p>
            <a:pPr algn="l"/>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Rotem:</a:t>
            </a:r>
            <a:br>
              <a:rPr lang="en-US" dirty="0"/>
            </a:br>
            <a:br>
              <a:rPr lang="en-US" dirty="0"/>
            </a:br>
            <a:r>
              <a:rPr lang="en-IL" sz="1200" kern="1200" dirty="0">
                <a:solidFill>
                  <a:schemeClr val="tx1"/>
                </a:solidFill>
                <a:effectLst/>
                <a:latin typeface="+mn-lt"/>
                <a:ea typeface="+mn-ea"/>
                <a:cs typeface="+mn-cs"/>
              </a:rPr>
              <a:t>In this module, we adapt the HypDiff framework.</a:t>
            </a:r>
          </a:p>
          <a:p>
            <a:pPr algn="l"/>
            <a:r>
              <a:rPr lang="en-IL" sz="1200" kern="1200" dirty="0">
                <a:solidFill>
                  <a:schemeClr val="tx1"/>
                </a:solidFill>
                <a:effectLst/>
                <a:latin typeface="+mn-lt"/>
                <a:ea typeface="+mn-ea"/>
                <a:cs typeface="+mn-cs"/>
              </a:rPr>
              <a:t>We start by encoding the damaged graph into hyperbolic latent, which captures the structure that survived the edge removals.</a:t>
            </a:r>
          </a:p>
          <a:p>
            <a:pPr algn="l"/>
            <a:r>
              <a:rPr lang="en-IL" sz="1200" kern="1200" dirty="0">
                <a:solidFill>
                  <a:schemeClr val="tx1"/>
                </a:solidFill>
                <a:effectLst/>
                <a:latin typeface="+mn-lt"/>
                <a:ea typeface="+mn-ea"/>
                <a:cs typeface="+mn-cs"/>
              </a:rPr>
              <a:t>Then, instead of starting from pure noise like standard HypDiff, we </a:t>
            </a:r>
            <a:r>
              <a:rPr lang="en-US" sz="1200" kern="1200" dirty="0">
                <a:solidFill>
                  <a:schemeClr val="tx1"/>
                </a:solidFill>
                <a:effectLst/>
                <a:latin typeface="+mn-lt"/>
                <a:ea typeface="+mn-ea"/>
                <a:cs typeface="+mn-cs"/>
              </a:rPr>
              <a:t>inject </a:t>
            </a:r>
            <a:r>
              <a:rPr lang="en-IL" sz="1200" kern="1200" dirty="0">
                <a:solidFill>
                  <a:schemeClr val="tx1"/>
                </a:solidFill>
                <a:effectLst/>
                <a:latin typeface="+mn-lt"/>
                <a:ea typeface="+mn-ea"/>
                <a:cs typeface="+mn-cs"/>
              </a:rPr>
              <a:t>noise only partway — enough to let the model recover missing edges, but not so much that it erases the surviving structure.</a:t>
            </a:r>
          </a:p>
          <a:p>
            <a:pPr algn="l"/>
            <a:r>
              <a:rPr lang="en-IL" sz="1200" kern="1200" dirty="0">
                <a:solidFill>
                  <a:schemeClr val="tx1"/>
                </a:solidFill>
                <a:effectLst/>
                <a:latin typeface="+mn-lt"/>
                <a:ea typeface="+mn-ea"/>
                <a:cs typeface="+mn-cs"/>
              </a:rPr>
              <a:t>From there, the network runs the guided denoising process.</a:t>
            </a:r>
          </a:p>
          <a:p>
            <a:pPr algn="l"/>
            <a:r>
              <a:rPr lang="en-IL" sz="1200" kern="1200" dirty="0">
                <a:solidFill>
                  <a:schemeClr val="tx1"/>
                </a:solidFill>
                <a:effectLst/>
                <a:latin typeface="+mn-lt"/>
                <a:ea typeface="+mn-ea"/>
                <a:cs typeface="+mn-cs"/>
              </a:rPr>
              <a:t>We repeat this K times, and each cleaned embedding is decoded by Fermi-Dirac into a reconstructed adjacency matrix — giving us K samples per damaged graph, ready for Module 3.</a:t>
            </a:r>
          </a:p>
          <a:p>
            <a:pPr algn="l"/>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Rotem:</a:t>
            </a:r>
            <a:br>
              <a:rPr lang="en-US" dirty="0"/>
            </a:br>
            <a:br>
              <a:rPr lang="en-US" dirty="0"/>
            </a:br>
            <a:r>
              <a:rPr lang="en-IL" sz="1200" kern="1200" dirty="0">
                <a:solidFill>
                  <a:schemeClr val="tx1"/>
                </a:solidFill>
                <a:effectLst/>
                <a:latin typeface="+mn-lt"/>
                <a:ea typeface="+mn-ea"/>
                <a:cs typeface="+mn-cs"/>
              </a:rPr>
              <a:t>This is the final module of our pipeline, and it's where the reconstructions get turned into a concrete stability score.</a:t>
            </a:r>
          </a:p>
          <a:p>
            <a:pPr algn="l"/>
            <a:r>
              <a:rPr lang="en-IL" sz="1200" kern="1200" dirty="0">
                <a:solidFill>
                  <a:schemeClr val="tx1"/>
                </a:solidFill>
                <a:effectLst/>
                <a:latin typeface="+mn-lt"/>
                <a:ea typeface="+mn-ea"/>
                <a:cs typeface="+mn-cs"/>
              </a:rPr>
              <a:t>We do this in four steps.</a:t>
            </a:r>
          </a:p>
          <a:p>
            <a:pPr algn="l"/>
            <a:r>
              <a:rPr lang="en-IL" sz="1200" b="1" kern="1200" dirty="0">
                <a:solidFill>
                  <a:schemeClr val="tx1"/>
                </a:solidFill>
                <a:effectLst/>
                <a:latin typeface="+mn-lt"/>
                <a:ea typeface="+mn-ea"/>
                <a:cs typeface="+mn-cs"/>
              </a:rPr>
              <a:t>Step 1</a:t>
            </a:r>
            <a:r>
              <a:rPr lang="en-IL" sz="1200" kern="1200" dirty="0">
                <a:solidFill>
                  <a:schemeClr val="tx1"/>
                </a:solidFill>
                <a:effectLst/>
                <a:latin typeface="+mn-lt"/>
                <a:ea typeface="+mn-ea"/>
                <a:cs typeface="+mn-cs"/>
              </a:rPr>
              <a:t> — for each damaged graph, we identify the edges that were removed. Those are our target edges — the ones we want to see restored.</a:t>
            </a:r>
          </a:p>
          <a:p>
            <a:pPr algn="l"/>
            <a:r>
              <a:rPr lang="en-IL" sz="1200" b="1" kern="1200" dirty="0">
                <a:solidFill>
                  <a:schemeClr val="tx1"/>
                </a:solidFill>
                <a:effectLst/>
                <a:latin typeface="+mn-lt"/>
                <a:ea typeface="+mn-ea"/>
                <a:cs typeface="+mn-cs"/>
              </a:rPr>
              <a:t>Step 2</a:t>
            </a:r>
            <a:r>
              <a:rPr lang="en-IL" sz="1200" kern="1200" dirty="0">
                <a:solidFill>
                  <a:schemeClr val="tx1"/>
                </a:solidFill>
                <a:effectLst/>
                <a:latin typeface="+mn-lt"/>
                <a:ea typeface="+mn-ea"/>
                <a:cs typeface="+mn-cs"/>
              </a:rPr>
              <a:t> — for each of those removed edges, we ask a simple question: across the K reconstructions of this graph, in how many of them did the edge reappear? That frequency is the edge's recovery probability.</a:t>
            </a:r>
          </a:p>
          <a:p>
            <a:pPr algn="l"/>
            <a:r>
              <a:rPr lang="en-IL" sz="1200" b="1" kern="1200" dirty="0">
                <a:solidFill>
                  <a:schemeClr val="tx1"/>
                </a:solidFill>
                <a:effectLst/>
                <a:latin typeface="+mn-lt"/>
                <a:ea typeface="+mn-ea"/>
                <a:cs typeface="+mn-cs"/>
              </a:rPr>
              <a:t>Step 3</a:t>
            </a:r>
            <a:r>
              <a:rPr lang="en-IL" sz="1200" kern="1200" dirty="0">
                <a:solidFill>
                  <a:schemeClr val="tx1"/>
                </a:solidFill>
                <a:effectLst/>
                <a:latin typeface="+mn-lt"/>
                <a:ea typeface="+mn-ea"/>
                <a:cs typeface="+mn-cs"/>
              </a:rPr>
              <a:t> — we average those edge-level probabilities to get a single stability score for that damaged graph.</a:t>
            </a:r>
          </a:p>
          <a:p>
            <a:pPr algn="l"/>
            <a:r>
              <a:rPr lang="en-IL" sz="1200" b="1" kern="1200" dirty="0">
                <a:solidFill>
                  <a:schemeClr val="tx1"/>
                </a:solidFill>
                <a:effectLst/>
                <a:latin typeface="+mn-lt"/>
                <a:ea typeface="+mn-ea"/>
                <a:cs typeface="+mn-cs"/>
              </a:rPr>
              <a:t>Step 4</a:t>
            </a:r>
            <a:r>
              <a:rPr lang="en-IL" sz="1200" kern="1200" dirty="0">
                <a:solidFill>
                  <a:schemeClr val="tx1"/>
                </a:solidFill>
                <a:effectLst/>
                <a:latin typeface="+mn-lt"/>
                <a:ea typeface="+mn-ea"/>
                <a:cs typeface="+mn-cs"/>
              </a:rPr>
              <a:t> — finally, we average across all N damaged graphs to get the overall Probabilistic Network Stability Score.</a:t>
            </a:r>
          </a:p>
          <a:p>
            <a:pPr algn="l"/>
            <a:r>
              <a:rPr lang="en-IL" sz="1200" kern="1200" dirty="0">
                <a:solidFill>
                  <a:schemeClr val="tx1"/>
                </a:solidFill>
                <a:effectLst/>
                <a:latin typeface="+mn-lt"/>
                <a:ea typeface="+mn-ea"/>
                <a:cs typeface="+mn-cs"/>
              </a:rPr>
              <a:t> </a:t>
            </a:r>
          </a:p>
          <a:p>
            <a:pPr algn="l"/>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Rotem:</a:t>
            </a:r>
            <a:br>
              <a:rPr lang="en-US" dirty="0"/>
            </a:br>
            <a:br>
              <a:rPr lang="en-US" dirty="0"/>
            </a:br>
            <a:r>
              <a:rPr lang="en-IL" sz="1200" kern="1200" dirty="0">
                <a:solidFill>
                  <a:schemeClr val="tx1"/>
                </a:solidFill>
                <a:effectLst/>
                <a:latin typeface="+mn-lt"/>
                <a:ea typeface="+mn-ea"/>
                <a:cs typeface="+mn-cs"/>
              </a:rPr>
              <a:t>We evaluate on four datasets, each with a purpose.</a:t>
            </a:r>
          </a:p>
          <a:p>
            <a:pPr algn="l"/>
            <a:r>
              <a:rPr lang="en-IL" sz="1200" kern="1200" dirty="0">
                <a:solidFill>
                  <a:schemeClr val="tx1"/>
                </a:solidFill>
                <a:effectLst/>
                <a:latin typeface="+mn-lt"/>
                <a:ea typeface="+mn-ea"/>
                <a:cs typeface="+mn-cs"/>
              </a:rPr>
              <a:t>The synthetic ones isolate the diffusion constraints:</a:t>
            </a:r>
            <a:br>
              <a:rPr lang="en-IL" sz="1200" kern="1200" dirty="0">
                <a:solidFill>
                  <a:schemeClr val="tx1"/>
                </a:solidFill>
                <a:effectLst/>
                <a:latin typeface="+mn-lt"/>
                <a:ea typeface="+mn-ea"/>
                <a:cs typeface="+mn-cs"/>
              </a:rPr>
            </a:br>
            <a:r>
              <a:rPr lang="en-IL" sz="1200" kern="1200" dirty="0">
                <a:solidFill>
                  <a:schemeClr val="tx1"/>
                </a:solidFill>
                <a:effectLst/>
                <a:latin typeface="+mn-lt"/>
                <a:ea typeface="+mn-ea"/>
                <a:cs typeface="+mn-cs"/>
              </a:rPr>
              <a:t>SBM has modular Communities, </a:t>
            </a:r>
            <a:r>
              <a:rPr lang="en-US" sz="1200" kern="1200" dirty="0">
                <a:solidFill>
                  <a:schemeClr val="tx1"/>
                </a:solidFill>
                <a:effectLst/>
                <a:latin typeface="+mn-lt"/>
                <a:ea typeface="+mn-ea"/>
                <a:cs typeface="+mn-cs"/>
              </a:rPr>
              <a:t>testing the angular constraint under damage.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BA is scale-free with dominant hubs, testing the radial constraint under direct attack.</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The real-world ones add realism.</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IMDB-B capture actors co-staring links.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PROTEINS links amino acids by physical proximity, a structure with no clean hierarchy.</a:t>
            </a:r>
            <a:endParaRPr lang="en-IL" sz="1200" kern="1200" dirty="0">
              <a:solidFill>
                <a:schemeClr val="tx1"/>
              </a:solidFill>
              <a:effectLst/>
              <a:latin typeface="+mn-lt"/>
              <a:ea typeface="+mn-ea"/>
              <a:cs typeface="+mn-cs"/>
            </a:endParaRPr>
          </a:p>
          <a:p>
            <a:pPr algn="l"/>
            <a:r>
              <a:rPr lang="en-IL" sz="1200" kern="1200" dirty="0">
                <a:solidFill>
                  <a:schemeClr val="tx1"/>
                </a:solidFill>
                <a:effectLst/>
                <a:latin typeface="+mn-lt"/>
                <a:ea typeface="+mn-ea"/>
                <a:cs typeface="+mn-cs"/>
              </a:rPr>
              <a:t> </a:t>
            </a:r>
          </a:p>
          <a:p>
            <a:pPr algn="l"/>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Irit:</a:t>
            </a:r>
          </a:p>
          <a:p>
            <a:pPr algn="l"/>
            <a:endParaRPr lang="en-US" dirty="0"/>
          </a:p>
          <a:p>
            <a:pPr algn="l"/>
            <a:r>
              <a:rPr lang="en-US" sz="1200" kern="1200" dirty="0">
                <a:solidFill>
                  <a:schemeClr val="tx1"/>
                </a:solidFill>
                <a:effectLst/>
                <a:latin typeface="+mn-lt"/>
                <a:ea typeface="+mn-ea"/>
                <a:cs typeface="+mn-cs"/>
              </a:rPr>
              <a:t>To evaluate our framework, we focus on three key aspects.</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First, we verify the </a:t>
            </a:r>
            <a:r>
              <a:rPr lang="en-US" sz="1200" b="1" kern="1200" dirty="0">
                <a:solidFill>
                  <a:schemeClr val="tx1"/>
                </a:solidFill>
                <a:effectLst/>
                <a:latin typeface="+mn-lt"/>
                <a:ea typeface="+mn-ea"/>
                <a:cs typeface="+mn-cs"/>
              </a:rPr>
              <a:t>generative consistency</a:t>
            </a:r>
            <a:r>
              <a:rPr lang="en-US" sz="1200" kern="1200" dirty="0">
                <a:solidFill>
                  <a:schemeClr val="tx1"/>
                </a:solidFill>
                <a:effectLst/>
                <a:latin typeface="+mn-lt"/>
                <a:ea typeface="+mn-ea"/>
                <a:cs typeface="+mn-cs"/>
              </a:rPr>
              <a:t> of our results; we use MMD to ensure distributional similarity, and we check that the generated graphs aren't collapsing into repetitive, unrealistic samples by using precision-recall and density-coverage scores. </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Second, we analyze the system’s performance under increasing stress, in both random and targeted deletion to produce a clear, reliable degradation curve rather than noise. </a:t>
            </a:r>
            <a:endParaRPr lang="en-IL" sz="1200" kern="1200" dirty="0">
              <a:solidFill>
                <a:schemeClr val="tx1"/>
              </a:solidFill>
              <a:effectLst/>
              <a:latin typeface="+mn-lt"/>
              <a:ea typeface="+mn-ea"/>
              <a:cs typeface="+mn-cs"/>
            </a:endParaRPr>
          </a:p>
          <a:p>
            <a:pPr algn="l"/>
            <a:r>
              <a:rPr lang="en-US" sz="1200" kern="1200" dirty="0">
                <a:solidFill>
                  <a:schemeClr val="tx1"/>
                </a:solidFill>
                <a:effectLst/>
                <a:latin typeface="+mn-lt"/>
                <a:ea typeface="+mn-ea"/>
                <a:cs typeface="+mn-cs"/>
              </a:rPr>
              <a:t>Additionally, we compare our approach with classical metrics, to highlight the unique insights our probabilistic score provides compared to deterministic measures. </a:t>
            </a:r>
            <a:endParaRPr lang="en-IL" sz="1200" kern="1200" dirty="0">
              <a:solidFill>
                <a:schemeClr val="tx1"/>
              </a:solidFill>
              <a:effectLst/>
              <a:latin typeface="+mn-lt"/>
              <a:ea typeface="+mn-ea"/>
              <a:cs typeface="+mn-cs"/>
            </a:endParaRPr>
          </a:p>
          <a:p>
            <a:pPr algn="l"/>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Rotem:</a:t>
            </a:r>
            <a:br>
              <a:rPr lang="en-US" dirty="0"/>
            </a:br>
            <a:br>
              <a:rPr lang="en-US" dirty="0"/>
            </a:br>
            <a:r>
              <a:rPr lang="en-IL" sz="1200" kern="1200" dirty="0">
                <a:solidFill>
                  <a:schemeClr val="tx1"/>
                </a:solidFill>
                <a:effectLst/>
                <a:latin typeface="+mn-lt"/>
                <a:ea typeface="+mn-ea"/>
                <a:cs typeface="+mn-cs"/>
              </a:rPr>
              <a:t>To conclude, our project represents a shift - from static, deterministic metrics to a probabilistic, uncertainty-aware way of measuring stability.</a:t>
            </a:r>
          </a:p>
          <a:p>
            <a:pPr algn="l"/>
            <a:r>
              <a:rPr lang="en-IL" sz="1200" kern="1200" dirty="0">
                <a:solidFill>
                  <a:schemeClr val="tx1"/>
                </a:solidFill>
                <a:effectLst/>
                <a:latin typeface="+mn-lt"/>
                <a:ea typeface="+mn-ea"/>
                <a:cs typeface="+mn-cs"/>
              </a:rPr>
              <a:t>The core innovation is our adaptation of the HypDiff framework from graph generation into a stability evaluation pipeline.</a:t>
            </a:r>
          </a:p>
          <a:p>
            <a:pPr algn="l"/>
            <a:r>
              <a:rPr lang="en-IL" sz="1200" kern="1200" dirty="0">
                <a:solidFill>
                  <a:schemeClr val="tx1"/>
                </a:solidFill>
                <a:effectLst/>
                <a:latin typeface="+mn-lt"/>
                <a:ea typeface="+mn-ea"/>
                <a:cs typeface="+mn-cs"/>
              </a:rPr>
              <a:t>The result is a dynamic, stress tested score that reflects a network’s true resilience.</a:t>
            </a:r>
          </a:p>
          <a:p>
            <a:pPr algn="l"/>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2.png"/><Relationship Id="rId7"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60.png"/><Relationship Id="rId5" Type="http://schemas.openxmlformats.org/officeDocument/2006/relationships/image" Target="../media/image7.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openxmlformats.org/officeDocument/2006/relationships/image" Target="../media/image3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5.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9961" y="1020663"/>
            <a:ext cx="7125670" cy="377577"/>
          </a:xfrm>
          <a:prstGeom prst="rect">
            <a:avLst/>
          </a:prstGeom>
          <a:noFill/>
          <a:ln/>
        </p:spPr>
        <p:txBody>
          <a:bodyPr wrap="square" lIns="25400" tIns="25400" rIns="25400" bIns="25400" rtlCol="0" anchor="t">
            <a:normAutofit/>
          </a:bodyPr>
          <a:lstStyle/>
          <a:p>
            <a:pPr>
              <a:lnSpc>
                <a:spcPct val="120000"/>
              </a:lnSpc>
            </a:pPr>
            <a:r>
              <a:rPr lang="en-US" sz="1102" b="1" kern="0" spc="200" dirty="0">
                <a:solidFill>
                  <a:srgbClr val="7A75A3"/>
                </a:solidFill>
                <a:latin typeface="Arial" pitchFamily="34" charset="0"/>
                <a:ea typeface="Arial" pitchFamily="34" charset="-122"/>
                <a:cs typeface="Arial" pitchFamily="34" charset="-120"/>
              </a:rPr>
              <a:t>FINAL PROJECT · PHASE A · SOFTWARE ENGINEERING </a:t>
            </a:r>
            <a:r>
              <a:rPr lang="en" sz="1102" b="1" kern="0" spc="200">
                <a:solidFill>
                  <a:srgbClr val="7A75A3"/>
                </a:solidFill>
                <a:latin typeface="Arial" pitchFamily="34" charset="0"/>
                <a:cs typeface="Arial" pitchFamily="34" charset="-120"/>
              </a:rPr>
              <a:t>DEPARTMENT</a:t>
            </a:r>
            <a:endParaRPr lang="en-US" sz="1102" b="1" kern="0" spc="200" dirty="0">
              <a:solidFill>
                <a:srgbClr val="7A75A3"/>
              </a:solidFill>
              <a:latin typeface="Arial" pitchFamily="34" charset="0"/>
              <a:cs typeface="Arial" pitchFamily="34" charset="-120"/>
            </a:endParaRPr>
          </a:p>
        </p:txBody>
      </p:sp>
      <p:sp>
        <p:nvSpPr>
          <p:cNvPr id="3" name="Text 1"/>
          <p:cNvSpPr/>
          <p:nvPr/>
        </p:nvSpPr>
        <p:spPr>
          <a:xfrm>
            <a:off x="639961" y="1531590"/>
            <a:ext cx="6027633" cy="1546771"/>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3300" b="1" dirty="0">
                <a:solidFill>
                  <a:srgbClr val="2E2B45"/>
                </a:solidFill>
                <a:latin typeface="Arial" pitchFamily="34" charset="0"/>
                <a:ea typeface="Arial" pitchFamily="34" charset="-122"/>
                <a:cs typeface="Arial" pitchFamily="34" charset="-120"/>
              </a:rPr>
              <a:t>Network Stability using Hyperbolic Geometric Latent Diffusion Model</a:t>
            </a:r>
            <a:endParaRPr lang="en-US" sz="3300" dirty="0"/>
          </a:p>
        </p:txBody>
      </p:sp>
      <p:sp>
        <p:nvSpPr>
          <p:cNvPr id="4" name="Text 2"/>
          <p:cNvSpPr/>
          <p:nvPr/>
        </p:nvSpPr>
        <p:spPr>
          <a:xfrm>
            <a:off x="639961" y="3467249"/>
            <a:ext cx="6537960" cy="281434"/>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1598" b="1" dirty="0">
                <a:solidFill>
                  <a:srgbClr val="7A75A3"/>
                </a:solidFill>
                <a:latin typeface="Calibri" pitchFamily="34" charset="0"/>
                <a:ea typeface="Calibri" pitchFamily="34" charset="-122"/>
                <a:cs typeface="Calibri" pitchFamily="34" charset="-120"/>
              </a:rPr>
              <a:t>By: </a:t>
            </a:r>
            <a:r>
              <a:rPr lang="en-US" sz="1598" dirty="0">
                <a:solidFill>
                  <a:srgbClr val="2E2B45"/>
                </a:solidFill>
                <a:latin typeface="Bierstadt" panose="020B0004020202020204" pitchFamily="34" charset="0"/>
                <a:ea typeface="Calibri" pitchFamily="34" charset="-122"/>
                <a:cs typeface="Calibri" pitchFamily="34" charset="-120"/>
              </a:rPr>
              <a:t>Rotem Maravent · Irit Kogan</a:t>
            </a:r>
            <a:endParaRPr lang="en-US" sz="1200" dirty="0">
              <a:latin typeface="Bierstadt" panose="020B0004020202020204" pitchFamily="34" charset="0"/>
            </a:endParaRPr>
          </a:p>
        </p:txBody>
      </p:sp>
      <p:sp>
        <p:nvSpPr>
          <p:cNvPr id="5" name="Text 3"/>
          <p:cNvSpPr/>
          <p:nvPr/>
        </p:nvSpPr>
        <p:spPr>
          <a:xfrm>
            <a:off x="639961" y="3832920"/>
            <a:ext cx="6537960" cy="281434"/>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1598" b="1" dirty="0">
                <a:solidFill>
                  <a:srgbClr val="7A75A3"/>
                </a:solidFill>
                <a:latin typeface="Calibri" pitchFamily="34" charset="0"/>
                <a:ea typeface="Calibri" pitchFamily="34" charset="-122"/>
                <a:cs typeface="Calibri" pitchFamily="34" charset="-120"/>
              </a:rPr>
              <a:t>Advisors: </a:t>
            </a:r>
            <a:r>
              <a:rPr lang="en-US" sz="1600" dirty="0">
                <a:solidFill>
                  <a:srgbClr val="2E2B45"/>
                </a:solidFill>
                <a:latin typeface="Bierstadt" panose="020B0004020202020204" pitchFamily="34" charset="0"/>
                <a:ea typeface="Calibri" pitchFamily="34" charset="-122"/>
                <a:cs typeface="Calibri" pitchFamily="34" charset="-120"/>
              </a:rPr>
              <a:t>Dr. Renata Avros · Prof. Zeev </a:t>
            </a:r>
            <a:r>
              <a:rPr lang="en-US" sz="1600" dirty="0" err="1">
                <a:solidFill>
                  <a:srgbClr val="2E2B45"/>
                </a:solidFill>
                <a:latin typeface="Bierstadt" panose="020B0004020202020204" pitchFamily="34" charset="0"/>
                <a:ea typeface="Calibri" pitchFamily="34" charset="-122"/>
                <a:cs typeface="Calibri" pitchFamily="34" charset="-120"/>
              </a:rPr>
              <a:t>Volkovich</a:t>
            </a:r>
            <a:endParaRPr lang="en-US" sz="1600" dirty="0">
              <a:solidFill>
                <a:srgbClr val="2E2B45"/>
              </a:solidFill>
              <a:latin typeface="Bierstadt" panose="020B0004020202020204" pitchFamily="34" charset="0"/>
              <a:ea typeface="Calibri" pitchFamily="34" charset="-122"/>
              <a:cs typeface="Calibri" pitchFamily="34" charset="-120"/>
            </a:endParaRPr>
          </a:p>
        </p:txBody>
      </p:sp>
      <p:sp>
        <p:nvSpPr>
          <p:cNvPr id="6" name="Text 4"/>
          <p:cNvSpPr/>
          <p:nvPr/>
        </p:nvSpPr>
        <p:spPr>
          <a:xfrm>
            <a:off x="639961" y="4480471"/>
            <a:ext cx="4023360" cy="220861"/>
          </a:xfrm>
          <a:prstGeom prst="rect">
            <a:avLst/>
          </a:prstGeom>
          <a:noFill/>
          <a:ln/>
        </p:spPr>
        <p:txBody>
          <a:bodyPr wrap="square" lIns="25400" tIns="25400" rIns="25400" bIns="25400" rtlCol="0" anchor="t">
            <a:noAutofit/>
          </a:bodyPr>
          <a:lstStyle/>
          <a:p>
            <a:pPr marL="0" indent="0" algn="l">
              <a:lnSpc>
                <a:spcPct val="120000"/>
              </a:lnSpc>
              <a:buNone/>
            </a:pPr>
            <a:r>
              <a:rPr lang="en-US" sz="1200" dirty="0">
                <a:solidFill>
                  <a:srgbClr val="7A75A3"/>
                </a:solidFill>
                <a:latin typeface="Bierstadt" panose="020B0004020202020204" pitchFamily="34" charset="0"/>
                <a:ea typeface="Calibri" pitchFamily="34" charset="-122"/>
                <a:cs typeface="Calibri" pitchFamily="34" charset="-120"/>
              </a:rPr>
              <a:t>Project 26-2-R-5</a:t>
            </a:r>
            <a:endParaRPr lang="en-US" sz="1200" dirty="0">
              <a:latin typeface="Bierstadt" panose="020B0004020202020204" pitchFamily="34" charset="0"/>
            </a:endParaRPr>
          </a:p>
        </p:txBody>
      </p:sp>
      <p:pic>
        <p:nvPicPr>
          <p:cNvPr id="7" name="Image 0" descr="preencoded.png"/>
          <p:cNvPicPr>
            <a:picLocks noChangeAspect="1"/>
          </p:cNvPicPr>
          <p:nvPr/>
        </p:nvPicPr>
        <p:blipFill>
          <a:blip r:embed="rId3"/>
          <a:stretch>
            <a:fillRect/>
          </a:stretch>
        </p:blipFill>
        <p:spPr>
          <a:xfrm>
            <a:off x="6838950" y="419100"/>
            <a:ext cx="1809750" cy="455414"/>
          </a:xfrm>
          <a:prstGeom prst="rect">
            <a:avLst/>
          </a:prstGeom>
        </p:spPr>
      </p:pic>
      <p:sp>
        <p:nvSpPr>
          <p:cNvPr id="8" name="Shape 5"/>
          <p:cNvSpPr/>
          <p:nvPr/>
        </p:nvSpPr>
        <p:spPr>
          <a:xfrm>
            <a:off x="639961" y="3238500"/>
            <a:ext cx="609600" cy="38100"/>
          </a:xfrm>
          <a:prstGeom prst="roundRect">
            <a:avLst>
              <a:gd name="adj" fmla="val 50000"/>
            </a:avLst>
          </a:prstGeom>
          <a:solidFill>
            <a:srgbClr val="7A75A3"/>
          </a:solidFill>
          <a:ln/>
        </p:spPr>
        <p:txBody>
          <a:bodyPr/>
          <a:lstStyle/>
          <a:p>
            <a:endParaRPr lang="en-IL"/>
          </a:p>
        </p:txBody>
      </p:sp>
      <p:sp>
        <p:nvSpPr>
          <p:cNvPr id="9" name="Text 6"/>
          <p:cNvSpPr/>
          <p:nvPr/>
        </p:nvSpPr>
        <p:spPr>
          <a:xfrm>
            <a:off x="8770144" y="4876800"/>
            <a:ext cx="221456"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13" dirty="0">
                <a:solidFill>
                  <a:srgbClr val="7A75A3"/>
                </a:solidFill>
                <a:latin typeface="Arial" pitchFamily="34" charset="0"/>
                <a:ea typeface="Arial" pitchFamily="34" charset="-122"/>
                <a:cs typeface="Arial" pitchFamily="34" charset="-120"/>
              </a:rPr>
              <a:t>01</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marL="0" indent="0">
              <a:buNone/>
            </a:pPr>
            <a:r>
              <a:rPr lang="en-US" sz="1100" b="1" kern="0" spc="300" dirty="0">
                <a:solidFill>
                  <a:srgbClr val="7A75A3"/>
                </a:solidFill>
                <a:latin typeface="Arial" pitchFamily="34" charset="0"/>
                <a:ea typeface="Arial" pitchFamily="34" charset="-122"/>
                <a:cs typeface="Arial" pitchFamily="34" charset="-120"/>
              </a:rPr>
              <a:t>AGENDA</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marL="0" indent="0">
              <a:buNone/>
            </a:pPr>
            <a:r>
              <a:rPr lang="en-US" sz="3000" b="1" dirty="0">
                <a:solidFill>
                  <a:srgbClr val="2E2B45"/>
                </a:solidFill>
                <a:latin typeface="Arial Black" panose="020B0A04020102020204" pitchFamily="34" charset="0"/>
                <a:ea typeface="Arial" pitchFamily="34" charset="-122"/>
                <a:cs typeface="Arial" pitchFamily="34" charset="-120"/>
              </a:rPr>
              <a:t>Presentation Outline</a:t>
            </a:r>
            <a:endParaRPr lang="en-US" sz="3000" dirty="0">
              <a:latin typeface="Arial Black" panose="020B0A04020102020204" pitchFamily="34" charset="0"/>
            </a:endParaRPr>
          </a:p>
        </p:txBody>
      </p:sp>
      <p:sp>
        <p:nvSpPr>
          <p:cNvPr id="4" name="Shape 2"/>
          <p:cNvSpPr/>
          <p:nvPr/>
        </p:nvSpPr>
        <p:spPr>
          <a:xfrm>
            <a:off x="822960" y="1280160"/>
            <a:ext cx="292608" cy="292608"/>
          </a:xfrm>
          <a:prstGeom prst="ellipse">
            <a:avLst/>
          </a:prstGeom>
          <a:solidFill>
            <a:srgbClr val="B7B1CD"/>
          </a:solidFill>
          <a:ln/>
        </p:spPr>
        <p:txBody>
          <a:bodyPr/>
          <a:lstStyle/>
          <a:p>
            <a:endParaRPr lang="en-IL"/>
          </a:p>
        </p:txBody>
      </p:sp>
      <p:sp>
        <p:nvSpPr>
          <p:cNvPr id="5" name="Text 3"/>
          <p:cNvSpPr/>
          <p:nvPr/>
        </p:nvSpPr>
        <p:spPr>
          <a:xfrm>
            <a:off x="822960" y="1280160"/>
            <a:ext cx="292608" cy="292608"/>
          </a:xfrm>
          <a:prstGeom prst="rect">
            <a:avLst/>
          </a:prstGeom>
          <a:noFill/>
          <a:ln/>
        </p:spPr>
        <p:txBody>
          <a:bodyPr wrap="square" lIns="0" tIns="0" rIns="0" bIns="0" rtlCol="0" anchor="ctr"/>
          <a:lstStyle/>
          <a:p>
            <a:pPr marL="0" indent="0" algn="ctr">
              <a:buNone/>
            </a:pPr>
            <a:r>
              <a:rPr lang="en-US" sz="1100" b="1" dirty="0">
                <a:solidFill>
                  <a:srgbClr val="2E2B45"/>
                </a:solidFill>
                <a:latin typeface="Arial" pitchFamily="34" charset="0"/>
                <a:ea typeface="Arial" pitchFamily="34" charset="-122"/>
                <a:cs typeface="Arial" pitchFamily="34" charset="-120"/>
              </a:rPr>
              <a:t>1</a:t>
            </a:r>
            <a:endParaRPr lang="en-US" sz="1100" dirty="0"/>
          </a:p>
        </p:txBody>
      </p:sp>
      <p:sp>
        <p:nvSpPr>
          <p:cNvPr id="6" name="Text 4"/>
          <p:cNvSpPr/>
          <p:nvPr/>
        </p:nvSpPr>
        <p:spPr>
          <a:xfrm>
            <a:off x="1280160" y="1188720"/>
            <a:ext cx="3200400" cy="475488"/>
          </a:xfrm>
          <a:prstGeom prst="rect">
            <a:avLst/>
          </a:prstGeom>
          <a:noFill/>
          <a:ln/>
        </p:spPr>
        <p:txBody>
          <a:bodyPr wrap="square" lIns="0" tIns="0" rIns="0" bIns="0" rtlCol="0" anchor="ctr"/>
          <a:lstStyle/>
          <a:p>
            <a:r>
              <a:rPr lang="en-US" sz="1350" dirty="0">
                <a:solidFill>
                  <a:srgbClr val="2E2B45"/>
                </a:solidFill>
                <a:latin typeface="Bierstadt" panose="020B0004020202020204" pitchFamily="34" charset="0"/>
                <a:ea typeface="Calibri" pitchFamily="34" charset="-122"/>
                <a:cs typeface="Calibri" pitchFamily="34" charset="-120"/>
              </a:rPr>
              <a:t>Motivation &amp; Background</a:t>
            </a:r>
          </a:p>
        </p:txBody>
      </p:sp>
      <p:sp>
        <p:nvSpPr>
          <p:cNvPr id="7" name="Shape 5"/>
          <p:cNvSpPr/>
          <p:nvPr/>
        </p:nvSpPr>
        <p:spPr>
          <a:xfrm>
            <a:off x="822960" y="1792224"/>
            <a:ext cx="292608" cy="292608"/>
          </a:xfrm>
          <a:prstGeom prst="ellipse">
            <a:avLst/>
          </a:prstGeom>
          <a:solidFill>
            <a:srgbClr val="B7B1CD"/>
          </a:solidFill>
          <a:ln/>
        </p:spPr>
        <p:txBody>
          <a:bodyPr/>
          <a:lstStyle/>
          <a:p>
            <a:endParaRPr lang="en-IL"/>
          </a:p>
        </p:txBody>
      </p:sp>
      <p:sp>
        <p:nvSpPr>
          <p:cNvPr id="8" name="Text 6"/>
          <p:cNvSpPr/>
          <p:nvPr/>
        </p:nvSpPr>
        <p:spPr>
          <a:xfrm>
            <a:off x="822960" y="1792224"/>
            <a:ext cx="292608" cy="292608"/>
          </a:xfrm>
          <a:prstGeom prst="rect">
            <a:avLst/>
          </a:prstGeom>
          <a:noFill/>
          <a:ln/>
        </p:spPr>
        <p:txBody>
          <a:bodyPr wrap="square" lIns="0" tIns="0" rIns="0" bIns="0" rtlCol="0" anchor="ctr"/>
          <a:lstStyle/>
          <a:p>
            <a:pPr marL="0" indent="0" algn="ctr">
              <a:buNone/>
            </a:pPr>
            <a:r>
              <a:rPr lang="en-US" sz="1100" b="1" dirty="0">
                <a:solidFill>
                  <a:srgbClr val="2E2B45"/>
                </a:solidFill>
                <a:latin typeface="Arial" pitchFamily="34" charset="0"/>
                <a:ea typeface="Arial" pitchFamily="34" charset="-122"/>
                <a:cs typeface="Arial" pitchFamily="34" charset="-120"/>
              </a:rPr>
              <a:t>2</a:t>
            </a:r>
            <a:endParaRPr lang="en-US" sz="1100" dirty="0"/>
          </a:p>
        </p:txBody>
      </p:sp>
      <p:sp>
        <p:nvSpPr>
          <p:cNvPr id="9" name="Text 7"/>
          <p:cNvSpPr/>
          <p:nvPr/>
        </p:nvSpPr>
        <p:spPr>
          <a:xfrm>
            <a:off x="1280160" y="1700784"/>
            <a:ext cx="3200400" cy="475488"/>
          </a:xfrm>
          <a:prstGeom prst="rect">
            <a:avLst/>
          </a:prstGeom>
          <a:noFill/>
          <a:ln/>
        </p:spPr>
        <p:txBody>
          <a:bodyPr wrap="square" lIns="0" tIns="0" rIns="0" bIns="0" rtlCol="0" anchor="ctr"/>
          <a:lstStyle/>
          <a:p>
            <a:pPr marL="0" indent="0">
              <a:buNone/>
            </a:pPr>
            <a:r>
              <a:rPr lang="en-US" sz="1350" dirty="0">
                <a:solidFill>
                  <a:srgbClr val="2E2B45"/>
                </a:solidFill>
                <a:latin typeface="Bierstadt" panose="020B0004020202020204" pitchFamily="34" charset="0"/>
                <a:ea typeface="Calibri" pitchFamily="34" charset="-122"/>
                <a:cs typeface="Calibri" pitchFamily="34" charset="-120"/>
              </a:rPr>
              <a:t>Problem Statement</a:t>
            </a:r>
            <a:endParaRPr lang="en-US" sz="1350" dirty="0">
              <a:latin typeface="Bierstadt" panose="020B0004020202020204" pitchFamily="34" charset="0"/>
            </a:endParaRPr>
          </a:p>
        </p:txBody>
      </p:sp>
      <p:sp>
        <p:nvSpPr>
          <p:cNvPr id="10" name="Shape 8"/>
          <p:cNvSpPr/>
          <p:nvPr/>
        </p:nvSpPr>
        <p:spPr>
          <a:xfrm>
            <a:off x="822960" y="2304288"/>
            <a:ext cx="292608" cy="292608"/>
          </a:xfrm>
          <a:prstGeom prst="ellipse">
            <a:avLst/>
          </a:prstGeom>
          <a:solidFill>
            <a:srgbClr val="B7B1CD"/>
          </a:solidFill>
          <a:ln/>
        </p:spPr>
        <p:txBody>
          <a:bodyPr/>
          <a:lstStyle/>
          <a:p>
            <a:endParaRPr lang="en-IL"/>
          </a:p>
        </p:txBody>
      </p:sp>
      <p:sp>
        <p:nvSpPr>
          <p:cNvPr id="11" name="Text 9"/>
          <p:cNvSpPr/>
          <p:nvPr/>
        </p:nvSpPr>
        <p:spPr>
          <a:xfrm>
            <a:off x="822960" y="2304288"/>
            <a:ext cx="292608" cy="292608"/>
          </a:xfrm>
          <a:prstGeom prst="rect">
            <a:avLst/>
          </a:prstGeom>
          <a:noFill/>
          <a:ln/>
        </p:spPr>
        <p:txBody>
          <a:bodyPr wrap="square" lIns="0" tIns="0" rIns="0" bIns="0" rtlCol="0" anchor="ctr"/>
          <a:lstStyle/>
          <a:p>
            <a:pPr marL="0" indent="0" algn="ctr">
              <a:buNone/>
            </a:pPr>
            <a:r>
              <a:rPr lang="en-US" sz="1100" b="1" dirty="0">
                <a:solidFill>
                  <a:srgbClr val="2E2B45"/>
                </a:solidFill>
                <a:latin typeface="Arial" pitchFamily="34" charset="0"/>
                <a:ea typeface="Arial" pitchFamily="34" charset="-122"/>
                <a:cs typeface="Arial" pitchFamily="34" charset="-120"/>
              </a:rPr>
              <a:t>3</a:t>
            </a:r>
            <a:endParaRPr lang="en-US" sz="1100" dirty="0"/>
          </a:p>
        </p:txBody>
      </p:sp>
      <p:sp>
        <p:nvSpPr>
          <p:cNvPr id="12" name="Text 10"/>
          <p:cNvSpPr/>
          <p:nvPr/>
        </p:nvSpPr>
        <p:spPr>
          <a:xfrm>
            <a:off x="1280160" y="2212848"/>
            <a:ext cx="3200400" cy="475488"/>
          </a:xfrm>
          <a:prstGeom prst="rect">
            <a:avLst/>
          </a:prstGeom>
          <a:noFill/>
          <a:ln/>
        </p:spPr>
        <p:txBody>
          <a:bodyPr wrap="square" lIns="0" tIns="0" rIns="0" bIns="0" rtlCol="0" anchor="ctr"/>
          <a:lstStyle/>
          <a:p>
            <a:pPr marL="0" indent="0">
              <a:buNone/>
            </a:pPr>
            <a:r>
              <a:rPr lang="en-US" sz="1350" dirty="0">
                <a:solidFill>
                  <a:srgbClr val="2E2B45"/>
                </a:solidFill>
                <a:latin typeface="Bierstadt" panose="020B0004020202020204" pitchFamily="34" charset="0"/>
                <a:ea typeface="Calibri" pitchFamily="34" charset="-122"/>
                <a:cs typeface="Calibri" pitchFamily="34" charset="-120"/>
              </a:rPr>
              <a:t>Mathematical Background</a:t>
            </a:r>
            <a:endParaRPr lang="en-US" sz="1350" dirty="0">
              <a:latin typeface="Bierstadt" panose="020B0004020202020204" pitchFamily="34" charset="0"/>
            </a:endParaRPr>
          </a:p>
        </p:txBody>
      </p:sp>
      <p:sp>
        <p:nvSpPr>
          <p:cNvPr id="13" name="Shape 11"/>
          <p:cNvSpPr/>
          <p:nvPr/>
        </p:nvSpPr>
        <p:spPr>
          <a:xfrm>
            <a:off x="822960" y="2816352"/>
            <a:ext cx="292608" cy="292608"/>
          </a:xfrm>
          <a:prstGeom prst="ellipse">
            <a:avLst/>
          </a:prstGeom>
          <a:solidFill>
            <a:srgbClr val="B7B1CD"/>
          </a:solidFill>
          <a:ln/>
        </p:spPr>
        <p:txBody>
          <a:bodyPr/>
          <a:lstStyle/>
          <a:p>
            <a:endParaRPr lang="en-IL"/>
          </a:p>
        </p:txBody>
      </p:sp>
      <p:sp>
        <p:nvSpPr>
          <p:cNvPr id="14" name="Text 12"/>
          <p:cNvSpPr/>
          <p:nvPr/>
        </p:nvSpPr>
        <p:spPr>
          <a:xfrm>
            <a:off x="822960" y="2816352"/>
            <a:ext cx="292608" cy="292608"/>
          </a:xfrm>
          <a:prstGeom prst="rect">
            <a:avLst/>
          </a:prstGeom>
          <a:noFill/>
          <a:ln/>
        </p:spPr>
        <p:txBody>
          <a:bodyPr wrap="square" lIns="0" tIns="0" rIns="0" bIns="0" rtlCol="0" anchor="ctr"/>
          <a:lstStyle/>
          <a:p>
            <a:pPr marL="0" indent="0" algn="ctr">
              <a:buNone/>
            </a:pPr>
            <a:r>
              <a:rPr lang="en-US" sz="1100" b="1" dirty="0">
                <a:solidFill>
                  <a:srgbClr val="2E2B45"/>
                </a:solidFill>
                <a:latin typeface="Arial" pitchFamily="34" charset="0"/>
                <a:ea typeface="Arial" pitchFamily="34" charset="-122"/>
                <a:cs typeface="Arial" pitchFamily="34" charset="-120"/>
              </a:rPr>
              <a:t>4</a:t>
            </a:r>
            <a:endParaRPr lang="en-US" sz="1100" dirty="0"/>
          </a:p>
        </p:txBody>
      </p:sp>
      <p:sp>
        <p:nvSpPr>
          <p:cNvPr id="15" name="Text 13"/>
          <p:cNvSpPr/>
          <p:nvPr/>
        </p:nvSpPr>
        <p:spPr>
          <a:xfrm>
            <a:off x="1280160" y="2724912"/>
            <a:ext cx="3200400" cy="475488"/>
          </a:xfrm>
          <a:prstGeom prst="rect">
            <a:avLst/>
          </a:prstGeom>
          <a:noFill/>
          <a:ln/>
        </p:spPr>
        <p:txBody>
          <a:bodyPr wrap="square" lIns="0" tIns="0" rIns="0" bIns="0" rtlCol="0" anchor="ctr"/>
          <a:lstStyle/>
          <a:p>
            <a:pPr marL="0" indent="0">
              <a:buNone/>
            </a:pPr>
            <a:r>
              <a:rPr lang="en-US" sz="1350" dirty="0">
                <a:solidFill>
                  <a:srgbClr val="2E2B45"/>
                </a:solidFill>
                <a:latin typeface="Bierstadt" panose="020B0004020202020204" pitchFamily="34" charset="0"/>
                <a:ea typeface="Calibri" pitchFamily="34" charset="-122"/>
                <a:cs typeface="Calibri" pitchFamily="34" charset="-120"/>
              </a:rPr>
              <a:t>HypDiff – Hyperbolic Autoencoding</a:t>
            </a:r>
            <a:endParaRPr lang="en-US" sz="1350" dirty="0">
              <a:latin typeface="Bierstadt" panose="020B0004020202020204" pitchFamily="34" charset="0"/>
            </a:endParaRPr>
          </a:p>
        </p:txBody>
      </p:sp>
      <p:sp>
        <p:nvSpPr>
          <p:cNvPr id="16" name="Shape 14"/>
          <p:cNvSpPr/>
          <p:nvPr/>
        </p:nvSpPr>
        <p:spPr>
          <a:xfrm>
            <a:off x="822960" y="3328416"/>
            <a:ext cx="292608" cy="292608"/>
          </a:xfrm>
          <a:prstGeom prst="ellipse">
            <a:avLst/>
          </a:prstGeom>
          <a:solidFill>
            <a:srgbClr val="B7B1CD"/>
          </a:solidFill>
          <a:ln/>
        </p:spPr>
        <p:txBody>
          <a:bodyPr/>
          <a:lstStyle/>
          <a:p>
            <a:endParaRPr lang="en-IL"/>
          </a:p>
        </p:txBody>
      </p:sp>
      <p:sp>
        <p:nvSpPr>
          <p:cNvPr id="17" name="Text 15"/>
          <p:cNvSpPr/>
          <p:nvPr/>
        </p:nvSpPr>
        <p:spPr>
          <a:xfrm>
            <a:off x="822960" y="3328416"/>
            <a:ext cx="292608" cy="292608"/>
          </a:xfrm>
          <a:prstGeom prst="rect">
            <a:avLst/>
          </a:prstGeom>
          <a:noFill/>
          <a:ln/>
        </p:spPr>
        <p:txBody>
          <a:bodyPr wrap="square" lIns="0" tIns="0" rIns="0" bIns="0" rtlCol="0" anchor="ctr"/>
          <a:lstStyle/>
          <a:p>
            <a:pPr marL="0" indent="0" algn="ctr">
              <a:buNone/>
            </a:pPr>
            <a:r>
              <a:rPr lang="en-US" sz="1100" b="1" dirty="0">
                <a:solidFill>
                  <a:srgbClr val="2E2B45"/>
                </a:solidFill>
                <a:latin typeface="Arial" pitchFamily="34" charset="0"/>
                <a:ea typeface="Arial" pitchFamily="34" charset="-122"/>
                <a:cs typeface="Arial" pitchFamily="34" charset="-120"/>
              </a:rPr>
              <a:t>5</a:t>
            </a:r>
            <a:endParaRPr lang="en-US" sz="1100" dirty="0"/>
          </a:p>
        </p:txBody>
      </p:sp>
      <p:sp>
        <p:nvSpPr>
          <p:cNvPr id="18" name="Text 16"/>
          <p:cNvSpPr/>
          <p:nvPr/>
        </p:nvSpPr>
        <p:spPr>
          <a:xfrm>
            <a:off x="1280160" y="3236976"/>
            <a:ext cx="3200400" cy="475488"/>
          </a:xfrm>
          <a:prstGeom prst="rect">
            <a:avLst/>
          </a:prstGeom>
          <a:noFill/>
          <a:ln/>
        </p:spPr>
        <p:txBody>
          <a:bodyPr wrap="square" lIns="0" tIns="0" rIns="0" bIns="0" rtlCol="0" anchor="ctr"/>
          <a:lstStyle/>
          <a:p>
            <a:pPr marL="0" indent="0">
              <a:buNone/>
            </a:pPr>
            <a:r>
              <a:rPr lang="en-US" sz="1350" dirty="0">
                <a:solidFill>
                  <a:srgbClr val="2E2B45"/>
                </a:solidFill>
                <a:latin typeface="Bierstadt" panose="020B0004020202020204" pitchFamily="34" charset="0"/>
                <a:ea typeface="Calibri" pitchFamily="34" charset="-122"/>
                <a:cs typeface="Calibri" pitchFamily="34" charset="-120"/>
              </a:rPr>
              <a:t>HypDiff – Anisotropic Diffusion Process</a:t>
            </a:r>
            <a:endParaRPr lang="en-US" sz="1350" dirty="0">
              <a:latin typeface="Bierstadt" panose="020B0004020202020204" pitchFamily="34" charset="0"/>
            </a:endParaRPr>
          </a:p>
        </p:txBody>
      </p:sp>
      <p:sp>
        <p:nvSpPr>
          <p:cNvPr id="19" name="Shape 17"/>
          <p:cNvSpPr/>
          <p:nvPr/>
        </p:nvSpPr>
        <p:spPr>
          <a:xfrm>
            <a:off x="822960" y="3840480"/>
            <a:ext cx="292608" cy="292608"/>
          </a:xfrm>
          <a:prstGeom prst="ellipse">
            <a:avLst/>
          </a:prstGeom>
          <a:solidFill>
            <a:srgbClr val="B7B1CD"/>
          </a:solidFill>
          <a:ln/>
        </p:spPr>
        <p:txBody>
          <a:bodyPr/>
          <a:lstStyle/>
          <a:p>
            <a:endParaRPr lang="en-IL"/>
          </a:p>
        </p:txBody>
      </p:sp>
      <p:sp>
        <p:nvSpPr>
          <p:cNvPr id="20" name="Text 18"/>
          <p:cNvSpPr/>
          <p:nvPr/>
        </p:nvSpPr>
        <p:spPr>
          <a:xfrm>
            <a:off x="822960" y="3840480"/>
            <a:ext cx="292608" cy="292608"/>
          </a:xfrm>
          <a:prstGeom prst="rect">
            <a:avLst/>
          </a:prstGeom>
          <a:noFill/>
          <a:ln/>
        </p:spPr>
        <p:txBody>
          <a:bodyPr wrap="square" lIns="0" tIns="0" rIns="0" bIns="0" rtlCol="0" anchor="ctr"/>
          <a:lstStyle/>
          <a:p>
            <a:pPr marL="0" indent="0" algn="ctr">
              <a:buNone/>
            </a:pPr>
            <a:r>
              <a:rPr lang="en-US" sz="1100" b="1" dirty="0">
                <a:solidFill>
                  <a:srgbClr val="2E2B45"/>
                </a:solidFill>
                <a:latin typeface="Arial" pitchFamily="34" charset="0"/>
                <a:ea typeface="Arial" pitchFamily="34" charset="-122"/>
                <a:cs typeface="Arial" pitchFamily="34" charset="-120"/>
              </a:rPr>
              <a:t>6</a:t>
            </a:r>
            <a:endParaRPr lang="en-US" sz="1100" dirty="0"/>
          </a:p>
        </p:txBody>
      </p:sp>
      <p:sp>
        <p:nvSpPr>
          <p:cNvPr id="21" name="Text 19"/>
          <p:cNvSpPr/>
          <p:nvPr/>
        </p:nvSpPr>
        <p:spPr>
          <a:xfrm>
            <a:off x="1280160" y="3749040"/>
            <a:ext cx="3200400" cy="475488"/>
          </a:xfrm>
          <a:prstGeom prst="rect">
            <a:avLst/>
          </a:prstGeom>
          <a:noFill/>
          <a:ln/>
        </p:spPr>
        <p:txBody>
          <a:bodyPr wrap="square" lIns="0" tIns="0" rIns="0" bIns="0" rtlCol="0" anchor="ctr"/>
          <a:lstStyle/>
          <a:p>
            <a:pPr marL="0" indent="0">
              <a:buNone/>
            </a:pPr>
            <a:r>
              <a:rPr lang="en-US" sz="1350" dirty="0">
                <a:solidFill>
                  <a:srgbClr val="2E2B45"/>
                </a:solidFill>
                <a:latin typeface="Bierstadt" panose="020B0004020202020204" pitchFamily="34" charset="0"/>
                <a:ea typeface="Calibri" pitchFamily="34" charset="-122"/>
                <a:cs typeface="Calibri" pitchFamily="34" charset="-120"/>
              </a:rPr>
              <a:t>Our Solution</a:t>
            </a:r>
            <a:endParaRPr lang="en-US" sz="1350" dirty="0">
              <a:latin typeface="Bierstadt" panose="020B0004020202020204" pitchFamily="34" charset="0"/>
            </a:endParaRPr>
          </a:p>
        </p:txBody>
      </p:sp>
      <p:sp>
        <p:nvSpPr>
          <p:cNvPr id="22" name="Shape 20"/>
          <p:cNvSpPr/>
          <p:nvPr/>
        </p:nvSpPr>
        <p:spPr>
          <a:xfrm>
            <a:off x="822960" y="4352544"/>
            <a:ext cx="292608" cy="292608"/>
          </a:xfrm>
          <a:prstGeom prst="ellipse">
            <a:avLst/>
          </a:prstGeom>
          <a:solidFill>
            <a:srgbClr val="B7B1CD"/>
          </a:solidFill>
          <a:ln/>
        </p:spPr>
        <p:txBody>
          <a:bodyPr/>
          <a:lstStyle/>
          <a:p>
            <a:endParaRPr lang="en-IL"/>
          </a:p>
        </p:txBody>
      </p:sp>
      <p:sp>
        <p:nvSpPr>
          <p:cNvPr id="23" name="Text 21"/>
          <p:cNvSpPr/>
          <p:nvPr/>
        </p:nvSpPr>
        <p:spPr>
          <a:xfrm>
            <a:off x="822960" y="4352544"/>
            <a:ext cx="292608" cy="292608"/>
          </a:xfrm>
          <a:prstGeom prst="rect">
            <a:avLst/>
          </a:prstGeom>
          <a:noFill/>
          <a:ln/>
        </p:spPr>
        <p:txBody>
          <a:bodyPr wrap="square" lIns="0" tIns="0" rIns="0" bIns="0" rtlCol="0" anchor="ctr"/>
          <a:lstStyle/>
          <a:p>
            <a:pPr marL="0" indent="0" algn="ctr">
              <a:buNone/>
            </a:pPr>
            <a:r>
              <a:rPr lang="en-US" sz="1100" b="1" dirty="0">
                <a:solidFill>
                  <a:srgbClr val="2E2B45"/>
                </a:solidFill>
                <a:latin typeface="Arial" pitchFamily="34" charset="0"/>
                <a:ea typeface="Arial" pitchFamily="34" charset="-122"/>
                <a:cs typeface="Arial" pitchFamily="34" charset="-120"/>
              </a:rPr>
              <a:t>7</a:t>
            </a:r>
            <a:endParaRPr lang="en-US" sz="1100" dirty="0"/>
          </a:p>
        </p:txBody>
      </p:sp>
      <p:sp>
        <p:nvSpPr>
          <p:cNvPr id="24" name="Text 22"/>
          <p:cNvSpPr/>
          <p:nvPr/>
        </p:nvSpPr>
        <p:spPr>
          <a:xfrm>
            <a:off x="1280160" y="4261104"/>
            <a:ext cx="3200400" cy="475488"/>
          </a:xfrm>
          <a:prstGeom prst="rect">
            <a:avLst/>
          </a:prstGeom>
          <a:noFill/>
          <a:ln/>
        </p:spPr>
        <p:txBody>
          <a:bodyPr wrap="square" lIns="0" tIns="0" rIns="0" bIns="0" rtlCol="0" anchor="ctr"/>
          <a:lstStyle/>
          <a:p>
            <a:pPr marL="0" indent="0">
              <a:buNone/>
            </a:pPr>
            <a:r>
              <a:rPr lang="en-US" sz="1350" dirty="0">
                <a:solidFill>
                  <a:srgbClr val="2E2B45"/>
                </a:solidFill>
                <a:latin typeface="Bierstadt" panose="020B0004020202020204" pitchFamily="34" charset="0"/>
                <a:ea typeface="Calibri" pitchFamily="34" charset="-122"/>
                <a:cs typeface="Calibri" pitchFamily="34" charset="-120"/>
              </a:rPr>
              <a:t>High-Level Architecture</a:t>
            </a:r>
            <a:endParaRPr lang="en-US" sz="1350" dirty="0">
              <a:latin typeface="Bierstadt" panose="020B0004020202020204" pitchFamily="34" charset="0"/>
            </a:endParaRPr>
          </a:p>
        </p:txBody>
      </p:sp>
      <p:sp>
        <p:nvSpPr>
          <p:cNvPr id="25" name="Shape 23"/>
          <p:cNvSpPr/>
          <p:nvPr/>
        </p:nvSpPr>
        <p:spPr>
          <a:xfrm>
            <a:off x="4892040" y="1280160"/>
            <a:ext cx="292608" cy="292608"/>
          </a:xfrm>
          <a:prstGeom prst="ellipse">
            <a:avLst/>
          </a:prstGeom>
          <a:solidFill>
            <a:srgbClr val="7A75A3"/>
          </a:solidFill>
          <a:ln/>
        </p:spPr>
        <p:txBody>
          <a:bodyPr/>
          <a:lstStyle/>
          <a:p>
            <a:endParaRPr lang="en-IL"/>
          </a:p>
        </p:txBody>
      </p:sp>
      <p:sp>
        <p:nvSpPr>
          <p:cNvPr id="26" name="Text 24"/>
          <p:cNvSpPr/>
          <p:nvPr/>
        </p:nvSpPr>
        <p:spPr>
          <a:xfrm>
            <a:off x="4892040" y="128016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8</a:t>
            </a:r>
            <a:endParaRPr lang="en-US" sz="1100" dirty="0"/>
          </a:p>
        </p:txBody>
      </p:sp>
      <p:sp>
        <p:nvSpPr>
          <p:cNvPr id="27" name="Text 25"/>
          <p:cNvSpPr/>
          <p:nvPr/>
        </p:nvSpPr>
        <p:spPr>
          <a:xfrm>
            <a:off x="5349240" y="1188720"/>
            <a:ext cx="3200400" cy="475488"/>
          </a:xfrm>
          <a:prstGeom prst="rect">
            <a:avLst/>
          </a:prstGeom>
          <a:noFill/>
          <a:ln/>
        </p:spPr>
        <p:txBody>
          <a:bodyPr wrap="square" lIns="0" tIns="0" rIns="0" bIns="0" rtlCol="0" anchor="ctr"/>
          <a:lstStyle/>
          <a:p>
            <a:pPr marL="0" indent="0">
              <a:buNone/>
            </a:pPr>
            <a:r>
              <a:rPr lang="en-US" sz="1350" dirty="0">
                <a:solidFill>
                  <a:srgbClr val="2E2B45"/>
                </a:solidFill>
                <a:latin typeface="Bierstadt" panose="020B0004020202020204" pitchFamily="34" charset="0"/>
                <a:ea typeface="Calibri" pitchFamily="34" charset="-122"/>
                <a:cs typeface="Calibri" pitchFamily="34" charset="-120"/>
              </a:rPr>
              <a:t>Graph Perturbation Module</a:t>
            </a:r>
            <a:endParaRPr lang="en-US" sz="1350" dirty="0">
              <a:latin typeface="Bierstadt" panose="020B0004020202020204" pitchFamily="34" charset="0"/>
            </a:endParaRPr>
          </a:p>
        </p:txBody>
      </p:sp>
      <p:sp>
        <p:nvSpPr>
          <p:cNvPr id="28" name="Shape 26"/>
          <p:cNvSpPr/>
          <p:nvPr/>
        </p:nvSpPr>
        <p:spPr>
          <a:xfrm>
            <a:off x="4892040" y="1792224"/>
            <a:ext cx="292608" cy="292608"/>
          </a:xfrm>
          <a:prstGeom prst="ellipse">
            <a:avLst/>
          </a:prstGeom>
          <a:solidFill>
            <a:srgbClr val="7A75A3"/>
          </a:solidFill>
          <a:ln/>
        </p:spPr>
        <p:txBody>
          <a:bodyPr/>
          <a:lstStyle/>
          <a:p>
            <a:endParaRPr lang="en-IL"/>
          </a:p>
        </p:txBody>
      </p:sp>
      <p:sp>
        <p:nvSpPr>
          <p:cNvPr id="29" name="Text 27"/>
          <p:cNvSpPr/>
          <p:nvPr/>
        </p:nvSpPr>
        <p:spPr>
          <a:xfrm>
            <a:off x="4892040" y="179222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9</a:t>
            </a:r>
            <a:endParaRPr lang="en-US" sz="1100" dirty="0"/>
          </a:p>
        </p:txBody>
      </p:sp>
      <p:sp>
        <p:nvSpPr>
          <p:cNvPr id="30" name="Text 28"/>
          <p:cNvSpPr/>
          <p:nvPr/>
        </p:nvSpPr>
        <p:spPr>
          <a:xfrm>
            <a:off x="5349240" y="1700784"/>
            <a:ext cx="3200400" cy="475488"/>
          </a:xfrm>
          <a:prstGeom prst="rect">
            <a:avLst/>
          </a:prstGeom>
          <a:noFill/>
          <a:ln/>
        </p:spPr>
        <p:txBody>
          <a:bodyPr wrap="square" lIns="0" tIns="0" rIns="0" bIns="0" rtlCol="0" anchor="ctr"/>
          <a:lstStyle/>
          <a:p>
            <a:pPr marL="0" indent="0">
              <a:buNone/>
            </a:pPr>
            <a:r>
              <a:rPr lang="en-US" sz="1350" dirty="0">
                <a:solidFill>
                  <a:srgbClr val="2E2B45"/>
                </a:solidFill>
                <a:latin typeface="Bierstadt" panose="020B0004020202020204" pitchFamily="34" charset="0"/>
                <a:ea typeface="Calibri" pitchFamily="34" charset="-122"/>
                <a:cs typeface="Calibri" pitchFamily="34" charset="-120"/>
              </a:rPr>
              <a:t>Generative Recovery Module</a:t>
            </a:r>
            <a:endParaRPr lang="en-US" sz="1350" dirty="0">
              <a:latin typeface="Bierstadt" panose="020B0004020202020204" pitchFamily="34" charset="0"/>
            </a:endParaRPr>
          </a:p>
        </p:txBody>
      </p:sp>
      <p:sp>
        <p:nvSpPr>
          <p:cNvPr id="31" name="Shape 29"/>
          <p:cNvSpPr/>
          <p:nvPr/>
        </p:nvSpPr>
        <p:spPr>
          <a:xfrm>
            <a:off x="4892040" y="2304288"/>
            <a:ext cx="292608" cy="292608"/>
          </a:xfrm>
          <a:prstGeom prst="ellipse">
            <a:avLst/>
          </a:prstGeom>
          <a:solidFill>
            <a:srgbClr val="7A75A3"/>
          </a:solidFill>
          <a:ln/>
        </p:spPr>
        <p:txBody>
          <a:bodyPr/>
          <a:lstStyle/>
          <a:p>
            <a:endParaRPr lang="en-IL"/>
          </a:p>
        </p:txBody>
      </p:sp>
      <p:sp>
        <p:nvSpPr>
          <p:cNvPr id="32" name="Text 30"/>
          <p:cNvSpPr/>
          <p:nvPr/>
        </p:nvSpPr>
        <p:spPr>
          <a:xfrm>
            <a:off x="4892040" y="230428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10</a:t>
            </a:r>
            <a:endParaRPr lang="en-US" sz="1100" dirty="0"/>
          </a:p>
        </p:txBody>
      </p:sp>
      <p:sp>
        <p:nvSpPr>
          <p:cNvPr id="33" name="Text 31"/>
          <p:cNvSpPr/>
          <p:nvPr/>
        </p:nvSpPr>
        <p:spPr>
          <a:xfrm>
            <a:off x="5349240" y="2212848"/>
            <a:ext cx="3200400" cy="475488"/>
          </a:xfrm>
          <a:prstGeom prst="rect">
            <a:avLst/>
          </a:prstGeom>
          <a:noFill/>
          <a:ln/>
        </p:spPr>
        <p:txBody>
          <a:bodyPr wrap="square" lIns="0" tIns="0" rIns="0" bIns="0" rtlCol="0" anchor="ctr"/>
          <a:lstStyle/>
          <a:p>
            <a:pPr marL="0" indent="0">
              <a:buNone/>
            </a:pPr>
            <a:r>
              <a:rPr lang="en-US" sz="1350" dirty="0">
                <a:solidFill>
                  <a:srgbClr val="2E2B45"/>
                </a:solidFill>
                <a:latin typeface="Bierstadt" panose="020B0004020202020204" pitchFamily="34" charset="0"/>
                <a:ea typeface="Calibri" pitchFamily="34" charset="-122"/>
                <a:cs typeface="Calibri" pitchFamily="34" charset="-120"/>
              </a:rPr>
              <a:t>Probabilistic Stability Scoring Module</a:t>
            </a:r>
            <a:endParaRPr lang="en-US" sz="1350" dirty="0">
              <a:latin typeface="Bierstadt" panose="020B0004020202020204" pitchFamily="34" charset="0"/>
            </a:endParaRPr>
          </a:p>
        </p:txBody>
      </p:sp>
      <p:sp>
        <p:nvSpPr>
          <p:cNvPr id="34" name="Shape 32"/>
          <p:cNvSpPr/>
          <p:nvPr/>
        </p:nvSpPr>
        <p:spPr>
          <a:xfrm>
            <a:off x="4892040" y="2816352"/>
            <a:ext cx="292608" cy="292608"/>
          </a:xfrm>
          <a:prstGeom prst="ellipse">
            <a:avLst/>
          </a:prstGeom>
          <a:solidFill>
            <a:srgbClr val="7A75A3"/>
          </a:solidFill>
          <a:ln/>
        </p:spPr>
        <p:txBody>
          <a:bodyPr/>
          <a:lstStyle/>
          <a:p>
            <a:endParaRPr lang="en-IL"/>
          </a:p>
        </p:txBody>
      </p:sp>
      <p:sp>
        <p:nvSpPr>
          <p:cNvPr id="35" name="Text 33"/>
          <p:cNvSpPr/>
          <p:nvPr/>
        </p:nvSpPr>
        <p:spPr>
          <a:xfrm>
            <a:off x="4892040" y="281635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11</a:t>
            </a:r>
            <a:endParaRPr lang="en-US" sz="1100" dirty="0"/>
          </a:p>
        </p:txBody>
      </p:sp>
      <p:sp>
        <p:nvSpPr>
          <p:cNvPr id="36" name="Text 34"/>
          <p:cNvSpPr/>
          <p:nvPr/>
        </p:nvSpPr>
        <p:spPr>
          <a:xfrm>
            <a:off x="5349240" y="2724912"/>
            <a:ext cx="3200400" cy="475488"/>
          </a:xfrm>
          <a:prstGeom prst="rect">
            <a:avLst/>
          </a:prstGeom>
          <a:noFill/>
          <a:ln/>
        </p:spPr>
        <p:txBody>
          <a:bodyPr wrap="square" lIns="0" tIns="0" rIns="0" bIns="0" rtlCol="0" anchor="ctr"/>
          <a:lstStyle/>
          <a:p>
            <a:pPr marL="0" indent="0">
              <a:buNone/>
            </a:pPr>
            <a:r>
              <a:rPr lang="en-US" sz="1350" dirty="0">
                <a:solidFill>
                  <a:srgbClr val="2E2B45"/>
                </a:solidFill>
                <a:latin typeface="Bierstadt" panose="020B0004020202020204" pitchFamily="34" charset="0"/>
                <a:ea typeface="Calibri" pitchFamily="34" charset="-122"/>
                <a:cs typeface="Calibri" pitchFamily="34" charset="-120"/>
              </a:rPr>
              <a:t>Datasets</a:t>
            </a:r>
            <a:endParaRPr lang="en-US" sz="1350" dirty="0">
              <a:latin typeface="Bierstadt" panose="020B0004020202020204" pitchFamily="34" charset="0"/>
            </a:endParaRPr>
          </a:p>
        </p:txBody>
      </p:sp>
      <p:sp>
        <p:nvSpPr>
          <p:cNvPr id="37" name="Shape 35"/>
          <p:cNvSpPr/>
          <p:nvPr/>
        </p:nvSpPr>
        <p:spPr>
          <a:xfrm>
            <a:off x="4892040" y="3328416"/>
            <a:ext cx="292608" cy="292608"/>
          </a:xfrm>
          <a:prstGeom prst="ellipse">
            <a:avLst/>
          </a:prstGeom>
          <a:solidFill>
            <a:srgbClr val="7A75A3"/>
          </a:solidFill>
          <a:ln/>
        </p:spPr>
        <p:txBody>
          <a:bodyPr/>
          <a:lstStyle/>
          <a:p>
            <a:endParaRPr lang="en-IL"/>
          </a:p>
        </p:txBody>
      </p:sp>
      <p:sp>
        <p:nvSpPr>
          <p:cNvPr id="38" name="Text 36"/>
          <p:cNvSpPr/>
          <p:nvPr/>
        </p:nvSpPr>
        <p:spPr>
          <a:xfrm>
            <a:off x="4892040" y="332841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12</a:t>
            </a:r>
            <a:endParaRPr lang="en-US" sz="1100" dirty="0"/>
          </a:p>
        </p:txBody>
      </p:sp>
      <p:sp>
        <p:nvSpPr>
          <p:cNvPr id="39" name="Text 37"/>
          <p:cNvSpPr/>
          <p:nvPr/>
        </p:nvSpPr>
        <p:spPr>
          <a:xfrm>
            <a:off x="5349240" y="3236976"/>
            <a:ext cx="3200400" cy="475488"/>
          </a:xfrm>
          <a:prstGeom prst="rect">
            <a:avLst/>
          </a:prstGeom>
          <a:noFill/>
          <a:ln/>
        </p:spPr>
        <p:txBody>
          <a:bodyPr wrap="square" lIns="0" tIns="0" rIns="0" bIns="0" rtlCol="0" anchor="ctr"/>
          <a:lstStyle/>
          <a:p>
            <a:pPr marL="0" indent="0">
              <a:buNone/>
            </a:pPr>
            <a:r>
              <a:rPr lang="en-US" sz="1350" dirty="0">
                <a:solidFill>
                  <a:srgbClr val="2E2B45"/>
                </a:solidFill>
                <a:latin typeface="Bierstadt" panose="020B0004020202020204" pitchFamily="34" charset="0"/>
                <a:ea typeface="Calibri" pitchFamily="34" charset="-122"/>
                <a:cs typeface="Calibri" pitchFamily="34" charset="-120"/>
              </a:rPr>
              <a:t>Validation &amp; Evaluation</a:t>
            </a:r>
            <a:endParaRPr lang="en-US" sz="1350" dirty="0">
              <a:latin typeface="Bierstadt" panose="020B0004020202020204" pitchFamily="34" charset="0"/>
            </a:endParaRPr>
          </a:p>
        </p:txBody>
      </p:sp>
      <p:sp>
        <p:nvSpPr>
          <p:cNvPr id="40" name="Shape 38"/>
          <p:cNvSpPr/>
          <p:nvPr/>
        </p:nvSpPr>
        <p:spPr>
          <a:xfrm>
            <a:off x="4892040" y="3840480"/>
            <a:ext cx="292608" cy="292608"/>
          </a:xfrm>
          <a:prstGeom prst="ellipse">
            <a:avLst/>
          </a:prstGeom>
          <a:solidFill>
            <a:srgbClr val="7A75A3"/>
          </a:solidFill>
          <a:ln/>
        </p:spPr>
        <p:txBody>
          <a:bodyPr/>
          <a:lstStyle/>
          <a:p>
            <a:endParaRPr lang="en-IL"/>
          </a:p>
        </p:txBody>
      </p:sp>
      <p:sp>
        <p:nvSpPr>
          <p:cNvPr id="41" name="Text 39"/>
          <p:cNvSpPr/>
          <p:nvPr/>
        </p:nvSpPr>
        <p:spPr>
          <a:xfrm>
            <a:off x="4892040" y="384048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13</a:t>
            </a:r>
            <a:endParaRPr lang="en-US" sz="1100" dirty="0"/>
          </a:p>
        </p:txBody>
      </p:sp>
      <p:sp>
        <p:nvSpPr>
          <p:cNvPr id="45" name="Text 43"/>
          <p:cNvSpPr/>
          <p:nvPr/>
        </p:nvSpPr>
        <p:spPr>
          <a:xfrm>
            <a:off x="5349240" y="3712464"/>
            <a:ext cx="3200400" cy="475488"/>
          </a:xfrm>
          <a:prstGeom prst="rect">
            <a:avLst/>
          </a:prstGeom>
          <a:noFill/>
          <a:ln/>
        </p:spPr>
        <p:txBody>
          <a:bodyPr wrap="square" lIns="0" tIns="0" rIns="0" bIns="0" rtlCol="0" anchor="ctr"/>
          <a:lstStyle/>
          <a:p>
            <a:pPr marL="0" indent="0">
              <a:buNone/>
            </a:pPr>
            <a:r>
              <a:rPr lang="en-US" sz="1350" dirty="0">
                <a:solidFill>
                  <a:srgbClr val="2E2B45"/>
                </a:solidFill>
                <a:latin typeface="Bierstadt" panose="020B0004020202020204" pitchFamily="34" charset="0"/>
                <a:ea typeface="Calibri" pitchFamily="34" charset="-122"/>
                <a:cs typeface="Calibri" pitchFamily="34" charset="-120"/>
              </a:rPr>
              <a:t>Summary &amp; Conclusion</a:t>
            </a:r>
            <a:endParaRPr lang="en-US" sz="1350" dirty="0">
              <a:latin typeface="Bierstadt" panose="020B0004020202020204" pitchFamily="34" charset="0"/>
            </a:endParaRPr>
          </a:p>
        </p:txBody>
      </p:sp>
      <p:sp>
        <p:nvSpPr>
          <p:cNvPr id="46" name="Text 6">
            <a:extLst>
              <a:ext uri="{FF2B5EF4-FFF2-40B4-BE49-F238E27FC236}">
                <a16:creationId xmlns:a16="http://schemas.microsoft.com/office/drawing/2014/main" id="{C25198B6-9A17-BCE9-6DBA-992702D83390}"/>
              </a:ext>
            </a:extLst>
          </p:cNvPr>
          <p:cNvSpPr/>
          <p:nvPr/>
        </p:nvSpPr>
        <p:spPr>
          <a:xfrm>
            <a:off x="8770144" y="4876800"/>
            <a:ext cx="221456"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13" dirty="0">
                <a:solidFill>
                  <a:srgbClr val="7A75A3"/>
                </a:solidFill>
                <a:latin typeface="Arial" pitchFamily="34" charset="0"/>
                <a:cs typeface="Arial" pitchFamily="34" charset="-120"/>
              </a:rPr>
              <a:t>02</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marL="0" indent="0">
              <a:buNone/>
            </a:pPr>
            <a:r>
              <a:rPr lang="en-US" sz="1100" b="1" kern="0" spc="300" dirty="0">
                <a:solidFill>
                  <a:srgbClr val="7A75A3"/>
                </a:solidFill>
                <a:latin typeface="Arial" pitchFamily="34" charset="0"/>
                <a:ea typeface="Arial" pitchFamily="34" charset="-122"/>
                <a:cs typeface="Arial" pitchFamily="34" charset="-120"/>
              </a:rPr>
              <a:t>OVERVIEW</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marL="0" indent="0">
              <a:buNone/>
            </a:pPr>
            <a:r>
              <a:rPr lang="en-US" sz="3000" b="1" dirty="0">
                <a:solidFill>
                  <a:srgbClr val="2E2B45"/>
                </a:solidFill>
                <a:latin typeface="Arial Black" panose="020B0A04020102020204" pitchFamily="34" charset="0"/>
                <a:ea typeface="Arial" pitchFamily="34" charset="-122"/>
                <a:cs typeface="Arial" pitchFamily="34" charset="-120"/>
              </a:rPr>
              <a:t>Motivation &amp; Background</a:t>
            </a:r>
            <a:endParaRPr lang="en-US" sz="3000" dirty="0">
              <a:latin typeface="Arial Black" panose="020B0A04020102020204" pitchFamily="34" charset="0"/>
            </a:endParaRPr>
          </a:p>
        </p:txBody>
      </p:sp>
      <p:sp>
        <p:nvSpPr>
          <p:cNvPr id="4" name="Shape 2"/>
          <p:cNvSpPr/>
          <p:nvPr/>
        </p:nvSpPr>
        <p:spPr>
          <a:xfrm>
            <a:off x="502920" y="1554480"/>
            <a:ext cx="2560320" cy="3032388"/>
          </a:xfrm>
          <a:prstGeom prst="roundRect">
            <a:avLst>
              <a:gd name="adj" fmla="val 2500"/>
            </a:avLst>
          </a:prstGeom>
          <a:solidFill>
            <a:srgbClr val="FFFFFF"/>
          </a:solidFill>
          <a:ln w="12700">
            <a:solidFill>
              <a:srgbClr val="D8D6E2"/>
            </a:solidFill>
            <a:prstDash val="solid"/>
          </a:ln>
          <a:effectLst>
            <a:outerShdw blurRad="88900" dist="25400" dir="3300000" algn="bl" rotWithShape="0">
              <a:srgbClr val="3A3660">
                <a:alpha val="16000"/>
              </a:srgbClr>
            </a:outerShdw>
          </a:effectLst>
        </p:spPr>
        <p:txBody>
          <a:bodyPr/>
          <a:lstStyle/>
          <a:p>
            <a:endParaRPr lang="en-IL"/>
          </a:p>
        </p:txBody>
      </p:sp>
      <p:sp>
        <p:nvSpPr>
          <p:cNvPr id="5" name="Shape 3"/>
          <p:cNvSpPr/>
          <p:nvPr/>
        </p:nvSpPr>
        <p:spPr>
          <a:xfrm>
            <a:off x="1463040" y="1874520"/>
            <a:ext cx="640080" cy="640080"/>
          </a:xfrm>
          <a:prstGeom prst="ellipse">
            <a:avLst/>
          </a:prstGeom>
          <a:solidFill>
            <a:srgbClr val="F1EFF7"/>
          </a:solidFill>
          <a:ln w="12700">
            <a:solidFill>
              <a:srgbClr val="B7B1CD"/>
            </a:solidFill>
            <a:prstDash val="solid"/>
          </a:ln>
        </p:spPr>
        <p:txBody>
          <a:bodyPr/>
          <a:lstStyle/>
          <a:p>
            <a:endParaRPr lang="en-IL"/>
          </a:p>
        </p:txBody>
      </p:sp>
      <p:pic>
        <p:nvPicPr>
          <p:cNvPr id="6" name="Image 0" descr="preencoded.png"/>
          <p:cNvPicPr>
            <a:picLocks noChangeAspect="1"/>
          </p:cNvPicPr>
          <p:nvPr/>
        </p:nvPicPr>
        <p:blipFill>
          <a:blip r:embed="rId3"/>
          <a:stretch>
            <a:fillRect/>
          </a:stretch>
        </p:blipFill>
        <p:spPr>
          <a:xfrm>
            <a:off x="1629461" y="2040941"/>
            <a:ext cx="307238" cy="307238"/>
          </a:xfrm>
          <a:prstGeom prst="rect">
            <a:avLst/>
          </a:prstGeom>
        </p:spPr>
      </p:pic>
      <p:sp>
        <p:nvSpPr>
          <p:cNvPr id="7" name="Text 4"/>
          <p:cNvSpPr/>
          <p:nvPr/>
        </p:nvSpPr>
        <p:spPr>
          <a:xfrm>
            <a:off x="731520" y="2743200"/>
            <a:ext cx="2103120" cy="292608"/>
          </a:xfrm>
          <a:prstGeom prst="rect">
            <a:avLst/>
          </a:prstGeom>
          <a:noFill/>
          <a:ln/>
        </p:spPr>
        <p:txBody>
          <a:bodyPr wrap="square" lIns="0" tIns="0" rIns="0" bIns="0" rtlCol="0" anchor="ctr"/>
          <a:lstStyle/>
          <a:p>
            <a:pPr marL="0" indent="0" algn="ctr">
              <a:buNone/>
            </a:pPr>
            <a:r>
              <a:rPr lang="en-US" sz="1500" b="1" dirty="0">
                <a:solidFill>
                  <a:srgbClr val="4E4A73"/>
                </a:solidFill>
                <a:latin typeface="Aptos Black" panose="020B0004020202020204" pitchFamily="34" charset="0"/>
                <a:ea typeface="Arial" pitchFamily="34" charset="-122"/>
                <a:cs typeface="Arial" pitchFamily="34" charset="-120"/>
              </a:rPr>
              <a:t>Complex Networks Are Everywhere</a:t>
            </a:r>
            <a:endParaRPr lang="en-US" sz="1500" dirty="0">
              <a:latin typeface="Aptos Black" panose="020B0004020202020204" pitchFamily="34" charset="0"/>
            </a:endParaRPr>
          </a:p>
        </p:txBody>
      </p:sp>
      <p:sp>
        <p:nvSpPr>
          <p:cNvPr id="8" name="Text 5"/>
          <p:cNvSpPr/>
          <p:nvPr/>
        </p:nvSpPr>
        <p:spPr>
          <a:xfrm>
            <a:off x="777240" y="3337560"/>
            <a:ext cx="2011680" cy="1005840"/>
          </a:xfrm>
          <a:prstGeom prst="rect">
            <a:avLst/>
          </a:prstGeom>
          <a:noFill/>
          <a:ln/>
        </p:spPr>
        <p:txBody>
          <a:bodyPr wrap="square" lIns="0" tIns="0" rIns="0" bIns="0" rtlCol="0" anchor="t"/>
          <a:lstStyle/>
          <a:p>
            <a:pPr marL="0" indent="0" algn="ctr">
              <a:lnSpc>
                <a:spcPts val="1700"/>
              </a:lnSpc>
              <a:buNone/>
            </a:pPr>
            <a:r>
              <a:rPr lang="en-US" sz="1250" dirty="0">
                <a:solidFill>
                  <a:srgbClr val="2E2B45"/>
                </a:solidFill>
                <a:latin typeface="Bierstadt" panose="020B0004020202020204" pitchFamily="34" charset="0"/>
                <a:ea typeface="Calibri" pitchFamily="34" charset="-122"/>
                <a:cs typeface="Calibri" pitchFamily="34" charset="-120"/>
              </a:rPr>
              <a:t>From power grids to biological systems and social networks.</a:t>
            </a:r>
            <a:endParaRPr lang="en-US" sz="1250" dirty="0">
              <a:latin typeface="Bierstadt" panose="020B0004020202020204" pitchFamily="34" charset="0"/>
            </a:endParaRPr>
          </a:p>
        </p:txBody>
      </p:sp>
      <p:sp>
        <p:nvSpPr>
          <p:cNvPr id="9" name="Shape 6"/>
          <p:cNvSpPr/>
          <p:nvPr/>
        </p:nvSpPr>
        <p:spPr>
          <a:xfrm>
            <a:off x="3291840" y="1554480"/>
            <a:ext cx="2560320" cy="3032388"/>
          </a:xfrm>
          <a:prstGeom prst="roundRect">
            <a:avLst>
              <a:gd name="adj" fmla="val 2500"/>
            </a:avLst>
          </a:prstGeom>
          <a:solidFill>
            <a:srgbClr val="FFFFFF"/>
          </a:solidFill>
          <a:ln w="12700">
            <a:solidFill>
              <a:srgbClr val="D8D6E2"/>
            </a:solidFill>
            <a:prstDash val="solid"/>
          </a:ln>
          <a:effectLst>
            <a:outerShdw blurRad="1129030000" dist="322580000" algn="bl" rotWithShape="0">
              <a:srgbClr val="3A3660">
                <a:alpha val="0"/>
              </a:srgbClr>
            </a:outerShdw>
          </a:effectLst>
        </p:spPr>
        <p:txBody>
          <a:bodyPr/>
          <a:lstStyle/>
          <a:p>
            <a:endParaRPr lang="en-IL"/>
          </a:p>
        </p:txBody>
      </p:sp>
      <p:sp>
        <p:nvSpPr>
          <p:cNvPr id="10" name="Shape 7"/>
          <p:cNvSpPr/>
          <p:nvPr/>
        </p:nvSpPr>
        <p:spPr>
          <a:xfrm>
            <a:off x="4251960" y="1874520"/>
            <a:ext cx="640080" cy="640080"/>
          </a:xfrm>
          <a:prstGeom prst="ellipse">
            <a:avLst/>
          </a:prstGeom>
          <a:solidFill>
            <a:srgbClr val="F1EFF7"/>
          </a:solidFill>
          <a:ln w="12700">
            <a:solidFill>
              <a:srgbClr val="B7B1CD"/>
            </a:solidFill>
            <a:prstDash val="solid"/>
          </a:ln>
        </p:spPr>
        <p:txBody>
          <a:bodyPr/>
          <a:lstStyle/>
          <a:p>
            <a:endParaRPr lang="en-IL"/>
          </a:p>
        </p:txBody>
      </p:sp>
      <p:pic>
        <p:nvPicPr>
          <p:cNvPr id="11" name="Image 1" descr="preencoded.png"/>
          <p:cNvPicPr>
            <a:picLocks noChangeAspect="1"/>
          </p:cNvPicPr>
          <p:nvPr/>
        </p:nvPicPr>
        <p:blipFill>
          <a:blip r:embed="rId4"/>
          <a:stretch>
            <a:fillRect/>
          </a:stretch>
        </p:blipFill>
        <p:spPr>
          <a:xfrm>
            <a:off x="4418381" y="2040941"/>
            <a:ext cx="307238" cy="307238"/>
          </a:xfrm>
          <a:prstGeom prst="rect">
            <a:avLst/>
          </a:prstGeom>
        </p:spPr>
      </p:pic>
      <p:sp>
        <p:nvSpPr>
          <p:cNvPr id="12" name="Text 8"/>
          <p:cNvSpPr/>
          <p:nvPr/>
        </p:nvSpPr>
        <p:spPr>
          <a:xfrm>
            <a:off x="3520440" y="2743200"/>
            <a:ext cx="2103120" cy="292608"/>
          </a:xfrm>
          <a:prstGeom prst="rect">
            <a:avLst/>
          </a:prstGeom>
          <a:noFill/>
          <a:ln/>
        </p:spPr>
        <p:txBody>
          <a:bodyPr wrap="square" lIns="0" tIns="0" rIns="0" bIns="0" rtlCol="0" anchor="ctr"/>
          <a:lstStyle/>
          <a:p>
            <a:pPr marL="0" indent="0" algn="ctr">
              <a:buNone/>
            </a:pPr>
            <a:r>
              <a:rPr lang="en-US" sz="1500" b="1" dirty="0">
                <a:solidFill>
                  <a:srgbClr val="4E4A73"/>
                </a:solidFill>
                <a:latin typeface="Aptos Black" panose="020B0004020202020204" pitchFamily="34" charset="0"/>
                <a:ea typeface="Arial" pitchFamily="34" charset="-122"/>
                <a:cs typeface="Arial" pitchFamily="34" charset="-120"/>
              </a:rPr>
              <a:t>The Reality</a:t>
            </a:r>
            <a:endParaRPr lang="en-US" sz="1500" dirty="0">
              <a:latin typeface="Aptos Black" panose="020B0004020202020204" pitchFamily="34" charset="0"/>
            </a:endParaRPr>
          </a:p>
        </p:txBody>
      </p:sp>
      <p:sp>
        <p:nvSpPr>
          <p:cNvPr id="13" name="Text 9"/>
          <p:cNvSpPr/>
          <p:nvPr/>
        </p:nvSpPr>
        <p:spPr>
          <a:xfrm>
            <a:off x="3566160" y="3337560"/>
            <a:ext cx="2011680" cy="1005840"/>
          </a:xfrm>
          <a:prstGeom prst="rect">
            <a:avLst/>
          </a:prstGeom>
          <a:noFill/>
          <a:ln/>
        </p:spPr>
        <p:txBody>
          <a:bodyPr wrap="square" lIns="0" tIns="0" rIns="0" bIns="0" rtlCol="0" anchor="t"/>
          <a:lstStyle/>
          <a:p>
            <a:pPr marL="0" indent="0" algn="ctr">
              <a:lnSpc>
                <a:spcPts val="1700"/>
              </a:lnSpc>
              <a:buNone/>
            </a:pPr>
            <a:r>
              <a:rPr lang="en-US" sz="1250" dirty="0">
                <a:solidFill>
                  <a:srgbClr val="2E2B45"/>
                </a:solidFill>
                <a:latin typeface="Bierstadt" panose="020B0004020202020204" pitchFamily="34" charset="0"/>
                <a:ea typeface="Calibri" pitchFamily="34" charset="-122"/>
                <a:cs typeface="Calibri" pitchFamily="34" charset="-120"/>
              </a:rPr>
              <a:t>Networks are rarely static.</a:t>
            </a:r>
            <a:endParaRPr lang="en-US" sz="1250" dirty="0">
              <a:latin typeface="Bierstadt" panose="020B0004020202020204" pitchFamily="34" charset="0"/>
            </a:endParaRPr>
          </a:p>
          <a:p>
            <a:pPr marL="0" indent="0" algn="ctr">
              <a:lnSpc>
                <a:spcPts val="1700"/>
              </a:lnSpc>
              <a:buNone/>
            </a:pPr>
            <a:r>
              <a:rPr lang="en-US" sz="1250" dirty="0">
                <a:solidFill>
                  <a:srgbClr val="2E2B45"/>
                </a:solidFill>
                <a:latin typeface="Bierstadt" panose="020B0004020202020204" pitchFamily="34" charset="0"/>
                <a:ea typeface="Calibri" pitchFamily="34" charset="-122"/>
                <a:cs typeface="Calibri" pitchFamily="34" charset="-120"/>
              </a:rPr>
              <a:t>They are constantly exposed to environmental stress and targeted structural failures.</a:t>
            </a:r>
            <a:endParaRPr lang="en-US" sz="1250" dirty="0">
              <a:latin typeface="Bierstadt" panose="020B0004020202020204" pitchFamily="34" charset="0"/>
            </a:endParaRPr>
          </a:p>
        </p:txBody>
      </p:sp>
      <p:sp>
        <p:nvSpPr>
          <p:cNvPr id="14" name="Shape 10"/>
          <p:cNvSpPr/>
          <p:nvPr/>
        </p:nvSpPr>
        <p:spPr>
          <a:xfrm>
            <a:off x="6080760" y="1554480"/>
            <a:ext cx="2560320" cy="3032388"/>
          </a:xfrm>
          <a:prstGeom prst="roundRect">
            <a:avLst>
              <a:gd name="adj" fmla="val 25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15" name="Shape 11"/>
          <p:cNvSpPr/>
          <p:nvPr/>
        </p:nvSpPr>
        <p:spPr>
          <a:xfrm>
            <a:off x="7040880" y="1874520"/>
            <a:ext cx="640080" cy="640080"/>
          </a:xfrm>
          <a:prstGeom prst="ellipse">
            <a:avLst/>
          </a:prstGeom>
          <a:solidFill>
            <a:srgbClr val="F1EFF7"/>
          </a:solidFill>
          <a:ln w="12700">
            <a:solidFill>
              <a:srgbClr val="B7B1CD"/>
            </a:solidFill>
            <a:prstDash val="solid"/>
          </a:ln>
        </p:spPr>
        <p:txBody>
          <a:bodyPr/>
          <a:lstStyle/>
          <a:p>
            <a:endParaRPr lang="en-IL"/>
          </a:p>
        </p:txBody>
      </p:sp>
      <p:pic>
        <p:nvPicPr>
          <p:cNvPr id="16" name="Image 2" descr="preencoded.png"/>
          <p:cNvPicPr>
            <a:picLocks noChangeAspect="1"/>
          </p:cNvPicPr>
          <p:nvPr/>
        </p:nvPicPr>
        <p:blipFill>
          <a:blip r:embed="rId5"/>
          <a:stretch>
            <a:fillRect/>
          </a:stretch>
        </p:blipFill>
        <p:spPr>
          <a:xfrm>
            <a:off x="7207301" y="2040941"/>
            <a:ext cx="307238" cy="307238"/>
          </a:xfrm>
          <a:prstGeom prst="rect">
            <a:avLst/>
          </a:prstGeom>
        </p:spPr>
      </p:pic>
      <p:sp>
        <p:nvSpPr>
          <p:cNvPr id="17" name="Text 12"/>
          <p:cNvSpPr/>
          <p:nvPr/>
        </p:nvSpPr>
        <p:spPr>
          <a:xfrm>
            <a:off x="6309360" y="2743200"/>
            <a:ext cx="2103120" cy="292608"/>
          </a:xfrm>
          <a:prstGeom prst="rect">
            <a:avLst/>
          </a:prstGeom>
          <a:noFill/>
          <a:ln/>
        </p:spPr>
        <p:txBody>
          <a:bodyPr wrap="square" lIns="0" tIns="0" rIns="0" bIns="0" rtlCol="0" anchor="ctr"/>
          <a:lstStyle/>
          <a:p>
            <a:pPr marL="0" indent="0" algn="ctr">
              <a:buNone/>
            </a:pPr>
            <a:r>
              <a:rPr lang="en-US" sz="1500" b="1" dirty="0">
                <a:solidFill>
                  <a:srgbClr val="4E4A73"/>
                </a:solidFill>
                <a:latin typeface="Aptos Black" panose="020B0004020202020204" pitchFamily="34" charset="0"/>
                <a:ea typeface="Arial" pitchFamily="34" charset="-122"/>
                <a:cs typeface="Arial" pitchFamily="34" charset="-120"/>
              </a:rPr>
              <a:t>The Need</a:t>
            </a:r>
            <a:endParaRPr lang="en-US" sz="1500" dirty="0">
              <a:latin typeface="Aptos Black" panose="020B0004020202020204" pitchFamily="34" charset="0"/>
            </a:endParaRPr>
          </a:p>
        </p:txBody>
      </p:sp>
      <p:sp>
        <p:nvSpPr>
          <p:cNvPr id="18" name="Text 13"/>
          <p:cNvSpPr/>
          <p:nvPr/>
        </p:nvSpPr>
        <p:spPr>
          <a:xfrm>
            <a:off x="6355080" y="3337560"/>
            <a:ext cx="2011680" cy="1005840"/>
          </a:xfrm>
          <a:prstGeom prst="rect">
            <a:avLst/>
          </a:prstGeom>
          <a:noFill/>
          <a:ln/>
        </p:spPr>
        <p:txBody>
          <a:bodyPr wrap="square" lIns="0" tIns="0" rIns="0" bIns="0" rtlCol="0" anchor="t"/>
          <a:lstStyle/>
          <a:p>
            <a:pPr marL="0" indent="0" algn="ctr">
              <a:lnSpc>
                <a:spcPts val="1700"/>
              </a:lnSpc>
              <a:buNone/>
            </a:pPr>
            <a:r>
              <a:rPr lang="en-US" sz="1250" dirty="0">
                <a:solidFill>
                  <a:srgbClr val="2E2B45"/>
                </a:solidFill>
                <a:latin typeface="Bierstadt" panose="020B0004020202020204" pitchFamily="34" charset="0"/>
                <a:ea typeface="Calibri" pitchFamily="34" charset="-122"/>
                <a:cs typeface="Calibri" pitchFamily="34" charset="-120"/>
              </a:rPr>
              <a:t>Early detection of vulnerabilities within the network structure is essential to prevent systemic collapse.</a:t>
            </a:r>
            <a:endParaRPr lang="en-US" sz="1250" dirty="0">
              <a:latin typeface="Bierstadt" panose="020B0004020202020204" pitchFamily="34" charset="0"/>
            </a:endParaRPr>
          </a:p>
        </p:txBody>
      </p:sp>
      <p:sp>
        <p:nvSpPr>
          <p:cNvPr id="19" name="Text 6">
            <a:extLst>
              <a:ext uri="{FF2B5EF4-FFF2-40B4-BE49-F238E27FC236}">
                <a16:creationId xmlns:a16="http://schemas.microsoft.com/office/drawing/2014/main" id="{14A7A76C-0733-626C-C406-25AA4A8B5C8D}"/>
              </a:ext>
            </a:extLst>
          </p:cNvPr>
          <p:cNvSpPr/>
          <p:nvPr/>
        </p:nvSpPr>
        <p:spPr>
          <a:xfrm>
            <a:off x="8770144" y="4876800"/>
            <a:ext cx="221456"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13" dirty="0">
                <a:solidFill>
                  <a:srgbClr val="7A75A3"/>
                </a:solidFill>
                <a:latin typeface="Arial" pitchFamily="34" charset="0"/>
                <a:ea typeface="Arial" pitchFamily="34" charset="-122"/>
                <a:cs typeface="Arial" pitchFamily="34" charset="-120"/>
              </a:rPr>
              <a:t>03</a:t>
            </a:r>
            <a:endParaRPr lang="en-US" sz="8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marL="0" indent="0">
              <a:buNone/>
            </a:pPr>
            <a:r>
              <a:rPr lang="en-US" sz="1100" b="1" kern="0" spc="300" dirty="0">
                <a:solidFill>
                  <a:srgbClr val="7A75A3"/>
                </a:solidFill>
                <a:latin typeface="Arial" pitchFamily="34" charset="0"/>
                <a:ea typeface="Arial" pitchFamily="34" charset="-122"/>
                <a:cs typeface="Arial" pitchFamily="34" charset="-120"/>
              </a:rPr>
              <a:t>OVERVIEW</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marL="0" indent="0">
              <a:buNone/>
            </a:pPr>
            <a:r>
              <a:rPr lang="en-US" sz="3000" b="1" dirty="0">
                <a:solidFill>
                  <a:srgbClr val="2E2B45"/>
                </a:solidFill>
                <a:latin typeface="Arial Black" panose="020B0A04020102020204" pitchFamily="34" charset="0"/>
                <a:ea typeface="Arial" pitchFamily="34" charset="-122"/>
                <a:cs typeface="Arial" pitchFamily="34" charset="-120"/>
              </a:rPr>
              <a:t>Problem Statement</a:t>
            </a:r>
            <a:endParaRPr lang="en-US" sz="3000" dirty="0">
              <a:latin typeface="Arial Black" panose="020B0A04020102020204" pitchFamily="34" charset="0"/>
            </a:endParaRPr>
          </a:p>
        </p:txBody>
      </p:sp>
      <p:sp>
        <p:nvSpPr>
          <p:cNvPr id="4" name="Shape 2"/>
          <p:cNvSpPr/>
          <p:nvPr/>
        </p:nvSpPr>
        <p:spPr>
          <a:xfrm>
            <a:off x="502920" y="1417320"/>
            <a:ext cx="2560320" cy="2514600"/>
          </a:xfrm>
          <a:prstGeom prst="roundRect">
            <a:avLst>
              <a:gd name="adj" fmla="val 2545"/>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5" name="Shape 3"/>
          <p:cNvSpPr/>
          <p:nvPr/>
        </p:nvSpPr>
        <p:spPr>
          <a:xfrm>
            <a:off x="731520" y="1645920"/>
            <a:ext cx="502920" cy="502920"/>
          </a:xfrm>
          <a:prstGeom prst="ellipse">
            <a:avLst/>
          </a:prstGeom>
          <a:solidFill>
            <a:srgbClr val="F1EFF7"/>
          </a:solidFill>
          <a:ln w="12700">
            <a:solidFill>
              <a:srgbClr val="B7B1CD"/>
            </a:solidFill>
            <a:prstDash val="solid"/>
          </a:ln>
        </p:spPr>
        <p:txBody>
          <a:bodyPr/>
          <a:lstStyle/>
          <a:p>
            <a:endParaRPr lang="en-IL"/>
          </a:p>
        </p:txBody>
      </p:sp>
      <p:pic>
        <p:nvPicPr>
          <p:cNvPr id="6" name="Image 0" descr="preencoded.png"/>
          <p:cNvPicPr>
            <a:picLocks noChangeAspect="1"/>
          </p:cNvPicPr>
          <p:nvPr/>
        </p:nvPicPr>
        <p:blipFill>
          <a:blip r:embed="rId3"/>
          <a:stretch>
            <a:fillRect/>
          </a:stretch>
        </p:blipFill>
        <p:spPr>
          <a:xfrm>
            <a:off x="862279" y="1776679"/>
            <a:ext cx="241402" cy="241402"/>
          </a:xfrm>
          <a:prstGeom prst="rect">
            <a:avLst/>
          </a:prstGeom>
        </p:spPr>
      </p:pic>
      <p:sp>
        <p:nvSpPr>
          <p:cNvPr id="7" name="Text 4"/>
          <p:cNvSpPr/>
          <p:nvPr/>
        </p:nvSpPr>
        <p:spPr>
          <a:xfrm>
            <a:off x="1371600" y="1755648"/>
            <a:ext cx="1554480" cy="292608"/>
          </a:xfrm>
          <a:prstGeom prst="rect">
            <a:avLst/>
          </a:prstGeom>
          <a:noFill/>
          <a:ln/>
        </p:spPr>
        <p:txBody>
          <a:bodyPr wrap="square" lIns="0" tIns="0" rIns="0" bIns="0" rtlCol="0" anchor="ctr"/>
          <a:lstStyle/>
          <a:p>
            <a:pPr marL="0" indent="0" algn="l">
              <a:buNone/>
            </a:pPr>
            <a:r>
              <a:rPr lang="en-US" sz="1500" b="1" dirty="0">
                <a:solidFill>
                  <a:srgbClr val="4E4A73"/>
                </a:solidFill>
                <a:latin typeface="Aptos Black" panose="020B0004020202020204" pitchFamily="34" charset="0"/>
                <a:ea typeface="Arial" pitchFamily="34" charset="-122"/>
                <a:cs typeface="Arial" pitchFamily="34" charset="-120"/>
              </a:rPr>
              <a:t>The Challenge</a:t>
            </a:r>
            <a:endParaRPr lang="en-US" sz="1500" dirty="0">
              <a:latin typeface="Aptos Black" panose="020B0004020202020204" pitchFamily="34" charset="0"/>
            </a:endParaRPr>
          </a:p>
        </p:txBody>
      </p:sp>
      <p:sp>
        <p:nvSpPr>
          <p:cNvPr id="8" name="Text 5"/>
          <p:cNvSpPr/>
          <p:nvPr/>
        </p:nvSpPr>
        <p:spPr>
          <a:xfrm>
            <a:off x="777240" y="2377440"/>
            <a:ext cx="2011680" cy="1371600"/>
          </a:xfrm>
          <a:prstGeom prst="rect">
            <a:avLst/>
          </a:prstGeom>
          <a:noFill/>
          <a:ln/>
        </p:spPr>
        <p:txBody>
          <a:bodyPr wrap="square" lIns="0" tIns="0" rIns="0" bIns="0" rtlCol="0" anchor="t"/>
          <a:lstStyle/>
          <a:p>
            <a:pPr marL="0" indent="0" algn="l">
              <a:lnSpc>
                <a:spcPts val="1700"/>
              </a:lnSpc>
              <a:buNone/>
            </a:pPr>
            <a:r>
              <a:rPr lang="en-US" sz="1250" dirty="0">
                <a:solidFill>
                  <a:srgbClr val="2E2B45"/>
                </a:solidFill>
                <a:latin typeface="Bierstadt" panose="020B0004020202020204" pitchFamily="34" charset="0"/>
                <a:ea typeface="Calibri" pitchFamily="34" charset="-122"/>
                <a:cs typeface="Calibri" pitchFamily="34" charset="-120"/>
              </a:rPr>
              <a:t>Classical metrics treat networks as static, rigid structures, ignoring the probability of multiple structural states.</a:t>
            </a:r>
            <a:endParaRPr lang="en-US" sz="1250" dirty="0">
              <a:latin typeface="Bierstadt" panose="020B0004020202020204" pitchFamily="34" charset="0"/>
            </a:endParaRPr>
          </a:p>
        </p:txBody>
      </p:sp>
      <p:sp>
        <p:nvSpPr>
          <p:cNvPr id="9" name="Shape 6"/>
          <p:cNvSpPr/>
          <p:nvPr/>
        </p:nvSpPr>
        <p:spPr>
          <a:xfrm>
            <a:off x="3291840" y="1417320"/>
            <a:ext cx="2560320" cy="2514600"/>
          </a:xfrm>
          <a:prstGeom prst="roundRect">
            <a:avLst>
              <a:gd name="adj" fmla="val 2545"/>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10" name="Shape 7"/>
          <p:cNvSpPr/>
          <p:nvPr/>
        </p:nvSpPr>
        <p:spPr>
          <a:xfrm>
            <a:off x="3520440" y="1645920"/>
            <a:ext cx="502920" cy="502920"/>
          </a:xfrm>
          <a:prstGeom prst="ellipse">
            <a:avLst/>
          </a:prstGeom>
          <a:solidFill>
            <a:srgbClr val="F1EFF7"/>
          </a:solidFill>
          <a:ln w="12700">
            <a:solidFill>
              <a:srgbClr val="B7B1CD"/>
            </a:solidFill>
            <a:prstDash val="solid"/>
          </a:ln>
        </p:spPr>
        <p:txBody>
          <a:bodyPr/>
          <a:lstStyle/>
          <a:p>
            <a:endParaRPr lang="en-IL"/>
          </a:p>
        </p:txBody>
      </p:sp>
      <p:pic>
        <p:nvPicPr>
          <p:cNvPr id="11" name="Image 1" descr="preencoded.png"/>
          <p:cNvPicPr>
            <a:picLocks noChangeAspect="1"/>
          </p:cNvPicPr>
          <p:nvPr/>
        </p:nvPicPr>
        <p:blipFill>
          <a:blip r:embed="rId4"/>
          <a:stretch>
            <a:fillRect/>
          </a:stretch>
        </p:blipFill>
        <p:spPr>
          <a:xfrm>
            <a:off x="3651199" y="1776679"/>
            <a:ext cx="241402" cy="241402"/>
          </a:xfrm>
          <a:prstGeom prst="rect">
            <a:avLst/>
          </a:prstGeom>
        </p:spPr>
      </p:pic>
      <p:sp>
        <p:nvSpPr>
          <p:cNvPr id="12" name="Text 8"/>
          <p:cNvSpPr/>
          <p:nvPr/>
        </p:nvSpPr>
        <p:spPr>
          <a:xfrm>
            <a:off x="4160520" y="1755648"/>
            <a:ext cx="1554480" cy="292608"/>
          </a:xfrm>
          <a:prstGeom prst="rect">
            <a:avLst/>
          </a:prstGeom>
          <a:noFill/>
          <a:ln/>
        </p:spPr>
        <p:txBody>
          <a:bodyPr wrap="square" lIns="0" tIns="0" rIns="0" bIns="0" rtlCol="0" anchor="ctr"/>
          <a:lstStyle/>
          <a:p>
            <a:pPr marL="0" indent="0" algn="l">
              <a:buNone/>
            </a:pPr>
            <a:r>
              <a:rPr lang="en-US" sz="1500" b="1" dirty="0">
                <a:solidFill>
                  <a:srgbClr val="4E4A73"/>
                </a:solidFill>
                <a:latin typeface="Aptos Black" panose="020B0004020202020204" pitchFamily="34" charset="0"/>
                <a:ea typeface="Arial" pitchFamily="34" charset="-122"/>
                <a:cs typeface="Arial" pitchFamily="34" charset="-120"/>
              </a:rPr>
              <a:t>The Gap</a:t>
            </a:r>
            <a:endParaRPr lang="en-US" sz="1500" dirty="0">
              <a:latin typeface="Aptos Black" panose="020B0004020202020204" pitchFamily="34" charset="0"/>
            </a:endParaRPr>
          </a:p>
        </p:txBody>
      </p:sp>
      <p:sp>
        <p:nvSpPr>
          <p:cNvPr id="13" name="Text 9"/>
          <p:cNvSpPr/>
          <p:nvPr/>
        </p:nvSpPr>
        <p:spPr>
          <a:xfrm>
            <a:off x="3566160" y="2377440"/>
            <a:ext cx="2011680" cy="1371600"/>
          </a:xfrm>
          <a:prstGeom prst="rect">
            <a:avLst/>
          </a:prstGeom>
          <a:noFill/>
          <a:ln/>
        </p:spPr>
        <p:txBody>
          <a:bodyPr wrap="square" lIns="0" tIns="0" rIns="0" bIns="0" rtlCol="0" anchor="t"/>
          <a:lstStyle/>
          <a:p>
            <a:pPr marL="0" indent="0" algn="l">
              <a:lnSpc>
                <a:spcPts val="1700"/>
              </a:lnSpc>
              <a:buNone/>
            </a:pPr>
            <a:r>
              <a:rPr lang="en-US" sz="1250" dirty="0">
                <a:solidFill>
                  <a:srgbClr val="2E2B45"/>
                </a:solidFill>
                <a:latin typeface="Bierstadt" panose="020B0004020202020204" pitchFamily="34" charset="0"/>
                <a:ea typeface="Calibri" pitchFamily="34" charset="-122"/>
                <a:cs typeface="Calibri" pitchFamily="34" charset="-120"/>
              </a:rPr>
              <a:t>Standard Graph Neural Networks (GNNs) force non-Euclidean graphs into flat Euclidean spaces, causing massive geometric distortion.</a:t>
            </a:r>
            <a:endParaRPr lang="en-US" sz="1250" dirty="0">
              <a:latin typeface="Bierstadt" panose="020B0004020202020204" pitchFamily="34" charset="0"/>
            </a:endParaRPr>
          </a:p>
        </p:txBody>
      </p:sp>
      <p:sp>
        <p:nvSpPr>
          <p:cNvPr id="14" name="Shape 10"/>
          <p:cNvSpPr/>
          <p:nvPr/>
        </p:nvSpPr>
        <p:spPr>
          <a:xfrm>
            <a:off x="6080760" y="1417320"/>
            <a:ext cx="2560320" cy="2514600"/>
          </a:xfrm>
          <a:prstGeom prst="roundRect">
            <a:avLst>
              <a:gd name="adj" fmla="val 2545"/>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15" name="Shape 11"/>
          <p:cNvSpPr/>
          <p:nvPr/>
        </p:nvSpPr>
        <p:spPr>
          <a:xfrm>
            <a:off x="6309360" y="1645920"/>
            <a:ext cx="502920" cy="502920"/>
          </a:xfrm>
          <a:prstGeom prst="ellipse">
            <a:avLst/>
          </a:prstGeom>
          <a:solidFill>
            <a:srgbClr val="F1EFF7"/>
          </a:solidFill>
          <a:ln w="12700">
            <a:solidFill>
              <a:srgbClr val="B7B1CD"/>
            </a:solidFill>
            <a:prstDash val="solid"/>
          </a:ln>
        </p:spPr>
        <p:txBody>
          <a:bodyPr/>
          <a:lstStyle/>
          <a:p>
            <a:endParaRPr lang="en-IL"/>
          </a:p>
        </p:txBody>
      </p:sp>
      <p:pic>
        <p:nvPicPr>
          <p:cNvPr id="16" name="Image 2" descr="preencoded.png"/>
          <p:cNvPicPr>
            <a:picLocks noChangeAspect="1"/>
          </p:cNvPicPr>
          <p:nvPr/>
        </p:nvPicPr>
        <p:blipFill>
          <a:blip r:embed="rId5"/>
          <a:stretch>
            <a:fillRect/>
          </a:stretch>
        </p:blipFill>
        <p:spPr>
          <a:xfrm>
            <a:off x="6440119" y="1776679"/>
            <a:ext cx="241402" cy="241402"/>
          </a:xfrm>
          <a:prstGeom prst="rect">
            <a:avLst/>
          </a:prstGeom>
        </p:spPr>
      </p:pic>
      <p:sp>
        <p:nvSpPr>
          <p:cNvPr id="17" name="Text 12"/>
          <p:cNvSpPr/>
          <p:nvPr/>
        </p:nvSpPr>
        <p:spPr>
          <a:xfrm>
            <a:off x="6949440" y="1755648"/>
            <a:ext cx="1554480" cy="292608"/>
          </a:xfrm>
          <a:prstGeom prst="rect">
            <a:avLst/>
          </a:prstGeom>
          <a:noFill/>
          <a:ln/>
        </p:spPr>
        <p:txBody>
          <a:bodyPr wrap="square" lIns="0" tIns="0" rIns="0" bIns="0" rtlCol="0" anchor="ctr"/>
          <a:lstStyle/>
          <a:p>
            <a:pPr marL="0" indent="0" algn="l">
              <a:buNone/>
            </a:pPr>
            <a:r>
              <a:rPr lang="en-US" sz="1500" b="1" dirty="0">
                <a:solidFill>
                  <a:srgbClr val="4E4A73"/>
                </a:solidFill>
                <a:latin typeface="Aptos Black" panose="020B0004020202020204" pitchFamily="34" charset="0"/>
                <a:ea typeface="Arial" pitchFamily="34" charset="-122"/>
                <a:cs typeface="Arial" pitchFamily="34" charset="-120"/>
              </a:rPr>
              <a:t>The Flaw</a:t>
            </a:r>
            <a:endParaRPr lang="en-US" sz="1500" dirty="0">
              <a:latin typeface="Aptos Black" panose="020B0004020202020204" pitchFamily="34" charset="0"/>
            </a:endParaRPr>
          </a:p>
        </p:txBody>
      </p:sp>
      <p:sp>
        <p:nvSpPr>
          <p:cNvPr id="18" name="Text 13"/>
          <p:cNvSpPr/>
          <p:nvPr/>
        </p:nvSpPr>
        <p:spPr>
          <a:xfrm>
            <a:off x="6355080" y="2377440"/>
            <a:ext cx="2011680" cy="1371600"/>
          </a:xfrm>
          <a:prstGeom prst="rect">
            <a:avLst/>
          </a:prstGeom>
          <a:noFill/>
          <a:ln/>
        </p:spPr>
        <p:txBody>
          <a:bodyPr wrap="square" lIns="0" tIns="0" rIns="0" bIns="0" rtlCol="0" anchor="t"/>
          <a:lstStyle/>
          <a:p>
            <a:pPr marL="0" indent="0" algn="l">
              <a:lnSpc>
                <a:spcPts val="1700"/>
              </a:lnSpc>
              <a:buNone/>
            </a:pPr>
            <a:r>
              <a:rPr lang="en-US" sz="1250" dirty="0">
                <a:solidFill>
                  <a:srgbClr val="2E2B45"/>
                </a:solidFill>
                <a:latin typeface="Bierstadt" panose="020B0004020202020204" pitchFamily="34" charset="0"/>
                <a:ea typeface="Calibri" pitchFamily="34" charset="-122"/>
                <a:cs typeface="Calibri" pitchFamily="34" charset="-120"/>
              </a:rPr>
              <a:t>Standard diffusion models inject isotropic Gaussian noise, which destroys delicate topological information.</a:t>
            </a:r>
            <a:endParaRPr lang="en-US" sz="1250" dirty="0">
              <a:latin typeface="Bierstadt" panose="020B0004020202020204" pitchFamily="34" charset="0"/>
            </a:endParaRPr>
          </a:p>
        </p:txBody>
      </p:sp>
      <p:sp>
        <p:nvSpPr>
          <p:cNvPr id="19" name="Shape 14"/>
          <p:cNvSpPr/>
          <p:nvPr/>
        </p:nvSpPr>
        <p:spPr>
          <a:xfrm>
            <a:off x="502920" y="4160520"/>
            <a:ext cx="8138160" cy="685800"/>
          </a:xfrm>
          <a:prstGeom prst="roundRect">
            <a:avLst>
              <a:gd name="adj" fmla="val 9333"/>
            </a:avLst>
          </a:prstGeom>
          <a:solidFill>
            <a:srgbClr val="7A75A3"/>
          </a:solidFill>
          <a:ln w="12700">
            <a:solidFill>
              <a:srgbClr val="7A75A3"/>
            </a:solidFill>
            <a:prstDash val="solid"/>
          </a:ln>
          <a:effectLst>
            <a:outerShdw algn="bl" rotWithShape="0">
              <a:srgbClr val="3A3660">
                <a:alpha val="0"/>
              </a:srgbClr>
            </a:outerShdw>
          </a:effectLst>
        </p:spPr>
        <p:txBody>
          <a:bodyPr/>
          <a:lstStyle/>
          <a:p>
            <a:endParaRPr lang="en-IL"/>
          </a:p>
        </p:txBody>
      </p:sp>
      <p:sp>
        <p:nvSpPr>
          <p:cNvPr id="20" name="Shape 15"/>
          <p:cNvSpPr/>
          <p:nvPr/>
        </p:nvSpPr>
        <p:spPr>
          <a:xfrm>
            <a:off x="685800" y="4288536"/>
            <a:ext cx="438912" cy="438912"/>
          </a:xfrm>
          <a:prstGeom prst="ellipse">
            <a:avLst/>
          </a:prstGeom>
          <a:solidFill>
            <a:srgbClr val="F1EFF7"/>
          </a:solidFill>
          <a:ln w="12700">
            <a:solidFill>
              <a:srgbClr val="B7B1CD"/>
            </a:solidFill>
            <a:prstDash val="solid"/>
          </a:ln>
        </p:spPr>
        <p:txBody>
          <a:bodyPr/>
          <a:lstStyle/>
          <a:p>
            <a:endParaRPr lang="en-IL"/>
          </a:p>
        </p:txBody>
      </p:sp>
      <p:pic>
        <p:nvPicPr>
          <p:cNvPr id="21" name="Image 3" descr="preencoded.png"/>
          <p:cNvPicPr>
            <a:picLocks noChangeAspect="1"/>
          </p:cNvPicPr>
          <p:nvPr/>
        </p:nvPicPr>
        <p:blipFill>
          <a:blip r:embed="rId6"/>
          <a:stretch>
            <a:fillRect/>
          </a:stretch>
        </p:blipFill>
        <p:spPr>
          <a:xfrm>
            <a:off x="799917" y="4402653"/>
            <a:ext cx="210678" cy="210678"/>
          </a:xfrm>
          <a:prstGeom prst="rect">
            <a:avLst/>
          </a:prstGeom>
        </p:spPr>
      </p:pic>
      <p:sp>
        <p:nvSpPr>
          <p:cNvPr id="22" name="Text 16"/>
          <p:cNvSpPr/>
          <p:nvPr/>
        </p:nvSpPr>
        <p:spPr>
          <a:xfrm>
            <a:off x="1325880" y="4160520"/>
            <a:ext cx="7132320" cy="685800"/>
          </a:xfrm>
          <a:prstGeom prst="rect">
            <a:avLst/>
          </a:prstGeom>
          <a:noFill/>
          <a:ln/>
        </p:spPr>
        <p:txBody>
          <a:bodyPr wrap="square" lIns="0" tIns="0" rIns="0" bIns="0" rtlCol="0" anchor="ctr"/>
          <a:lstStyle/>
          <a:p>
            <a:pPr marL="0" indent="0">
              <a:buNone/>
            </a:pPr>
            <a:r>
              <a:rPr lang="en-US" sz="1500" b="1" dirty="0">
                <a:solidFill>
                  <a:srgbClr val="FFFFFF"/>
                </a:solidFill>
                <a:latin typeface="Bierstadt" panose="020B0004020202020204" pitchFamily="34" charset="0"/>
                <a:ea typeface="Calibri" pitchFamily="34" charset="-122"/>
                <a:cs typeface="Calibri" pitchFamily="34" charset="-120"/>
              </a:rPr>
              <a:t>The Result   </a:t>
            </a:r>
            <a:r>
              <a:rPr lang="en-US" sz="1500" dirty="0">
                <a:solidFill>
                  <a:srgbClr val="FFFFFF"/>
                </a:solidFill>
                <a:latin typeface="Bierstadt" panose="020B0004020202020204" pitchFamily="34" charset="0"/>
                <a:ea typeface="Calibri" pitchFamily="34" charset="-122"/>
                <a:cs typeface="Calibri" pitchFamily="34" charset="-120"/>
              </a:rPr>
              <a:t>Unreliable assessment of true system resilience.</a:t>
            </a:r>
            <a:endParaRPr lang="en-US" sz="1500" dirty="0">
              <a:latin typeface="Bierstadt" panose="020B0004020202020204" pitchFamily="34" charset="0"/>
            </a:endParaRPr>
          </a:p>
        </p:txBody>
      </p:sp>
      <p:sp>
        <p:nvSpPr>
          <p:cNvPr id="23" name="Text 6">
            <a:extLst>
              <a:ext uri="{FF2B5EF4-FFF2-40B4-BE49-F238E27FC236}">
                <a16:creationId xmlns:a16="http://schemas.microsoft.com/office/drawing/2014/main" id="{01A93283-58EF-4AC4-F98A-3D6D3256FF58}"/>
              </a:ext>
            </a:extLst>
          </p:cNvPr>
          <p:cNvSpPr/>
          <p:nvPr/>
        </p:nvSpPr>
        <p:spPr>
          <a:xfrm>
            <a:off x="8770144" y="4876800"/>
            <a:ext cx="221456"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13" dirty="0">
                <a:solidFill>
                  <a:srgbClr val="7A75A3"/>
                </a:solidFill>
                <a:latin typeface="Arial" pitchFamily="34" charset="0"/>
                <a:ea typeface="Arial" pitchFamily="34" charset="-122"/>
                <a:cs typeface="Arial" pitchFamily="34" charset="-120"/>
              </a:rPr>
              <a:t>04</a:t>
            </a:r>
            <a:endParaRPr lang="en-US" sz="8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marL="0" indent="0">
              <a:buNone/>
            </a:pPr>
            <a:r>
              <a:rPr lang="en-US" sz="1100" b="1" kern="0" spc="300" dirty="0">
                <a:solidFill>
                  <a:srgbClr val="7A75A3"/>
                </a:solidFill>
                <a:latin typeface="Arial" pitchFamily="34" charset="0"/>
                <a:ea typeface="Arial" pitchFamily="34" charset="-122"/>
                <a:cs typeface="Arial" pitchFamily="34" charset="-120"/>
              </a:rPr>
              <a:t>FOUNDATIONS</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marL="0" indent="0">
              <a:buNone/>
            </a:pPr>
            <a:r>
              <a:rPr lang="en-US" sz="3000" b="1" dirty="0">
                <a:solidFill>
                  <a:srgbClr val="2E2B45"/>
                </a:solidFill>
                <a:latin typeface="Arial Black" panose="020B0A04020102020204" pitchFamily="34" charset="0"/>
                <a:ea typeface="Arial" pitchFamily="34" charset="-122"/>
                <a:cs typeface="Arial" pitchFamily="34" charset="-120"/>
              </a:rPr>
              <a:t>Mathematical Background</a:t>
            </a:r>
            <a:endParaRPr lang="en-US" sz="3000" dirty="0">
              <a:latin typeface="Arial Black" panose="020B0A04020102020204" pitchFamily="34" charset="0"/>
            </a:endParaRPr>
          </a:p>
        </p:txBody>
      </p:sp>
      <p:sp>
        <p:nvSpPr>
          <p:cNvPr id="4" name="Shape 2"/>
          <p:cNvSpPr/>
          <p:nvPr/>
        </p:nvSpPr>
        <p:spPr>
          <a:xfrm>
            <a:off x="502920" y="1325880"/>
            <a:ext cx="2560320" cy="3520440"/>
          </a:xfrm>
          <a:prstGeom prst="roundRect">
            <a:avLst>
              <a:gd name="adj" fmla="val 25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pic>
        <p:nvPicPr>
          <p:cNvPr id="5" name="Image 0" descr="assets/poincare.png"/>
          <p:cNvPicPr>
            <a:picLocks noChangeAspect="1"/>
          </p:cNvPicPr>
          <p:nvPr/>
        </p:nvPicPr>
        <p:blipFill>
          <a:blip r:embed="rId3"/>
          <a:stretch>
            <a:fillRect/>
          </a:stretch>
        </p:blipFill>
        <p:spPr>
          <a:xfrm>
            <a:off x="1211580" y="1508760"/>
            <a:ext cx="1143000" cy="1143000"/>
          </a:xfrm>
          <a:prstGeom prst="rect">
            <a:avLst/>
          </a:prstGeom>
        </p:spPr>
      </p:pic>
      <p:sp>
        <p:nvSpPr>
          <p:cNvPr id="6" name="Text 3"/>
          <p:cNvSpPr/>
          <p:nvPr/>
        </p:nvSpPr>
        <p:spPr>
          <a:xfrm>
            <a:off x="731520" y="2788920"/>
            <a:ext cx="2103120" cy="292608"/>
          </a:xfrm>
          <a:prstGeom prst="rect">
            <a:avLst/>
          </a:prstGeom>
          <a:noFill/>
          <a:ln/>
        </p:spPr>
        <p:txBody>
          <a:bodyPr wrap="square" lIns="0" tIns="0" rIns="0" bIns="0" rtlCol="0" anchor="ctr"/>
          <a:lstStyle/>
          <a:p>
            <a:pPr marL="0" indent="0" algn="ctr">
              <a:buNone/>
            </a:pPr>
            <a:r>
              <a:rPr lang="en-US" sz="1400" b="1" dirty="0">
                <a:solidFill>
                  <a:srgbClr val="4E4A73"/>
                </a:solidFill>
                <a:latin typeface="Aptos Black" panose="020B0004020202020204" pitchFamily="34" charset="0"/>
                <a:ea typeface="Arial" pitchFamily="34" charset="-122"/>
                <a:cs typeface="Arial" pitchFamily="34" charset="-120"/>
              </a:rPr>
              <a:t>Hyperbolic Geometry</a:t>
            </a:r>
            <a:endParaRPr lang="en-US" sz="1400" dirty="0">
              <a:latin typeface="Aptos Black" panose="020B0004020202020204" pitchFamily="34" charset="0"/>
            </a:endParaRPr>
          </a:p>
        </p:txBody>
      </p:sp>
      <p:sp>
        <p:nvSpPr>
          <p:cNvPr id="7" name="Text 4"/>
          <p:cNvSpPr/>
          <p:nvPr/>
        </p:nvSpPr>
        <p:spPr>
          <a:xfrm>
            <a:off x="758952" y="3332988"/>
            <a:ext cx="2103120" cy="1463040"/>
          </a:xfrm>
          <a:prstGeom prst="rect">
            <a:avLst/>
          </a:prstGeom>
          <a:noFill/>
          <a:ln/>
        </p:spPr>
        <p:txBody>
          <a:bodyPr wrap="square" lIns="0" tIns="0" rIns="0" bIns="0" rtlCol="0" anchor="t"/>
          <a:lstStyle/>
          <a:p>
            <a:pPr>
              <a:lnSpc>
                <a:spcPts val="1600"/>
              </a:lnSpc>
            </a:pPr>
            <a:r>
              <a:rPr lang="en-IL" sz="1100" dirty="0">
                <a:latin typeface="Bierstadt" panose="020B0004020202020204" pitchFamily="34" charset="0"/>
              </a:rPr>
              <a:t>Non-Euclidean space with</a:t>
            </a:r>
            <a:r>
              <a:rPr lang="en-US" sz="1100" dirty="0">
                <a:latin typeface="Bierstadt" panose="020B0004020202020204" pitchFamily="34" charset="0"/>
              </a:rPr>
              <a:t> </a:t>
            </a:r>
            <a:r>
              <a:rPr lang="en-US" sz="1100" dirty="0">
                <a:solidFill>
                  <a:srgbClr val="2E2B45"/>
                </a:solidFill>
                <a:latin typeface="Bierstadt" panose="020B0004020202020204" pitchFamily="34" charset="0"/>
                <a:ea typeface="Calibri" pitchFamily="34" charset="-122"/>
                <a:cs typeface="Calibri" pitchFamily="34" charset="-120"/>
              </a:rPr>
              <a:t>constant negative curvature naturally models continuous hierarchical structures without distortion.</a:t>
            </a:r>
          </a:p>
          <a:p>
            <a:pPr>
              <a:lnSpc>
                <a:spcPts val="1600"/>
              </a:lnSpc>
            </a:pPr>
            <a:endParaRPr lang="en-US" sz="1100" dirty="0"/>
          </a:p>
        </p:txBody>
      </p:sp>
      <p:sp>
        <p:nvSpPr>
          <p:cNvPr id="8" name="Shape 5"/>
          <p:cNvSpPr/>
          <p:nvPr/>
        </p:nvSpPr>
        <p:spPr>
          <a:xfrm>
            <a:off x="3291840" y="1325880"/>
            <a:ext cx="2560320" cy="3520440"/>
          </a:xfrm>
          <a:prstGeom prst="roundRect">
            <a:avLst>
              <a:gd name="adj" fmla="val 25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10" name="Text 6"/>
          <p:cNvSpPr/>
          <p:nvPr/>
        </p:nvSpPr>
        <p:spPr>
          <a:xfrm>
            <a:off x="3520440" y="2788920"/>
            <a:ext cx="2103120" cy="292608"/>
          </a:xfrm>
          <a:prstGeom prst="rect">
            <a:avLst/>
          </a:prstGeom>
          <a:noFill/>
          <a:ln/>
        </p:spPr>
        <p:txBody>
          <a:bodyPr wrap="square" lIns="0" tIns="0" rIns="0" bIns="0" rtlCol="0" anchor="ctr"/>
          <a:lstStyle/>
          <a:p>
            <a:pPr marL="0" indent="0" algn="ctr">
              <a:buNone/>
            </a:pPr>
            <a:r>
              <a:rPr lang="en-US" sz="1350" b="1" dirty="0">
                <a:solidFill>
                  <a:srgbClr val="4E4A73"/>
                </a:solidFill>
                <a:latin typeface="Aptos Black" panose="020B0004020202020204" pitchFamily="34" charset="0"/>
                <a:ea typeface="Arial" pitchFamily="34" charset="-122"/>
                <a:cs typeface="Arial" pitchFamily="34" charset="-120"/>
              </a:rPr>
              <a:t>Exponential &amp; Logarithmic Maps</a:t>
            </a:r>
            <a:endParaRPr lang="en-US" sz="1350" dirty="0">
              <a:latin typeface="Aptos Black" panose="020B0004020202020204" pitchFamily="34" charset="0"/>
            </a:endParaRPr>
          </a:p>
        </p:txBody>
      </p:sp>
      <p:sp>
        <p:nvSpPr>
          <p:cNvPr id="11" name="Text 7"/>
          <p:cNvSpPr/>
          <p:nvPr/>
        </p:nvSpPr>
        <p:spPr>
          <a:xfrm>
            <a:off x="3433572" y="3332988"/>
            <a:ext cx="2276856" cy="1554480"/>
          </a:xfrm>
          <a:prstGeom prst="rect">
            <a:avLst/>
          </a:prstGeom>
          <a:noFill/>
          <a:ln/>
        </p:spPr>
        <p:txBody>
          <a:bodyPr wrap="square" lIns="0" tIns="0" rIns="0" bIns="0" rtlCol="0" anchor="t"/>
          <a:lstStyle/>
          <a:p>
            <a:pPr algn="l">
              <a:lnSpc>
                <a:spcPts val="1400"/>
              </a:lnSpc>
            </a:pPr>
            <a:r>
              <a:rPr lang="en-US" sz="1100" b="1" dirty="0">
                <a:solidFill>
                  <a:srgbClr val="2E2B45"/>
                </a:solidFill>
                <a:latin typeface="Bierstadt" panose="020B0004020202020204" pitchFamily="34" charset="0"/>
                <a:ea typeface="Calibri" pitchFamily="34" charset="-122"/>
                <a:cs typeface="Calibri" pitchFamily="34" charset="-120"/>
              </a:rPr>
              <a:t>Log map:</a:t>
            </a:r>
            <a:r>
              <a:rPr lang="en-US" sz="1100" dirty="0">
                <a:solidFill>
                  <a:srgbClr val="2E2B45"/>
                </a:solidFill>
                <a:latin typeface="Bierstadt" panose="020B0004020202020204" pitchFamily="34" charset="0"/>
                <a:ea typeface="Calibri" pitchFamily="34" charset="-122"/>
                <a:cs typeface="Calibri" pitchFamily="34" charset="-120"/>
              </a:rPr>
              <a:t> projects a point from the manifold onto the tangent space.</a:t>
            </a:r>
            <a:endParaRPr lang="en-US" sz="1100" dirty="0">
              <a:latin typeface="Bierstadt" panose="020B0004020202020204" pitchFamily="34" charset="0"/>
            </a:endParaRPr>
          </a:p>
          <a:p>
            <a:r>
              <a:rPr lang="en-US" sz="1100" b="1" dirty="0">
                <a:solidFill>
                  <a:srgbClr val="2E2B45"/>
                </a:solidFill>
                <a:latin typeface="Bierstadt" panose="020B0004020202020204" pitchFamily="34" charset="0"/>
                <a:ea typeface="Calibri" pitchFamily="34" charset="-122"/>
                <a:cs typeface="Calibri" pitchFamily="34" charset="-120"/>
              </a:rPr>
              <a:t>Exp map: </a:t>
            </a:r>
            <a:r>
              <a:rPr lang="en-US" sz="1100" dirty="0">
                <a:solidFill>
                  <a:srgbClr val="2E2B45"/>
                </a:solidFill>
                <a:latin typeface="Bierstadt" panose="020B0004020202020204" pitchFamily="34" charset="0"/>
                <a:ea typeface="Calibri" pitchFamily="34" charset="-122"/>
                <a:cs typeface="Calibri" pitchFamily="34" charset="-120"/>
              </a:rPr>
              <a:t>projects a tangent vector back onto the manifold.</a:t>
            </a:r>
            <a:endParaRPr lang="en-US" sz="1100" dirty="0">
              <a:latin typeface="Bierstadt" panose="020B0004020202020204" pitchFamily="34" charset="0"/>
            </a:endParaRPr>
          </a:p>
          <a:p>
            <a:pPr>
              <a:lnSpc>
                <a:spcPts val="1400"/>
              </a:lnSpc>
            </a:pPr>
            <a:br>
              <a:rPr lang="en-US" sz="1100" dirty="0"/>
            </a:br>
            <a:r>
              <a:rPr lang="en-IL" sz="1100" b="1" dirty="0">
                <a:latin typeface="Bierstadt" panose="020B0004020202020204" pitchFamily="34" charset="0"/>
              </a:rPr>
              <a:t>Enable Euclidean computation while preserving hyperbolic structure.</a:t>
            </a:r>
            <a:endParaRPr lang="en-US" sz="1100" b="1" dirty="0">
              <a:latin typeface="Bierstadt" panose="020B0004020202020204" pitchFamily="34" charset="0"/>
            </a:endParaRPr>
          </a:p>
        </p:txBody>
      </p:sp>
      <p:sp>
        <p:nvSpPr>
          <p:cNvPr id="12" name="Shape 8"/>
          <p:cNvSpPr/>
          <p:nvPr/>
        </p:nvSpPr>
        <p:spPr>
          <a:xfrm>
            <a:off x="6080760" y="1325880"/>
            <a:ext cx="2560320" cy="3520440"/>
          </a:xfrm>
          <a:prstGeom prst="roundRect">
            <a:avLst>
              <a:gd name="adj" fmla="val 25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pic>
        <p:nvPicPr>
          <p:cNvPr id="13" name="Image 2" descr="assets/pso.png"/>
          <p:cNvPicPr>
            <a:picLocks noChangeAspect="1"/>
          </p:cNvPicPr>
          <p:nvPr/>
        </p:nvPicPr>
        <p:blipFill>
          <a:blip r:embed="rId4"/>
          <a:stretch>
            <a:fillRect/>
          </a:stretch>
        </p:blipFill>
        <p:spPr>
          <a:xfrm>
            <a:off x="6775704" y="1490472"/>
            <a:ext cx="1170432" cy="1170432"/>
          </a:xfrm>
          <a:prstGeom prst="rect">
            <a:avLst/>
          </a:prstGeom>
        </p:spPr>
      </p:pic>
      <p:sp>
        <p:nvSpPr>
          <p:cNvPr id="14" name="Text 9"/>
          <p:cNvSpPr/>
          <p:nvPr/>
        </p:nvSpPr>
        <p:spPr>
          <a:xfrm>
            <a:off x="6309360" y="2782751"/>
            <a:ext cx="2103120" cy="292608"/>
          </a:xfrm>
          <a:prstGeom prst="rect">
            <a:avLst/>
          </a:prstGeom>
          <a:noFill/>
          <a:ln/>
        </p:spPr>
        <p:txBody>
          <a:bodyPr wrap="square" lIns="0" tIns="0" rIns="0" bIns="0" rtlCol="0" anchor="ctr"/>
          <a:lstStyle/>
          <a:p>
            <a:pPr marL="0" indent="0" algn="ctr">
              <a:buNone/>
            </a:pPr>
            <a:r>
              <a:rPr lang="en-US" sz="1350" b="1" dirty="0">
                <a:solidFill>
                  <a:srgbClr val="4E4A73"/>
                </a:solidFill>
                <a:latin typeface="Aptos Black" panose="020B0004020202020204" pitchFamily="34" charset="0"/>
                <a:ea typeface="Arial" pitchFamily="34" charset="-122"/>
                <a:cs typeface="Arial" pitchFamily="34" charset="-120"/>
              </a:rPr>
              <a:t>Popularity-Similarity Optimization (PSO)</a:t>
            </a:r>
            <a:endParaRPr lang="en-US" sz="1350" dirty="0">
              <a:latin typeface="Aptos Black" panose="020B0004020202020204" pitchFamily="34" charset="0"/>
            </a:endParaRPr>
          </a:p>
        </p:txBody>
      </p:sp>
      <mc:AlternateContent xmlns:mc="http://schemas.openxmlformats.org/markup-compatibility/2006" xmlns:a14="http://schemas.microsoft.com/office/drawing/2010/main">
        <mc:Choice Requires="a14">
          <p:sp>
            <p:nvSpPr>
              <p:cNvPr id="15" name="Text 10"/>
              <p:cNvSpPr/>
              <p:nvPr/>
            </p:nvSpPr>
            <p:spPr>
              <a:xfrm>
                <a:off x="6336792" y="3332988"/>
                <a:ext cx="2048256" cy="1371600"/>
              </a:xfrm>
              <a:prstGeom prst="rect">
                <a:avLst/>
              </a:prstGeom>
              <a:noFill/>
              <a:ln/>
            </p:spPr>
            <p:txBody>
              <a:bodyPr wrap="square" lIns="0" tIns="0" rIns="0" bIns="0" rtlCol="0" anchor="t"/>
              <a:lstStyle/>
              <a:p>
                <a:pPr marL="0" indent="0">
                  <a:lnSpc>
                    <a:spcPts val="1600"/>
                  </a:lnSpc>
                  <a:buNone/>
                </a:pPr>
                <a:r>
                  <a:rPr lang="en-US" sz="1100" b="1" dirty="0">
                    <a:solidFill>
                      <a:srgbClr val="2E2B45"/>
                    </a:solidFill>
                    <a:latin typeface="Bierstadt" panose="020B0004020202020204" pitchFamily="34" charset="0"/>
                    <a:ea typeface="Calibri" pitchFamily="34" charset="-122"/>
                    <a:cs typeface="Calibri" pitchFamily="34" charset="-120"/>
                  </a:rPr>
                  <a:t>Radial (r): </a:t>
                </a:r>
                <a:r>
                  <a:rPr lang="en-US" sz="1100" dirty="0">
                    <a:solidFill>
                      <a:srgbClr val="2E2B45"/>
                    </a:solidFill>
                    <a:latin typeface="Bierstadt" panose="020B0004020202020204" pitchFamily="34" charset="0"/>
                    <a:ea typeface="Calibri" pitchFamily="34" charset="-122"/>
                    <a:cs typeface="Calibri" pitchFamily="34" charset="-120"/>
                  </a:rPr>
                  <a:t>node popularity.</a:t>
                </a:r>
                <a:endParaRPr lang="en-US" sz="1100" dirty="0">
                  <a:latin typeface="Bierstadt" panose="020B0004020202020204" pitchFamily="34" charset="0"/>
                </a:endParaRPr>
              </a:p>
              <a:p>
                <a:pPr marL="0" indent="0">
                  <a:lnSpc>
                    <a:spcPts val="1600"/>
                  </a:lnSpc>
                  <a:buNone/>
                </a:pPr>
                <a:r>
                  <a:rPr lang="en-US" sz="1100" b="1" dirty="0">
                    <a:solidFill>
                      <a:srgbClr val="2E2B45"/>
                    </a:solidFill>
                    <a:latin typeface="Bierstadt" panose="020B0004020202020204" pitchFamily="34" charset="0"/>
                    <a:ea typeface="Calibri" pitchFamily="34" charset="-122"/>
                    <a:cs typeface="Calibri" pitchFamily="34" charset="-120"/>
                  </a:rPr>
                  <a:t>Angular (θ): </a:t>
                </a:r>
                <a:r>
                  <a:rPr lang="en-US" sz="1100" dirty="0">
                    <a:solidFill>
                      <a:srgbClr val="2E2B45"/>
                    </a:solidFill>
                    <a:latin typeface="Bierstadt" panose="020B0004020202020204" pitchFamily="34" charset="0"/>
                    <a:ea typeface="Calibri" pitchFamily="34" charset="-122"/>
                    <a:cs typeface="Calibri" pitchFamily="34" charset="-120"/>
                  </a:rPr>
                  <a:t>structural similarity and local clustering.</a:t>
                </a:r>
                <a:endParaRPr lang="he-IL" sz="1100" dirty="0">
                  <a:solidFill>
                    <a:srgbClr val="2E2B45"/>
                  </a:solidFill>
                  <a:latin typeface="Bierstadt" panose="020B0004020202020204" pitchFamily="34" charset="0"/>
                  <a:ea typeface="Calibri" pitchFamily="34" charset="-122"/>
                  <a:cs typeface="Calibri" pitchFamily="34" charset="-120"/>
                </a:endParaRPr>
              </a:p>
              <a:p>
                <a:pPr marL="0" indent="0">
                  <a:lnSpc>
                    <a:spcPts val="1600"/>
                  </a:lnSpc>
                  <a:buNone/>
                </a:pPr>
                <a:endParaRPr lang="he-IL" sz="1100" dirty="0">
                  <a:solidFill>
                    <a:srgbClr val="2E2B45"/>
                  </a:solidFill>
                  <a:latin typeface="Bierstadt" panose="020B0004020202020204" pitchFamily="34" charset="0"/>
                  <a:ea typeface="Calibri" pitchFamily="34" charset="-122"/>
                  <a:cs typeface="Calibri" pitchFamily="34" charset="-120"/>
                </a:endParaRPr>
              </a:p>
              <a:p>
                <a:pPr marL="0" indent="0">
                  <a:lnSpc>
                    <a:spcPts val="1600"/>
                  </a:lnSpc>
                  <a:buNone/>
                </a:pPr>
                <a:r>
                  <a:rPr lang="en-US" sz="1100" dirty="0">
                    <a:solidFill>
                      <a:srgbClr val="2E2B45"/>
                    </a:solidFill>
                    <a:latin typeface="Bierstadt" panose="020B0004020202020204" pitchFamily="34" charset="0"/>
                    <a:ea typeface="Calibri" pitchFamily="34" charset="-122"/>
                    <a:cs typeface="Calibri" pitchFamily="34" charset="-120"/>
                  </a:rPr>
                  <a:t>Hyperbolic distance: </a:t>
                </a:r>
                <a:br>
                  <a:rPr lang="en-US" sz="1100" dirty="0">
                    <a:solidFill>
                      <a:srgbClr val="2E2B45"/>
                    </a:solidFill>
                    <a:latin typeface="Calibri" pitchFamily="34" charset="0"/>
                    <a:ea typeface="Calibri" pitchFamily="34" charset="-122"/>
                    <a:cs typeface="Calibri" pitchFamily="34" charset="-120"/>
                  </a:rPr>
                </a:br>
                <a14:m>
                  <m:oMathPara xmlns:m="http://schemas.openxmlformats.org/officeDocument/2006/math">
                    <m:oMathParaPr>
                      <m:jc m:val="centerGroup"/>
                    </m:oMathParaPr>
                    <m:oMath xmlns:m="http://schemas.openxmlformats.org/officeDocument/2006/math">
                      <m:sSub>
                        <m:sSubPr>
                          <m:ctrlPr>
                            <a:rPr lang="en-US" sz="1100" b="0" i="1" smtClean="0">
                              <a:solidFill>
                                <a:srgbClr val="2E2B45"/>
                              </a:solidFill>
                              <a:latin typeface="Cambria Math" panose="02040503050406030204" pitchFamily="18" charset="0"/>
                              <a:ea typeface="Calibri" pitchFamily="34" charset="-122"/>
                              <a:cs typeface="Calibri" pitchFamily="34" charset="-120"/>
                            </a:rPr>
                          </m:ctrlPr>
                        </m:sSubPr>
                        <m:e>
                          <m:r>
                            <a:rPr lang="en-US" sz="1100" b="0" i="1" smtClean="0">
                              <a:solidFill>
                                <a:srgbClr val="2E2B45"/>
                              </a:solidFill>
                              <a:latin typeface="Cambria Math" panose="02040503050406030204" pitchFamily="18" charset="0"/>
                              <a:ea typeface="Calibri" pitchFamily="34" charset="-122"/>
                              <a:cs typeface="Calibri" pitchFamily="34" charset="-120"/>
                            </a:rPr>
                            <m:t>𝑥</m:t>
                          </m:r>
                        </m:e>
                        <m:sub>
                          <m:r>
                            <a:rPr lang="en-US" sz="1100" b="0" i="1" smtClean="0">
                              <a:solidFill>
                                <a:srgbClr val="2E2B45"/>
                              </a:solidFill>
                              <a:latin typeface="Cambria Math" panose="02040503050406030204" pitchFamily="18" charset="0"/>
                              <a:ea typeface="Calibri" pitchFamily="34" charset="-122"/>
                              <a:cs typeface="Calibri" pitchFamily="34" charset="-120"/>
                            </a:rPr>
                            <m:t>𝑠𝑡</m:t>
                          </m:r>
                        </m:sub>
                      </m:sSub>
                      <m: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t>≈</m:t>
                      </m:r>
                      <m:sSub>
                        <m:sSubPr>
                          <m:ctrlP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ctrlPr>
                        </m:sSubPr>
                        <m:e>
                          <m: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t>𝑟</m:t>
                          </m:r>
                        </m:e>
                        <m:sub>
                          <m: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t>𝑠</m:t>
                          </m:r>
                        </m:sub>
                      </m:sSub>
                      <m: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t>+</m:t>
                      </m:r>
                      <m:sSub>
                        <m:sSubPr>
                          <m:ctrlP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ctrlPr>
                        </m:sSubPr>
                        <m:e>
                          <m: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t>𝑟</m:t>
                          </m:r>
                        </m:e>
                        <m:sub>
                          <m: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t>𝑡</m:t>
                          </m:r>
                        </m:sub>
                      </m:sSub>
                      <m: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t>+</m:t>
                      </m:r>
                      <m:func>
                        <m:funcPr>
                          <m:ctrlP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ctrlPr>
                        </m:funcPr>
                        <m:fName>
                          <m:r>
                            <m:rPr>
                              <m:sty m:val="p"/>
                            </m:rPr>
                            <a:rPr lang="en-US" sz="1100" b="0" i="0" smtClean="0">
                              <a:solidFill>
                                <a:srgbClr val="2E2B45"/>
                              </a:solidFill>
                              <a:latin typeface="Cambria Math" panose="02040503050406030204" pitchFamily="18" charset="0"/>
                              <a:ea typeface="Cambria Math" panose="02040503050406030204" pitchFamily="18" charset="0"/>
                              <a:cs typeface="Calibri" pitchFamily="34" charset="-120"/>
                            </a:rPr>
                            <m:t>ln</m:t>
                          </m:r>
                        </m:fName>
                        <m:e>
                          <m: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t>(</m:t>
                          </m:r>
                          <m:f>
                            <m:fPr>
                              <m:type m:val="lin"/>
                              <m:ctrlP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ctrlPr>
                            </m:fPr>
                            <m:num>
                              <m:sSub>
                                <m:sSubPr>
                                  <m:ctrlP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ctrlPr>
                                </m:sSubPr>
                                <m:e>
                                  <m: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t>𝜃</m:t>
                                  </m:r>
                                </m:e>
                                <m:sub>
                                  <m: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t>𝑠𝑡</m:t>
                                  </m:r>
                                </m:sub>
                              </m:sSub>
                            </m:num>
                            <m:den>
                              <m: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t>2</m:t>
                              </m:r>
                            </m:den>
                          </m:f>
                          <m:r>
                            <a:rPr lang="en-US" sz="1100" b="0" i="1" smtClean="0">
                              <a:solidFill>
                                <a:srgbClr val="2E2B45"/>
                              </a:solidFill>
                              <a:latin typeface="Cambria Math" panose="02040503050406030204" pitchFamily="18" charset="0"/>
                              <a:ea typeface="Cambria Math" panose="02040503050406030204" pitchFamily="18" charset="0"/>
                              <a:cs typeface="Calibri" pitchFamily="34" charset="-120"/>
                            </a:rPr>
                            <m:t>)</m:t>
                          </m:r>
                        </m:e>
                      </m:func>
                    </m:oMath>
                  </m:oMathPara>
                </a14:m>
                <a:endParaRPr lang="en-US" sz="1100" dirty="0"/>
              </a:p>
            </p:txBody>
          </p:sp>
        </mc:Choice>
        <mc:Fallback xmlns="">
          <p:sp>
            <p:nvSpPr>
              <p:cNvPr id="15" name="Text 10"/>
              <p:cNvSpPr>
                <a:spLocks noRot="1" noChangeAspect="1" noMove="1" noResize="1" noEditPoints="1" noAdjustHandles="1" noChangeArrowheads="1" noChangeShapeType="1" noTextEdit="1"/>
              </p:cNvSpPr>
              <p:nvPr/>
            </p:nvSpPr>
            <p:spPr>
              <a:xfrm>
                <a:off x="6336792" y="3332988"/>
                <a:ext cx="2048256" cy="1371600"/>
              </a:xfrm>
              <a:prstGeom prst="rect">
                <a:avLst/>
              </a:prstGeom>
              <a:blipFill>
                <a:blip r:embed="rId6"/>
                <a:stretch>
                  <a:fillRect l="-4464" t="-2222" r="-1488" b="-17778"/>
                </a:stretch>
              </a:blipFill>
              <a:ln/>
            </p:spPr>
            <p:txBody>
              <a:bodyPr/>
              <a:lstStyle/>
              <a:p>
                <a:r>
                  <a:rPr lang="en-IL">
                    <a:noFill/>
                  </a:rPr>
                  <a:t> </a:t>
                </a:r>
              </a:p>
            </p:txBody>
          </p:sp>
        </mc:Fallback>
      </mc:AlternateContent>
      <p:sp>
        <p:nvSpPr>
          <p:cNvPr id="16" name="Text 6">
            <a:extLst>
              <a:ext uri="{FF2B5EF4-FFF2-40B4-BE49-F238E27FC236}">
                <a16:creationId xmlns:a16="http://schemas.microsoft.com/office/drawing/2014/main" id="{B0FFC0FB-238D-F5AC-AC3A-DDDE360DFC60}"/>
              </a:ext>
            </a:extLst>
          </p:cNvPr>
          <p:cNvSpPr/>
          <p:nvPr/>
        </p:nvSpPr>
        <p:spPr>
          <a:xfrm>
            <a:off x="8770144" y="4876800"/>
            <a:ext cx="221456"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13" dirty="0">
                <a:solidFill>
                  <a:srgbClr val="7A75A3"/>
                </a:solidFill>
                <a:latin typeface="Arial" pitchFamily="34" charset="0"/>
                <a:ea typeface="Arial" pitchFamily="34" charset="-122"/>
                <a:cs typeface="Arial" pitchFamily="34" charset="-120"/>
              </a:rPr>
              <a:t>05</a:t>
            </a:r>
            <a:endParaRPr lang="en-US" sz="825" dirty="0"/>
          </a:p>
        </p:txBody>
      </p:sp>
      <p:pic>
        <p:nvPicPr>
          <p:cNvPr id="19" name="תמונה 18">
            <a:extLst>
              <a:ext uri="{FF2B5EF4-FFF2-40B4-BE49-F238E27FC236}">
                <a16:creationId xmlns:a16="http://schemas.microsoft.com/office/drawing/2014/main" id="{FF24EE04-D7D7-6BCC-3071-FB803AE0B713}"/>
              </a:ext>
            </a:extLst>
          </p:cNvPr>
          <p:cNvPicPr>
            <a:picLocks noChangeAspect="1"/>
          </p:cNvPicPr>
          <p:nvPr/>
        </p:nvPicPr>
        <p:blipFill>
          <a:blip r:embed="rId7"/>
          <a:stretch>
            <a:fillRect/>
          </a:stretch>
        </p:blipFill>
        <p:spPr>
          <a:xfrm>
            <a:off x="788379" y="1570731"/>
            <a:ext cx="1989402" cy="1110364"/>
          </a:xfrm>
          <a:prstGeom prst="rect">
            <a:avLst/>
          </a:prstGeom>
        </p:spPr>
      </p:pic>
      <p:pic>
        <p:nvPicPr>
          <p:cNvPr id="21" name="תמונה 20">
            <a:extLst>
              <a:ext uri="{FF2B5EF4-FFF2-40B4-BE49-F238E27FC236}">
                <a16:creationId xmlns:a16="http://schemas.microsoft.com/office/drawing/2014/main" id="{20240CAA-5375-4F90-2CE9-514467CE6C19}"/>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t="9645" b="6067"/>
          <a:stretch>
            <a:fillRect/>
          </a:stretch>
        </p:blipFill>
        <p:spPr bwMode="auto">
          <a:xfrm>
            <a:off x="3412721" y="1670170"/>
            <a:ext cx="2210839" cy="967242"/>
          </a:xfrm>
          <a:prstGeom prst="rect">
            <a:avLst/>
          </a:prstGeom>
          <a:ln>
            <a:noFill/>
          </a:ln>
          <a:extLst>
            <a:ext uri="{53640926-AAD7-44D8-BBD7-CCE9431645EC}">
              <a14:shadowObscured xmlns:a14="http://schemas.microsoft.com/office/drawing/2010/main"/>
            </a:ext>
          </a:extLst>
        </p:spPr>
      </p:pic>
      <p:pic>
        <p:nvPicPr>
          <p:cNvPr id="23" name="תמונה 22">
            <a:extLst>
              <a:ext uri="{FF2B5EF4-FFF2-40B4-BE49-F238E27FC236}">
                <a16:creationId xmlns:a16="http://schemas.microsoft.com/office/drawing/2014/main" id="{B9DEEBF2-F65C-D6A4-1149-26D957D62096}"/>
              </a:ext>
            </a:extLst>
          </p:cNvPr>
          <p:cNvPicPr>
            <a:picLocks noChangeAspect="1"/>
          </p:cNvPicPr>
          <p:nvPr/>
        </p:nvPicPr>
        <p:blipFill rotWithShape="1">
          <a:blip r:embed="rId9">
            <a:extLst>
              <a:ext uri="{28A0092B-C50C-407E-A947-70E740481C1C}">
                <a14:useLocalDpi xmlns:a14="http://schemas.microsoft.com/office/drawing/2010/main" val="0"/>
              </a:ext>
            </a:extLst>
          </a:blip>
          <a:srcRect t="2755" b="49820"/>
          <a:stretch>
            <a:fillRect/>
          </a:stretch>
        </p:blipFill>
        <p:spPr bwMode="auto">
          <a:xfrm>
            <a:off x="6588280" y="1479200"/>
            <a:ext cx="1796768" cy="1206060"/>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marL="0" indent="0">
              <a:buNone/>
            </a:pPr>
            <a:r>
              <a:rPr lang="en-US" sz="1100" b="1" kern="0" spc="300" dirty="0">
                <a:solidFill>
                  <a:srgbClr val="7A75A3"/>
                </a:solidFill>
                <a:latin typeface="Arial" pitchFamily="34" charset="0"/>
                <a:ea typeface="Arial" pitchFamily="34" charset="-122"/>
                <a:cs typeface="Arial" pitchFamily="34" charset="-120"/>
              </a:rPr>
              <a:t>PRIOR WORK · FU ET AL., 2024</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marL="0" indent="0">
              <a:buNone/>
            </a:pPr>
            <a:r>
              <a:rPr lang="en-US" sz="3000" b="1" dirty="0">
                <a:solidFill>
                  <a:srgbClr val="2E2B45"/>
                </a:solidFill>
                <a:latin typeface="Arial Black" panose="020B0A04020102020204" pitchFamily="34" charset="0"/>
                <a:ea typeface="Arial" pitchFamily="34" charset="-122"/>
                <a:cs typeface="Arial" pitchFamily="34" charset="-120"/>
              </a:rPr>
              <a:t>HypDiff – Hyperbolic Autoencoding</a:t>
            </a:r>
            <a:endParaRPr lang="en-US" sz="3000" dirty="0">
              <a:latin typeface="Arial Black" panose="020B0A04020102020204" pitchFamily="34" charset="0"/>
            </a:endParaRPr>
          </a:p>
        </p:txBody>
      </p:sp>
      <p:sp>
        <p:nvSpPr>
          <p:cNvPr id="4" name="Text 2"/>
          <p:cNvSpPr/>
          <p:nvPr/>
        </p:nvSpPr>
        <p:spPr>
          <a:xfrm>
            <a:off x="502920" y="1136344"/>
            <a:ext cx="8138160" cy="594360"/>
          </a:xfrm>
          <a:prstGeom prst="rect">
            <a:avLst/>
          </a:prstGeom>
          <a:noFill/>
          <a:ln/>
        </p:spPr>
        <p:txBody>
          <a:bodyPr wrap="square" lIns="0" tIns="0" rIns="0" bIns="0" rtlCol="0" anchor="t"/>
          <a:lstStyle/>
          <a:p>
            <a:r>
              <a:rPr lang="en-US" sz="1200" dirty="0">
                <a:solidFill>
                  <a:srgbClr val="2E2B45"/>
                </a:solidFill>
                <a:latin typeface="Bierstadt" panose="020B0004020202020204" pitchFamily="34" charset="0"/>
                <a:ea typeface="Calibri" pitchFamily="34" charset="-122"/>
                <a:cs typeface="Calibri" pitchFamily="34" charset="-120"/>
              </a:rPr>
              <a:t>HypDiff (Fu et al., 2024) is a state-of-the-art latent diffusion model for graph generation that operates in a hyperbolic latent space, avoiding the distortion Euclidean models introduce on hierarchical graphs.</a:t>
            </a:r>
          </a:p>
        </p:txBody>
      </p:sp>
      <p:pic>
        <p:nvPicPr>
          <p:cNvPr id="20" name="HypDiff Architecture"/>
          <p:cNvPicPr>
            <a:picLocks noChangeAspect="1"/>
          </p:cNvPicPr>
          <p:nvPr/>
        </p:nvPicPr>
        <p:blipFill>
          <a:blip r:embed="rId3"/>
          <a:stretch>
            <a:fillRect/>
          </a:stretch>
        </p:blipFill>
        <p:spPr>
          <a:xfrm>
            <a:off x="672000" y="1508251"/>
            <a:ext cx="7800000" cy="2145000"/>
          </a:xfrm>
          <a:prstGeom prst="rect">
            <a:avLst/>
          </a:prstGeom>
        </p:spPr>
      </p:pic>
      <p:sp>
        <p:nvSpPr>
          <p:cNvPr id="22" name="EncoderText"/>
          <p:cNvSpPr/>
          <p:nvPr/>
        </p:nvSpPr>
        <p:spPr>
          <a:xfrm>
            <a:off x="502920" y="4025158"/>
            <a:ext cx="3931920" cy="709393"/>
          </a:xfrm>
          <a:prstGeom prst="rect">
            <a:avLst/>
          </a:prstGeom>
          <a:noFill/>
          <a:ln/>
        </p:spPr>
        <p:txBody>
          <a:bodyPr wrap="square" lIns="0" tIns="0" rIns="0" bIns="0" rtlCol="0" anchor="t"/>
          <a:lstStyle/>
          <a:p>
            <a:pPr>
              <a:lnSpc>
                <a:spcPct val="150000"/>
              </a:lnSpc>
            </a:pPr>
            <a:r>
              <a:rPr lang="en-US" sz="1250" b="1" dirty="0">
                <a:solidFill>
                  <a:srgbClr val="4E4A73"/>
                </a:solidFill>
                <a:latin typeface="Aptos Black" panose="020B0004020202020204" pitchFamily="34" charset="0"/>
                <a:ea typeface="Calibri" pitchFamily="34" charset="-122"/>
                <a:cs typeface="Calibri" pitchFamily="34" charset="-120"/>
              </a:rPr>
              <a:t>Hyperbolic Encoder (HGCN)  </a:t>
            </a:r>
          </a:p>
          <a:p>
            <a:r>
              <a:rPr lang="en-IL" sz="1100" dirty="0">
                <a:latin typeface="Bierstadt" panose="020B0004020202020204" pitchFamily="34" charset="0"/>
              </a:rPr>
              <a:t>Aggregates node features in the tangent space via log/exp maps, producing a hierarchy-preserving hyperbolic latent.</a:t>
            </a:r>
            <a:endParaRPr lang="en-US" sz="1100" dirty="0">
              <a:solidFill>
                <a:srgbClr val="2E2B45"/>
              </a:solidFill>
              <a:latin typeface="Bierstadt" panose="020B0004020202020204" pitchFamily="34" charset="0"/>
              <a:ea typeface="Calibri" pitchFamily="34" charset="-122"/>
              <a:cs typeface="Calibri" pitchFamily="34" charset="-120"/>
            </a:endParaRPr>
          </a:p>
        </p:txBody>
      </p:sp>
      <p:sp>
        <p:nvSpPr>
          <p:cNvPr id="23" name="DecoderText"/>
          <p:cNvSpPr/>
          <p:nvPr/>
        </p:nvSpPr>
        <p:spPr>
          <a:xfrm>
            <a:off x="4857752" y="4007156"/>
            <a:ext cx="3931920" cy="709393"/>
          </a:xfrm>
          <a:prstGeom prst="rect">
            <a:avLst/>
          </a:prstGeom>
          <a:noFill/>
          <a:ln/>
        </p:spPr>
        <p:txBody>
          <a:bodyPr wrap="square" lIns="0" tIns="0" rIns="0" bIns="0" rtlCol="0" anchor="t"/>
          <a:lstStyle/>
          <a:p>
            <a:pPr marL="0" indent="0" algn="l">
              <a:lnSpc>
                <a:spcPct val="150000"/>
              </a:lnSpc>
              <a:buNone/>
            </a:pPr>
            <a:r>
              <a:rPr lang="en-US" sz="1250" b="1" dirty="0">
                <a:solidFill>
                  <a:srgbClr val="4E4A73"/>
                </a:solidFill>
                <a:latin typeface="Aptos Black" panose="020B0004020202020204" pitchFamily="34" charset="0"/>
                <a:ea typeface="Calibri" pitchFamily="34" charset="-122"/>
                <a:cs typeface="Calibri" pitchFamily="34" charset="-120"/>
              </a:rPr>
              <a:t>Fermi-Dirac Decoder  </a:t>
            </a:r>
          </a:p>
          <a:p>
            <a:pPr>
              <a:lnSpc>
                <a:spcPts val="1300"/>
              </a:lnSpc>
            </a:pPr>
            <a:r>
              <a:rPr lang="en-US" sz="1100" dirty="0">
                <a:latin typeface="Bierstadt" panose="020B0004020202020204" pitchFamily="34" charset="0"/>
              </a:rPr>
              <a:t>Converts hyperbolic distances between nodes </a:t>
            </a:r>
            <a:r>
              <a:rPr lang="en-IL" sz="1100" dirty="0">
                <a:latin typeface="Bierstadt" panose="020B0004020202020204" pitchFamily="34" charset="0"/>
              </a:rPr>
              <a:t>into edge probabilities, reconstructing the discrete graph topology.</a:t>
            </a:r>
            <a:endParaRPr lang="en-US" sz="1100" dirty="0">
              <a:latin typeface="Bierstadt" panose="020B0004020202020204" pitchFamily="34" charset="0"/>
            </a:endParaRPr>
          </a:p>
        </p:txBody>
      </p:sp>
      <p:sp>
        <p:nvSpPr>
          <p:cNvPr id="5" name="Text 6">
            <a:extLst>
              <a:ext uri="{FF2B5EF4-FFF2-40B4-BE49-F238E27FC236}">
                <a16:creationId xmlns:a16="http://schemas.microsoft.com/office/drawing/2014/main" id="{FB963909-3712-7014-6509-9942CD4089B5}"/>
              </a:ext>
            </a:extLst>
          </p:cNvPr>
          <p:cNvSpPr/>
          <p:nvPr/>
        </p:nvSpPr>
        <p:spPr>
          <a:xfrm>
            <a:off x="8770144" y="4876800"/>
            <a:ext cx="221456"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13" dirty="0">
                <a:solidFill>
                  <a:srgbClr val="7A75A3"/>
                </a:solidFill>
                <a:latin typeface="Arial" pitchFamily="34" charset="0"/>
                <a:ea typeface="Arial" pitchFamily="34" charset="-122"/>
                <a:cs typeface="Arial" pitchFamily="34" charset="-120"/>
              </a:rPr>
              <a:t>06</a:t>
            </a:r>
            <a:endParaRPr lang="en-US" sz="8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marL="0" indent="0">
              <a:buNone/>
            </a:pPr>
            <a:r>
              <a:rPr lang="en-US" sz="1100" b="1" kern="0" spc="300" dirty="0">
                <a:solidFill>
                  <a:srgbClr val="7A75A3"/>
                </a:solidFill>
                <a:latin typeface="Arial" pitchFamily="34" charset="0"/>
                <a:ea typeface="Arial" pitchFamily="34" charset="-122"/>
                <a:cs typeface="Arial" pitchFamily="34" charset="-120"/>
              </a:rPr>
              <a:t>PRIOR WORK · FU ET AL., 2024</a:t>
            </a:r>
            <a:endParaRPr lang="en-US" sz="1100" dirty="0"/>
          </a:p>
        </p:txBody>
      </p:sp>
      <p:sp>
        <p:nvSpPr>
          <p:cNvPr id="3" name="Text 1"/>
          <p:cNvSpPr/>
          <p:nvPr/>
        </p:nvSpPr>
        <p:spPr>
          <a:xfrm>
            <a:off x="502920" y="502920"/>
            <a:ext cx="8488680" cy="566928"/>
          </a:xfrm>
          <a:prstGeom prst="rect">
            <a:avLst/>
          </a:prstGeom>
          <a:noFill/>
          <a:ln/>
        </p:spPr>
        <p:txBody>
          <a:bodyPr wrap="square" lIns="0" tIns="0" rIns="0" bIns="0" rtlCol="0" anchor="ctr"/>
          <a:lstStyle/>
          <a:p>
            <a:pPr marL="0" indent="0">
              <a:buNone/>
            </a:pPr>
            <a:r>
              <a:rPr lang="en-US" sz="3000" b="1" dirty="0">
                <a:solidFill>
                  <a:srgbClr val="2E2B45"/>
                </a:solidFill>
                <a:latin typeface="Arial Black" panose="020B0A04020102020204" pitchFamily="34" charset="0"/>
                <a:ea typeface="Arial" pitchFamily="34" charset="-122"/>
                <a:cs typeface="Arial" pitchFamily="34" charset="-120"/>
              </a:rPr>
              <a:t>HypDiff – Anisotropic Diffusion Process</a:t>
            </a:r>
            <a:endParaRPr lang="en-US" sz="3000" dirty="0">
              <a:latin typeface="Arial Black" panose="020B0A04020102020204" pitchFamily="34" charset="0"/>
            </a:endParaRPr>
          </a:p>
        </p:txBody>
      </p:sp>
      <p:sp>
        <p:nvSpPr>
          <p:cNvPr id="4" name="Shape 2"/>
          <p:cNvSpPr/>
          <p:nvPr/>
        </p:nvSpPr>
        <p:spPr>
          <a:xfrm>
            <a:off x="502920" y="1133051"/>
            <a:ext cx="3931920" cy="1450000"/>
          </a:xfrm>
          <a:prstGeom prst="roundRect">
            <a:avLst>
              <a:gd name="adj" fmla="val 35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5" name="Text 3"/>
          <p:cNvSpPr/>
          <p:nvPr/>
        </p:nvSpPr>
        <p:spPr>
          <a:xfrm>
            <a:off x="731520" y="1297643"/>
            <a:ext cx="3566160" cy="292608"/>
          </a:xfrm>
          <a:prstGeom prst="rect">
            <a:avLst/>
          </a:prstGeom>
          <a:noFill/>
          <a:ln/>
        </p:spPr>
        <p:txBody>
          <a:bodyPr wrap="square" lIns="0" tIns="0" rIns="0" bIns="0" rtlCol="0" anchor="ctr"/>
          <a:lstStyle/>
          <a:p>
            <a:pPr marL="0" indent="0" algn="l">
              <a:buNone/>
            </a:pPr>
            <a:r>
              <a:rPr lang="en-US" sz="1350" b="1" dirty="0">
                <a:solidFill>
                  <a:srgbClr val="4E4A73"/>
                </a:solidFill>
                <a:latin typeface="Aptos Black" panose="020B0004020202020204" pitchFamily="34" charset="0"/>
                <a:ea typeface="Arial" pitchFamily="34" charset="-122"/>
                <a:cs typeface="Arial" pitchFamily="34" charset="-120"/>
              </a:rPr>
              <a:t>Forward Process – Directional Noise</a:t>
            </a:r>
            <a:endParaRPr lang="en-US" sz="1350" dirty="0">
              <a:latin typeface="Aptos Black" panose="020B0004020202020204" pitchFamily="34" charset="0"/>
            </a:endParaRPr>
          </a:p>
        </p:txBody>
      </p:sp>
      <p:sp>
        <p:nvSpPr>
          <p:cNvPr id="6" name="Text 4"/>
          <p:cNvSpPr/>
          <p:nvPr/>
        </p:nvSpPr>
        <p:spPr>
          <a:xfrm>
            <a:off x="731520" y="1681691"/>
            <a:ext cx="3474720" cy="1097280"/>
          </a:xfrm>
          <a:prstGeom prst="rect">
            <a:avLst/>
          </a:prstGeom>
          <a:noFill/>
          <a:ln/>
        </p:spPr>
        <p:txBody>
          <a:bodyPr wrap="square" lIns="0" tIns="0" rIns="0" bIns="0" rtlCol="0" anchor="t"/>
          <a:lstStyle/>
          <a:p>
            <a:pPr marL="0" indent="0" algn="l">
              <a:lnSpc>
                <a:spcPts val="1500"/>
              </a:lnSpc>
              <a:buNone/>
            </a:pPr>
            <a:r>
              <a:rPr lang="en-US" sz="1200" dirty="0">
                <a:solidFill>
                  <a:srgbClr val="2E2B45"/>
                </a:solidFill>
                <a:latin typeface="Bierstadt" panose="020B0004020202020204" pitchFamily="34" charset="0"/>
                <a:ea typeface="Calibri" pitchFamily="34" charset="-122"/>
                <a:cs typeface="Calibri" pitchFamily="34" charset="-120"/>
              </a:rPr>
              <a:t>Instead of uniform noise, injects noise along two geometric constraints:</a:t>
            </a:r>
            <a:endParaRPr lang="en-US" sz="1200" dirty="0">
              <a:latin typeface="Bierstadt" panose="020B0004020202020204" pitchFamily="34" charset="0"/>
            </a:endParaRPr>
          </a:p>
          <a:p>
            <a:pPr marL="0" indent="0" algn="l">
              <a:lnSpc>
                <a:spcPts val="1500"/>
              </a:lnSpc>
              <a:buNone/>
            </a:pPr>
            <a:r>
              <a:rPr lang="en-US" sz="1200" b="1" dirty="0">
                <a:solidFill>
                  <a:srgbClr val="2E2B45"/>
                </a:solidFill>
                <a:latin typeface="Bierstadt" panose="020B0004020202020204" pitchFamily="34" charset="0"/>
                <a:ea typeface="Calibri" pitchFamily="34" charset="-122"/>
                <a:cs typeface="Calibri" pitchFamily="34" charset="-120"/>
              </a:rPr>
              <a:t>Angular: </a:t>
            </a:r>
            <a:r>
              <a:rPr lang="en-US" sz="1200" dirty="0">
                <a:solidFill>
                  <a:srgbClr val="2E2B45"/>
                </a:solidFill>
                <a:latin typeface="Bierstadt" panose="020B0004020202020204" pitchFamily="34" charset="0"/>
                <a:ea typeface="Calibri" pitchFamily="34" charset="-122"/>
                <a:cs typeface="Calibri" pitchFamily="34" charset="-120"/>
              </a:rPr>
              <a:t>aligned with local community structure.</a:t>
            </a:r>
            <a:endParaRPr lang="en-US" sz="1200" dirty="0">
              <a:latin typeface="Bierstadt" panose="020B0004020202020204" pitchFamily="34" charset="0"/>
            </a:endParaRPr>
          </a:p>
          <a:p>
            <a:pPr marL="0" indent="0" algn="l">
              <a:lnSpc>
                <a:spcPts val="1500"/>
              </a:lnSpc>
              <a:buNone/>
            </a:pPr>
            <a:r>
              <a:rPr lang="en-US" sz="1200" b="1" dirty="0">
                <a:solidFill>
                  <a:srgbClr val="2E2B45"/>
                </a:solidFill>
                <a:latin typeface="Bierstadt" panose="020B0004020202020204" pitchFamily="34" charset="0"/>
                <a:ea typeface="Calibri" pitchFamily="34" charset="-122"/>
                <a:cs typeface="Calibri" pitchFamily="34" charset="-120"/>
              </a:rPr>
              <a:t>Radial: </a:t>
            </a:r>
            <a:r>
              <a:rPr lang="en-US" sz="1200" dirty="0">
                <a:solidFill>
                  <a:srgbClr val="2E2B45"/>
                </a:solidFill>
                <a:latin typeface="Bierstadt" panose="020B0004020202020204" pitchFamily="34" charset="0"/>
                <a:ea typeface="Calibri" pitchFamily="34" charset="-122"/>
                <a:cs typeface="Calibri" pitchFamily="34" charset="-120"/>
              </a:rPr>
              <a:t>preserves node popularity/hierarchy.</a:t>
            </a:r>
            <a:endParaRPr lang="en-US" sz="1200" dirty="0">
              <a:latin typeface="Bierstadt" panose="020B0004020202020204" pitchFamily="34" charset="0"/>
            </a:endParaRPr>
          </a:p>
        </p:txBody>
      </p:sp>
      <p:sp>
        <p:nvSpPr>
          <p:cNvPr id="7" name="Shape 5"/>
          <p:cNvSpPr/>
          <p:nvPr/>
        </p:nvSpPr>
        <p:spPr>
          <a:xfrm>
            <a:off x="4709160" y="1133051"/>
            <a:ext cx="3931920" cy="1450000"/>
          </a:xfrm>
          <a:prstGeom prst="roundRect">
            <a:avLst>
              <a:gd name="adj" fmla="val 35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8" name="Text 6"/>
          <p:cNvSpPr/>
          <p:nvPr/>
        </p:nvSpPr>
        <p:spPr>
          <a:xfrm>
            <a:off x="4937760" y="1297643"/>
            <a:ext cx="3566160" cy="292608"/>
          </a:xfrm>
          <a:prstGeom prst="rect">
            <a:avLst/>
          </a:prstGeom>
          <a:noFill/>
          <a:ln/>
        </p:spPr>
        <p:txBody>
          <a:bodyPr wrap="square" lIns="0" tIns="0" rIns="0" bIns="0" rtlCol="0" anchor="ctr"/>
          <a:lstStyle/>
          <a:p>
            <a:pPr marL="0" indent="0" algn="l">
              <a:buNone/>
            </a:pPr>
            <a:r>
              <a:rPr lang="en-US" sz="1350" b="1" dirty="0">
                <a:solidFill>
                  <a:srgbClr val="4E4A73"/>
                </a:solidFill>
                <a:latin typeface="Aptos Black" panose="020B0004020202020204" pitchFamily="34" charset="0"/>
                <a:ea typeface="Arial" pitchFamily="34" charset="-122"/>
                <a:cs typeface="Arial" pitchFamily="34" charset="-120"/>
              </a:rPr>
              <a:t>Reverse Process – Guided Denoising</a:t>
            </a:r>
            <a:endParaRPr lang="en-US" sz="1350" dirty="0">
              <a:latin typeface="Aptos Black" panose="020B0004020202020204" pitchFamily="34" charset="0"/>
            </a:endParaRPr>
          </a:p>
        </p:txBody>
      </p:sp>
      <p:sp>
        <p:nvSpPr>
          <p:cNvPr id="9" name="Text 7"/>
          <p:cNvSpPr/>
          <p:nvPr/>
        </p:nvSpPr>
        <p:spPr>
          <a:xfrm>
            <a:off x="4937760" y="1681691"/>
            <a:ext cx="3474720" cy="1097280"/>
          </a:xfrm>
          <a:prstGeom prst="rect">
            <a:avLst/>
          </a:prstGeom>
          <a:noFill/>
          <a:ln/>
        </p:spPr>
        <p:txBody>
          <a:bodyPr wrap="square" lIns="0" tIns="0" rIns="0" bIns="0" rtlCol="0" anchor="t"/>
          <a:lstStyle/>
          <a:p>
            <a:pPr marL="0" indent="0" algn="l">
              <a:lnSpc>
                <a:spcPts val="1500"/>
              </a:lnSpc>
              <a:buNone/>
            </a:pPr>
            <a:r>
              <a:rPr lang="en-US" sz="1200" dirty="0">
                <a:solidFill>
                  <a:srgbClr val="2E2B45"/>
                </a:solidFill>
                <a:latin typeface="Bierstadt" panose="020B0004020202020204" pitchFamily="34" charset="0"/>
                <a:ea typeface="Calibri" pitchFamily="34" charset="-122"/>
                <a:cs typeface="Calibri" pitchFamily="34" charset="-120"/>
              </a:rPr>
              <a:t>A neural network iteratively removes noise along these same constraints, reconstructing the graph structure step-by-step.</a:t>
            </a:r>
            <a:endParaRPr lang="en-US" sz="1200" dirty="0">
              <a:latin typeface="Bierstadt" panose="020B0004020202020204" pitchFamily="34" charset="0"/>
            </a:endParaRPr>
          </a:p>
        </p:txBody>
      </p:sp>
      <p:sp>
        <p:nvSpPr>
          <p:cNvPr id="10" name="Shape 8"/>
          <p:cNvSpPr/>
          <p:nvPr/>
        </p:nvSpPr>
        <p:spPr>
          <a:xfrm>
            <a:off x="502920" y="2727468"/>
            <a:ext cx="8138160" cy="2160000"/>
          </a:xfrm>
          <a:prstGeom prst="roundRect">
            <a:avLst>
              <a:gd name="adj" fmla="val 5000"/>
            </a:avLst>
          </a:prstGeom>
          <a:solidFill>
            <a:srgbClr val="F1EFF7"/>
          </a:solidFill>
          <a:ln w="12700">
            <a:solidFill>
              <a:srgbClr val="B7B1CD"/>
            </a:solidFill>
            <a:prstDash val="solid"/>
          </a:ln>
        </p:spPr>
        <p:txBody>
          <a:bodyPr/>
          <a:lstStyle/>
          <a:p>
            <a:endParaRPr lang="en-IL"/>
          </a:p>
        </p:txBody>
      </p:sp>
      <p:sp>
        <p:nvSpPr>
          <p:cNvPr id="12" name="Text 6">
            <a:extLst>
              <a:ext uri="{FF2B5EF4-FFF2-40B4-BE49-F238E27FC236}">
                <a16:creationId xmlns:a16="http://schemas.microsoft.com/office/drawing/2014/main" id="{A79A9E73-4879-D173-7A0B-81E7C2AA4D2B}"/>
              </a:ext>
            </a:extLst>
          </p:cNvPr>
          <p:cNvSpPr/>
          <p:nvPr/>
        </p:nvSpPr>
        <p:spPr>
          <a:xfrm>
            <a:off x="8770144" y="4876800"/>
            <a:ext cx="221456"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13" dirty="0">
                <a:solidFill>
                  <a:srgbClr val="7A75A3"/>
                </a:solidFill>
                <a:latin typeface="Arial" pitchFamily="34" charset="0"/>
                <a:ea typeface="Arial" pitchFamily="34" charset="-122"/>
                <a:cs typeface="Arial" pitchFamily="34" charset="-120"/>
              </a:rPr>
              <a:t>07</a:t>
            </a:r>
            <a:endParaRPr lang="en-US" sz="825" dirty="0"/>
          </a:p>
        </p:txBody>
      </p:sp>
      <p:pic>
        <p:nvPicPr>
          <p:cNvPr id="14" name="Image 0" descr="preencoded.png">
            <a:extLst>
              <a:ext uri="{FF2B5EF4-FFF2-40B4-BE49-F238E27FC236}">
                <a16:creationId xmlns:a16="http://schemas.microsoft.com/office/drawing/2014/main" id="{11ED6855-8956-8FE0-C22F-215BF049B9AD}"/>
              </a:ext>
            </a:extLst>
          </p:cNvPr>
          <p:cNvPicPr>
            <a:picLocks noChangeAspect="1"/>
          </p:cNvPicPr>
          <p:nvPr/>
        </p:nvPicPr>
        <p:blipFill>
          <a:blip r:embed="rId3"/>
          <a:srcRect l="-1" r="-1"/>
          <a:stretch/>
        </p:blipFill>
        <p:spPr>
          <a:xfrm>
            <a:off x="811304" y="2788866"/>
            <a:ext cx="7958840" cy="20372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marL="0" indent="0">
              <a:buNone/>
            </a:pPr>
            <a:r>
              <a:rPr lang="en-US" sz="1100" b="1" kern="0" spc="300" dirty="0">
                <a:solidFill>
                  <a:srgbClr val="7A75A3"/>
                </a:solidFill>
                <a:latin typeface="Arial" pitchFamily="34" charset="0"/>
                <a:ea typeface="Arial" pitchFamily="34" charset="-122"/>
                <a:cs typeface="Arial" pitchFamily="34" charset="-120"/>
              </a:rPr>
              <a:t>CONTRIBUTION</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marL="0" indent="0">
              <a:buNone/>
            </a:pPr>
            <a:r>
              <a:rPr lang="en-US" sz="3000" b="1" dirty="0">
                <a:solidFill>
                  <a:srgbClr val="2E2B45"/>
                </a:solidFill>
                <a:latin typeface="Arial Black" panose="020B0A04020102020204" pitchFamily="34" charset="0"/>
                <a:ea typeface="Arial" pitchFamily="34" charset="-122"/>
                <a:cs typeface="Arial" pitchFamily="34" charset="-120"/>
              </a:rPr>
              <a:t>Our Solution</a:t>
            </a:r>
            <a:endParaRPr lang="en-US" sz="3000" dirty="0">
              <a:latin typeface="Arial Black" panose="020B0A04020102020204" pitchFamily="34" charset="0"/>
            </a:endParaRPr>
          </a:p>
        </p:txBody>
      </p:sp>
      <p:sp>
        <p:nvSpPr>
          <p:cNvPr id="4" name="Text 2"/>
          <p:cNvSpPr/>
          <p:nvPr/>
        </p:nvSpPr>
        <p:spPr>
          <a:xfrm>
            <a:off x="550545" y="970845"/>
            <a:ext cx="8138160" cy="320040"/>
          </a:xfrm>
          <a:prstGeom prst="rect">
            <a:avLst/>
          </a:prstGeom>
          <a:noFill/>
          <a:ln/>
        </p:spPr>
        <p:txBody>
          <a:bodyPr wrap="square" lIns="0" tIns="0" rIns="0" bIns="0" rtlCol="0" anchor="ctr"/>
          <a:lstStyle/>
          <a:p>
            <a:pPr marL="0" indent="0">
              <a:buNone/>
            </a:pPr>
            <a:r>
              <a:rPr lang="en-US" sz="1300" b="1" dirty="0">
                <a:solidFill>
                  <a:srgbClr val="6E6B80"/>
                </a:solidFill>
                <a:latin typeface="Aptos Black" panose="020B0004020202020204" pitchFamily="34" charset="0"/>
                <a:ea typeface="Calibri" pitchFamily="34" charset="-122"/>
                <a:cs typeface="Calibri" pitchFamily="34" charset="-120"/>
              </a:rPr>
              <a:t>Bridging continuous geometry with structural resilience by repurposing HypDiff for stability evaluation.</a:t>
            </a:r>
            <a:endParaRPr lang="en-US" sz="1300" b="1" dirty="0">
              <a:latin typeface="Aptos Black" panose="020B0004020202020204" pitchFamily="34" charset="0"/>
            </a:endParaRPr>
          </a:p>
        </p:txBody>
      </p:sp>
      <p:sp>
        <p:nvSpPr>
          <p:cNvPr id="5" name="Shape 3"/>
          <p:cNvSpPr/>
          <p:nvPr/>
        </p:nvSpPr>
        <p:spPr>
          <a:xfrm>
            <a:off x="502920" y="1370150"/>
            <a:ext cx="3931920" cy="1600200"/>
          </a:xfrm>
          <a:prstGeom prst="roundRect">
            <a:avLst>
              <a:gd name="adj" fmla="val 40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6" name="Shape 4"/>
          <p:cNvSpPr/>
          <p:nvPr/>
        </p:nvSpPr>
        <p:spPr>
          <a:xfrm>
            <a:off x="704088" y="1553030"/>
            <a:ext cx="457200" cy="457200"/>
          </a:xfrm>
          <a:prstGeom prst="ellipse">
            <a:avLst/>
          </a:prstGeom>
          <a:solidFill>
            <a:srgbClr val="F1EFF7"/>
          </a:solidFill>
          <a:ln w="12700">
            <a:solidFill>
              <a:srgbClr val="B7B1CD"/>
            </a:solidFill>
            <a:prstDash val="solid"/>
          </a:ln>
        </p:spPr>
        <p:txBody>
          <a:bodyPr/>
          <a:lstStyle/>
          <a:p>
            <a:endParaRPr lang="en-IL"/>
          </a:p>
        </p:txBody>
      </p:sp>
      <p:pic>
        <p:nvPicPr>
          <p:cNvPr id="7" name="Image 0" descr="preencoded.png"/>
          <p:cNvPicPr>
            <a:picLocks noChangeAspect="1"/>
          </p:cNvPicPr>
          <p:nvPr/>
        </p:nvPicPr>
        <p:blipFill>
          <a:blip r:embed="rId3"/>
          <a:stretch>
            <a:fillRect/>
          </a:stretch>
        </p:blipFill>
        <p:spPr>
          <a:xfrm>
            <a:off x="832485" y="1671902"/>
            <a:ext cx="219456" cy="219456"/>
          </a:xfrm>
          <a:prstGeom prst="rect">
            <a:avLst/>
          </a:prstGeom>
        </p:spPr>
      </p:pic>
      <p:sp>
        <p:nvSpPr>
          <p:cNvPr id="8" name="Text 5"/>
          <p:cNvSpPr/>
          <p:nvPr/>
        </p:nvSpPr>
        <p:spPr>
          <a:xfrm>
            <a:off x="1280160" y="1644470"/>
            <a:ext cx="3017520" cy="292608"/>
          </a:xfrm>
          <a:prstGeom prst="rect">
            <a:avLst/>
          </a:prstGeom>
          <a:noFill/>
          <a:ln/>
        </p:spPr>
        <p:txBody>
          <a:bodyPr wrap="square" lIns="0" tIns="0" rIns="0" bIns="0" rtlCol="0" anchor="ctr"/>
          <a:lstStyle/>
          <a:p>
            <a:pPr marL="0" indent="0" algn="l">
              <a:buNone/>
            </a:pPr>
            <a:r>
              <a:rPr lang="en-US" sz="1450" b="1" dirty="0">
                <a:solidFill>
                  <a:srgbClr val="4E4A73"/>
                </a:solidFill>
                <a:latin typeface="Aptos Black" panose="020B0004020202020204" pitchFamily="34" charset="0"/>
                <a:ea typeface="Arial" pitchFamily="34" charset="-122"/>
                <a:cs typeface="Arial" pitchFamily="34" charset="-120"/>
              </a:rPr>
              <a:t>Core Idea</a:t>
            </a:r>
            <a:endParaRPr lang="en-US" sz="1450" dirty="0">
              <a:latin typeface="Aptos Black" panose="020B0004020202020204" pitchFamily="34" charset="0"/>
            </a:endParaRPr>
          </a:p>
        </p:txBody>
      </p:sp>
      <p:sp>
        <p:nvSpPr>
          <p:cNvPr id="9" name="Text 6"/>
          <p:cNvSpPr/>
          <p:nvPr/>
        </p:nvSpPr>
        <p:spPr>
          <a:xfrm>
            <a:off x="1280160" y="1991942"/>
            <a:ext cx="2926080" cy="822960"/>
          </a:xfrm>
          <a:prstGeom prst="rect">
            <a:avLst/>
          </a:prstGeom>
          <a:noFill/>
          <a:ln/>
        </p:spPr>
        <p:txBody>
          <a:bodyPr wrap="square" lIns="0" tIns="0" rIns="0" bIns="0" rtlCol="0" anchor="t"/>
          <a:lstStyle/>
          <a:p>
            <a:pPr marL="0" indent="0" algn="l">
              <a:lnSpc>
                <a:spcPts val="1400"/>
              </a:lnSpc>
              <a:buNone/>
            </a:pPr>
            <a:r>
              <a:rPr lang="en-US" sz="1150" dirty="0">
                <a:solidFill>
                  <a:srgbClr val="2E2B45"/>
                </a:solidFill>
                <a:latin typeface="Bierstadt" panose="020B0004020202020204" pitchFamily="34" charset="0"/>
                <a:ea typeface="Calibri" pitchFamily="34" charset="-122"/>
                <a:cs typeface="Calibri" pitchFamily="34" charset="-120"/>
              </a:rPr>
              <a:t>Representing networks as probability distributions over potential structural states, rather than fixed points.</a:t>
            </a:r>
            <a:endParaRPr lang="en-US" sz="1150" dirty="0">
              <a:latin typeface="Bierstadt" panose="020B0004020202020204" pitchFamily="34" charset="0"/>
            </a:endParaRPr>
          </a:p>
        </p:txBody>
      </p:sp>
      <p:sp>
        <p:nvSpPr>
          <p:cNvPr id="10" name="Shape 7"/>
          <p:cNvSpPr/>
          <p:nvPr/>
        </p:nvSpPr>
        <p:spPr>
          <a:xfrm>
            <a:off x="4709160" y="1370150"/>
            <a:ext cx="3931920" cy="1600200"/>
          </a:xfrm>
          <a:prstGeom prst="roundRect">
            <a:avLst>
              <a:gd name="adj" fmla="val 40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11" name="Shape 8"/>
          <p:cNvSpPr/>
          <p:nvPr/>
        </p:nvSpPr>
        <p:spPr>
          <a:xfrm>
            <a:off x="4910328" y="1553030"/>
            <a:ext cx="457200" cy="457200"/>
          </a:xfrm>
          <a:prstGeom prst="ellipse">
            <a:avLst/>
          </a:prstGeom>
          <a:solidFill>
            <a:srgbClr val="F1EFF7"/>
          </a:solidFill>
          <a:ln w="12700">
            <a:solidFill>
              <a:srgbClr val="B7B1CD"/>
            </a:solidFill>
            <a:prstDash val="solid"/>
          </a:ln>
        </p:spPr>
        <p:txBody>
          <a:bodyPr/>
          <a:lstStyle/>
          <a:p>
            <a:endParaRPr lang="en-IL"/>
          </a:p>
        </p:txBody>
      </p:sp>
      <p:pic>
        <p:nvPicPr>
          <p:cNvPr id="12" name="Image 1" descr="preencoded.png"/>
          <p:cNvPicPr>
            <a:picLocks noChangeAspect="1"/>
          </p:cNvPicPr>
          <p:nvPr/>
        </p:nvPicPr>
        <p:blipFill>
          <a:blip r:embed="rId4"/>
          <a:stretch>
            <a:fillRect/>
          </a:stretch>
        </p:blipFill>
        <p:spPr>
          <a:xfrm>
            <a:off x="5057775" y="1662377"/>
            <a:ext cx="219456" cy="219456"/>
          </a:xfrm>
          <a:prstGeom prst="rect">
            <a:avLst/>
          </a:prstGeom>
        </p:spPr>
      </p:pic>
      <p:sp>
        <p:nvSpPr>
          <p:cNvPr id="13" name="Text 9"/>
          <p:cNvSpPr/>
          <p:nvPr/>
        </p:nvSpPr>
        <p:spPr>
          <a:xfrm>
            <a:off x="5486400" y="1644470"/>
            <a:ext cx="3017520" cy="292608"/>
          </a:xfrm>
          <a:prstGeom prst="rect">
            <a:avLst/>
          </a:prstGeom>
          <a:noFill/>
          <a:ln/>
        </p:spPr>
        <p:txBody>
          <a:bodyPr wrap="square" lIns="0" tIns="0" rIns="0" bIns="0" rtlCol="0" anchor="ctr"/>
          <a:lstStyle/>
          <a:p>
            <a:pPr marL="0" indent="0" algn="l">
              <a:buNone/>
            </a:pPr>
            <a:r>
              <a:rPr lang="en-US" sz="1450" b="1" dirty="0">
                <a:solidFill>
                  <a:srgbClr val="4E4A73"/>
                </a:solidFill>
                <a:latin typeface="Aptos Black" panose="020B0004020202020204" pitchFamily="34" charset="0"/>
                <a:ea typeface="Arial" pitchFamily="34" charset="-122"/>
                <a:cs typeface="Arial" pitchFamily="34" charset="-120"/>
              </a:rPr>
              <a:t>The Gap</a:t>
            </a:r>
            <a:endParaRPr lang="en-US" sz="1450" dirty="0">
              <a:latin typeface="Aptos Black" panose="020B0004020202020204" pitchFamily="34" charset="0"/>
            </a:endParaRPr>
          </a:p>
        </p:txBody>
      </p:sp>
      <p:sp>
        <p:nvSpPr>
          <p:cNvPr id="14" name="Text 10"/>
          <p:cNvSpPr/>
          <p:nvPr/>
        </p:nvSpPr>
        <p:spPr>
          <a:xfrm>
            <a:off x="5486400" y="1991942"/>
            <a:ext cx="2926080" cy="822960"/>
          </a:xfrm>
          <a:prstGeom prst="rect">
            <a:avLst/>
          </a:prstGeom>
          <a:noFill/>
          <a:ln/>
        </p:spPr>
        <p:txBody>
          <a:bodyPr wrap="square" lIns="0" tIns="0" rIns="0" bIns="0" rtlCol="0" anchor="t"/>
          <a:lstStyle/>
          <a:p>
            <a:pPr marL="0" indent="0" algn="l">
              <a:lnSpc>
                <a:spcPts val="1400"/>
              </a:lnSpc>
              <a:buNone/>
            </a:pPr>
            <a:r>
              <a:rPr lang="en-US" sz="1150" dirty="0">
                <a:solidFill>
                  <a:srgbClr val="2E2B45"/>
                </a:solidFill>
                <a:latin typeface="Bierstadt" panose="020B0004020202020204" pitchFamily="34" charset="0"/>
                <a:ea typeface="Calibri" pitchFamily="34" charset="-122"/>
                <a:cs typeface="Calibri" pitchFamily="34" charset="-120"/>
              </a:rPr>
              <a:t>HypDiff was designed purely for graph generation and not for measuring resilience under stress.</a:t>
            </a:r>
            <a:endParaRPr lang="en-US" sz="1150" dirty="0">
              <a:latin typeface="Bierstadt" panose="020B0004020202020204" pitchFamily="34" charset="0"/>
            </a:endParaRPr>
          </a:p>
        </p:txBody>
      </p:sp>
      <p:sp>
        <p:nvSpPr>
          <p:cNvPr id="15" name="Shape 11"/>
          <p:cNvSpPr/>
          <p:nvPr/>
        </p:nvSpPr>
        <p:spPr>
          <a:xfrm>
            <a:off x="502920" y="3198950"/>
            <a:ext cx="3931920" cy="1600200"/>
          </a:xfrm>
          <a:prstGeom prst="roundRect">
            <a:avLst>
              <a:gd name="adj" fmla="val 40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16" name="Shape 12"/>
          <p:cNvSpPr/>
          <p:nvPr/>
        </p:nvSpPr>
        <p:spPr>
          <a:xfrm>
            <a:off x="704088" y="3381830"/>
            <a:ext cx="457200" cy="457200"/>
          </a:xfrm>
          <a:prstGeom prst="ellipse">
            <a:avLst/>
          </a:prstGeom>
          <a:solidFill>
            <a:srgbClr val="F1EFF7"/>
          </a:solidFill>
          <a:ln w="12700">
            <a:solidFill>
              <a:srgbClr val="B7B1CD"/>
            </a:solidFill>
            <a:prstDash val="solid"/>
          </a:ln>
        </p:spPr>
        <p:txBody>
          <a:bodyPr/>
          <a:lstStyle/>
          <a:p>
            <a:endParaRPr lang="en-IL"/>
          </a:p>
        </p:txBody>
      </p:sp>
      <p:pic>
        <p:nvPicPr>
          <p:cNvPr id="17" name="Image 2" descr="preencoded.png"/>
          <p:cNvPicPr>
            <a:picLocks noChangeAspect="1"/>
          </p:cNvPicPr>
          <p:nvPr/>
        </p:nvPicPr>
        <p:blipFill>
          <a:blip r:embed="rId5"/>
          <a:stretch>
            <a:fillRect/>
          </a:stretch>
        </p:blipFill>
        <p:spPr>
          <a:xfrm>
            <a:off x="822960" y="3500702"/>
            <a:ext cx="219456" cy="219456"/>
          </a:xfrm>
          <a:prstGeom prst="rect">
            <a:avLst/>
          </a:prstGeom>
        </p:spPr>
      </p:pic>
      <p:sp>
        <p:nvSpPr>
          <p:cNvPr id="18" name="Text 13"/>
          <p:cNvSpPr/>
          <p:nvPr/>
        </p:nvSpPr>
        <p:spPr>
          <a:xfrm>
            <a:off x="1280160" y="3473270"/>
            <a:ext cx="3017520" cy="292608"/>
          </a:xfrm>
          <a:prstGeom prst="rect">
            <a:avLst/>
          </a:prstGeom>
          <a:noFill/>
          <a:ln/>
        </p:spPr>
        <p:txBody>
          <a:bodyPr wrap="square" lIns="0" tIns="0" rIns="0" bIns="0" rtlCol="0" anchor="ctr"/>
          <a:lstStyle/>
          <a:p>
            <a:pPr marL="0" indent="0" algn="l">
              <a:buNone/>
            </a:pPr>
            <a:r>
              <a:rPr lang="en-US" sz="1450" b="1" dirty="0">
                <a:solidFill>
                  <a:srgbClr val="4E4A73"/>
                </a:solidFill>
                <a:latin typeface="Aptos Black" panose="020B0004020202020204" pitchFamily="34" charset="0"/>
                <a:ea typeface="Arial" pitchFamily="34" charset="-122"/>
                <a:cs typeface="Arial" pitchFamily="34" charset="-120"/>
              </a:rPr>
              <a:t>Our Adaptation</a:t>
            </a:r>
            <a:endParaRPr lang="en-US" sz="1450" dirty="0">
              <a:latin typeface="Aptos Black" panose="020B0004020202020204" pitchFamily="34" charset="0"/>
            </a:endParaRPr>
          </a:p>
        </p:txBody>
      </p:sp>
      <p:sp>
        <p:nvSpPr>
          <p:cNvPr id="19" name="Text 14"/>
          <p:cNvSpPr/>
          <p:nvPr/>
        </p:nvSpPr>
        <p:spPr>
          <a:xfrm>
            <a:off x="1280160" y="3820742"/>
            <a:ext cx="2926080" cy="822960"/>
          </a:xfrm>
          <a:prstGeom prst="rect">
            <a:avLst/>
          </a:prstGeom>
          <a:noFill/>
          <a:ln/>
        </p:spPr>
        <p:txBody>
          <a:bodyPr wrap="square" lIns="0" tIns="0" rIns="0" bIns="0" rtlCol="0" anchor="t"/>
          <a:lstStyle/>
          <a:p>
            <a:pPr marL="0" indent="0" algn="l">
              <a:lnSpc>
                <a:spcPts val="1400"/>
              </a:lnSpc>
              <a:buNone/>
            </a:pPr>
            <a:r>
              <a:rPr lang="en-US" sz="1150" dirty="0">
                <a:solidFill>
                  <a:srgbClr val="2E2B45"/>
                </a:solidFill>
                <a:latin typeface="Bierstadt" panose="020B0004020202020204" pitchFamily="34" charset="0"/>
                <a:ea typeface="Calibri" pitchFamily="34" charset="-122"/>
                <a:cs typeface="Calibri" pitchFamily="34" charset="-120"/>
              </a:rPr>
              <a:t>Wrapping the pretrained HypDiff model in a dedicated pipeline that turns its generative reconstructions into a measurable stability signal.</a:t>
            </a:r>
            <a:endParaRPr lang="en-US" sz="1150" dirty="0">
              <a:latin typeface="Bierstadt" panose="020B0004020202020204" pitchFamily="34" charset="0"/>
            </a:endParaRPr>
          </a:p>
        </p:txBody>
      </p:sp>
      <p:sp>
        <p:nvSpPr>
          <p:cNvPr id="20" name="Shape 15"/>
          <p:cNvSpPr/>
          <p:nvPr/>
        </p:nvSpPr>
        <p:spPr>
          <a:xfrm>
            <a:off x="4709160" y="3198950"/>
            <a:ext cx="3931920" cy="1600200"/>
          </a:xfrm>
          <a:prstGeom prst="roundRect">
            <a:avLst>
              <a:gd name="adj" fmla="val 40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21" name="Shape 16"/>
          <p:cNvSpPr/>
          <p:nvPr/>
        </p:nvSpPr>
        <p:spPr>
          <a:xfrm>
            <a:off x="4910328" y="3381830"/>
            <a:ext cx="457200" cy="457200"/>
          </a:xfrm>
          <a:prstGeom prst="ellipse">
            <a:avLst/>
          </a:prstGeom>
          <a:solidFill>
            <a:srgbClr val="F1EFF7"/>
          </a:solidFill>
          <a:ln w="12700">
            <a:solidFill>
              <a:srgbClr val="B7B1CD"/>
            </a:solidFill>
            <a:prstDash val="solid"/>
          </a:ln>
        </p:spPr>
        <p:txBody>
          <a:bodyPr/>
          <a:lstStyle/>
          <a:p>
            <a:endParaRPr lang="en-IL"/>
          </a:p>
        </p:txBody>
      </p:sp>
      <p:pic>
        <p:nvPicPr>
          <p:cNvPr id="22" name="Image 3" descr="preencoded.png"/>
          <p:cNvPicPr>
            <a:picLocks noChangeAspect="1"/>
          </p:cNvPicPr>
          <p:nvPr/>
        </p:nvPicPr>
        <p:blipFill>
          <a:blip r:embed="rId6"/>
          <a:stretch>
            <a:fillRect/>
          </a:stretch>
        </p:blipFill>
        <p:spPr>
          <a:xfrm>
            <a:off x="5029200" y="3500702"/>
            <a:ext cx="219456" cy="219456"/>
          </a:xfrm>
          <a:prstGeom prst="rect">
            <a:avLst/>
          </a:prstGeom>
        </p:spPr>
      </p:pic>
      <p:sp>
        <p:nvSpPr>
          <p:cNvPr id="23" name="Text 17"/>
          <p:cNvSpPr/>
          <p:nvPr/>
        </p:nvSpPr>
        <p:spPr>
          <a:xfrm>
            <a:off x="5486400" y="3473270"/>
            <a:ext cx="3017520" cy="292608"/>
          </a:xfrm>
          <a:prstGeom prst="rect">
            <a:avLst/>
          </a:prstGeom>
          <a:noFill/>
          <a:ln/>
        </p:spPr>
        <p:txBody>
          <a:bodyPr wrap="square" lIns="0" tIns="0" rIns="0" bIns="0" rtlCol="0" anchor="ctr"/>
          <a:lstStyle/>
          <a:p>
            <a:pPr marL="0" indent="0" algn="l">
              <a:buNone/>
            </a:pPr>
            <a:r>
              <a:rPr lang="en-US" sz="1450" b="1" dirty="0">
                <a:solidFill>
                  <a:srgbClr val="4E4A73"/>
                </a:solidFill>
                <a:latin typeface="Aptos Black" panose="020B0004020202020204" pitchFamily="34" charset="0"/>
                <a:ea typeface="Arial" pitchFamily="34" charset="-122"/>
                <a:cs typeface="Arial" pitchFamily="34" charset="-120"/>
              </a:rPr>
              <a:t>Outcome</a:t>
            </a:r>
            <a:endParaRPr lang="en-US" sz="1450" dirty="0">
              <a:latin typeface="Aptos Black" panose="020B0004020202020204" pitchFamily="34" charset="0"/>
            </a:endParaRPr>
          </a:p>
        </p:txBody>
      </p:sp>
      <p:sp>
        <p:nvSpPr>
          <p:cNvPr id="24" name="Text 18"/>
          <p:cNvSpPr/>
          <p:nvPr/>
        </p:nvSpPr>
        <p:spPr>
          <a:xfrm>
            <a:off x="5486400" y="3820742"/>
            <a:ext cx="2926080" cy="822960"/>
          </a:xfrm>
          <a:prstGeom prst="rect">
            <a:avLst/>
          </a:prstGeom>
          <a:noFill/>
          <a:ln/>
        </p:spPr>
        <p:txBody>
          <a:bodyPr wrap="square" lIns="0" tIns="0" rIns="0" bIns="0" rtlCol="0" anchor="t"/>
          <a:lstStyle/>
          <a:p>
            <a:pPr marL="0" indent="0" algn="l">
              <a:lnSpc>
                <a:spcPts val="1400"/>
              </a:lnSpc>
              <a:buNone/>
            </a:pPr>
            <a:r>
              <a:rPr lang="en-US" sz="1150" dirty="0">
                <a:solidFill>
                  <a:srgbClr val="2E2B45"/>
                </a:solidFill>
                <a:latin typeface="Bierstadt" panose="020B0004020202020204" pitchFamily="34" charset="0"/>
                <a:ea typeface="Calibri" pitchFamily="34" charset="-122"/>
                <a:cs typeface="Calibri" pitchFamily="34" charset="-120"/>
              </a:rPr>
              <a:t>A precise, geometry-derived score that quantifies structural robustness using HypDiff's probabilistic reconstructions.</a:t>
            </a:r>
            <a:endParaRPr lang="en-US" sz="1150" dirty="0">
              <a:latin typeface="Bierstadt" panose="020B0004020202020204" pitchFamily="34" charset="0"/>
            </a:endParaRPr>
          </a:p>
        </p:txBody>
      </p:sp>
      <p:sp>
        <p:nvSpPr>
          <p:cNvPr id="25" name="Text 6">
            <a:extLst>
              <a:ext uri="{FF2B5EF4-FFF2-40B4-BE49-F238E27FC236}">
                <a16:creationId xmlns:a16="http://schemas.microsoft.com/office/drawing/2014/main" id="{9F899B1A-A442-05D6-F450-A5F614827AF1}"/>
              </a:ext>
            </a:extLst>
          </p:cNvPr>
          <p:cNvSpPr/>
          <p:nvPr/>
        </p:nvSpPr>
        <p:spPr>
          <a:xfrm>
            <a:off x="8770144" y="4876800"/>
            <a:ext cx="221456"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13" dirty="0">
                <a:solidFill>
                  <a:srgbClr val="7A75A3"/>
                </a:solidFill>
                <a:latin typeface="Arial" pitchFamily="34" charset="0"/>
                <a:ea typeface="Arial" pitchFamily="34" charset="-122"/>
                <a:cs typeface="Arial" pitchFamily="34" charset="-120"/>
              </a:rPr>
              <a:t>08</a:t>
            </a:r>
            <a:endParaRPr lang="en-US" sz="8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marL="0" indent="0">
              <a:buNone/>
            </a:pPr>
            <a:r>
              <a:rPr lang="en-US" sz="1100" b="1" kern="0" spc="300" dirty="0">
                <a:solidFill>
                  <a:srgbClr val="7A75A3"/>
                </a:solidFill>
                <a:latin typeface="Arial" pitchFamily="34" charset="0"/>
                <a:ea typeface="Arial" pitchFamily="34" charset="-122"/>
                <a:cs typeface="Arial" pitchFamily="34" charset="-120"/>
              </a:rPr>
              <a:t>SYSTEM DESIGN</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marL="0" indent="0">
              <a:buNone/>
            </a:pPr>
            <a:r>
              <a:rPr lang="en-US" sz="3000" b="1" dirty="0">
                <a:solidFill>
                  <a:srgbClr val="2E2B45"/>
                </a:solidFill>
                <a:latin typeface="Arial Black" panose="020B0A04020102020204" pitchFamily="34" charset="0"/>
                <a:ea typeface="Arial" pitchFamily="34" charset="-122"/>
                <a:cs typeface="Arial" pitchFamily="34" charset="-120"/>
              </a:rPr>
              <a:t>High-Level Architecture</a:t>
            </a:r>
            <a:endParaRPr lang="en-US" sz="3000" dirty="0">
              <a:latin typeface="Arial Black" panose="020B0A04020102020204" pitchFamily="34" charset="0"/>
            </a:endParaRPr>
          </a:p>
        </p:txBody>
      </p:sp>
      <p:sp>
        <p:nvSpPr>
          <p:cNvPr id="22" name="Text 6">
            <a:extLst>
              <a:ext uri="{FF2B5EF4-FFF2-40B4-BE49-F238E27FC236}">
                <a16:creationId xmlns:a16="http://schemas.microsoft.com/office/drawing/2014/main" id="{1E1CB761-F504-DFCB-75DC-8DBC4F1EC0E4}"/>
              </a:ext>
            </a:extLst>
          </p:cNvPr>
          <p:cNvSpPr/>
          <p:nvPr/>
        </p:nvSpPr>
        <p:spPr>
          <a:xfrm>
            <a:off x="8770144" y="4876800"/>
            <a:ext cx="221456"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13" dirty="0">
                <a:solidFill>
                  <a:srgbClr val="7A75A3"/>
                </a:solidFill>
                <a:latin typeface="Arial" pitchFamily="34" charset="0"/>
                <a:ea typeface="Arial" pitchFamily="34" charset="-122"/>
                <a:cs typeface="Arial" pitchFamily="34" charset="-120"/>
              </a:rPr>
              <a:t>09</a:t>
            </a:r>
            <a:endParaRPr lang="en-US" sz="825" dirty="0"/>
          </a:p>
        </p:txBody>
      </p:sp>
      <p:pic>
        <p:nvPicPr>
          <p:cNvPr id="1026" name="Picture 2">
            <a:extLst>
              <a:ext uri="{FF2B5EF4-FFF2-40B4-BE49-F238E27FC236}">
                <a16:creationId xmlns:a16="http://schemas.microsoft.com/office/drawing/2014/main" id="{E8E43A9A-F63C-96EE-5723-B4C064C13DD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269" t="12037" r="9467"/>
          <a:stretch>
            <a:fillRect/>
          </a:stretch>
        </p:blipFill>
        <p:spPr bwMode="auto">
          <a:xfrm>
            <a:off x="2457451" y="1050514"/>
            <a:ext cx="5486400" cy="3978686"/>
          </a:xfrm>
          <a:prstGeom prst="rect">
            <a:avLst/>
          </a:prstGeom>
          <a:noFill/>
          <a:extLst>
            <a:ext uri="{909E8E84-426E-40DD-AFC4-6F175D3DCCD1}">
              <a14:hiddenFill xmlns:a14="http://schemas.microsoft.com/office/drawing/2010/main">
                <a:solidFill>
                  <a:srgbClr val="FFFFFF"/>
                </a:solidFill>
              </a14:hiddenFill>
            </a:ext>
          </a:extLst>
        </p:spPr>
      </p:pic>
      <p:sp>
        <p:nvSpPr>
          <p:cNvPr id="24" name="Shape 4">
            <a:extLst>
              <a:ext uri="{FF2B5EF4-FFF2-40B4-BE49-F238E27FC236}">
                <a16:creationId xmlns:a16="http://schemas.microsoft.com/office/drawing/2014/main" id="{DEF217AB-7EC2-E32D-E455-8DBAA1B6A8FD}"/>
              </a:ext>
            </a:extLst>
          </p:cNvPr>
          <p:cNvSpPr/>
          <p:nvPr/>
        </p:nvSpPr>
        <p:spPr>
          <a:xfrm>
            <a:off x="190500" y="2266950"/>
            <a:ext cx="323850" cy="28575"/>
          </a:xfrm>
          <a:prstGeom prst="roundRect">
            <a:avLst>
              <a:gd name="adj" fmla="val 50000"/>
            </a:avLst>
          </a:prstGeom>
          <a:solidFill>
            <a:srgbClr val="7A75A3"/>
          </a:solidFill>
          <a:ln/>
        </p:spPr>
        <p:txBody>
          <a:bodyPr/>
          <a:lstStyle/>
          <a:p>
            <a:endParaRPr lang="en-IL"/>
          </a:p>
        </p:txBody>
      </p:sp>
      <p:sp>
        <p:nvSpPr>
          <p:cNvPr id="25" name="Text 5">
            <a:extLst>
              <a:ext uri="{FF2B5EF4-FFF2-40B4-BE49-F238E27FC236}">
                <a16:creationId xmlns:a16="http://schemas.microsoft.com/office/drawing/2014/main" id="{8DDDACAB-25C5-515E-AE5D-EF40F36EB21D}"/>
              </a:ext>
            </a:extLst>
          </p:cNvPr>
          <p:cNvSpPr/>
          <p:nvPr/>
        </p:nvSpPr>
        <p:spPr>
          <a:xfrm>
            <a:off x="190499" y="2381250"/>
            <a:ext cx="1851661" cy="632817"/>
          </a:xfrm>
          <a:prstGeom prst="rect">
            <a:avLst/>
          </a:prstGeom>
          <a:noFill/>
          <a:ln/>
        </p:spPr>
        <p:txBody>
          <a:bodyPr wrap="square" lIns="25400" tIns="25400" rIns="25400" bIns="25400" rtlCol="0" anchor="t">
            <a:noAutofit/>
          </a:bodyPr>
          <a:lstStyle/>
          <a:p>
            <a:pPr marL="0" indent="0" algn="l">
              <a:lnSpc>
                <a:spcPct val="142000"/>
              </a:lnSpc>
              <a:buNone/>
            </a:pPr>
            <a:r>
              <a:rPr lang="en-US" sz="1000" dirty="0">
                <a:solidFill>
                  <a:srgbClr val="4E4A73"/>
                </a:solidFill>
                <a:latin typeface="Bierstadt" panose="020B0004020202020204" pitchFamily="34" charset="0"/>
                <a:ea typeface="Arial" pitchFamily="34" charset="-122"/>
                <a:cs typeface="Arial" pitchFamily="34" charset="-120"/>
              </a:rPr>
              <a:t>This entire pipeline is executed once per damage threshold (e.g., 10%–50%), tracing how stability degrades as damage increases.</a:t>
            </a:r>
            <a:endParaRPr lang="en-US" sz="1000" dirty="0">
              <a:latin typeface="Bierstadt" panose="020B00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marL="0" indent="0">
              <a:buNone/>
            </a:pPr>
            <a:r>
              <a:rPr lang="en-US" sz="1100" b="1" kern="0" spc="300" dirty="0">
                <a:solidFill>
                  <a:srgbClr val="7A75A3"/>
                </a:solidFill>
                <a:latin typeface="Arial" pitchFamily="34" charset="0"/>
                <a:ea typeface="Arial" pitchFamily="34" charset="-122"/>
                <a:cs typeface="Arial" pitchFamily="34" charset="-120"/>
              </a:rPr>
              <a:t>MODULE 1</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marL="0" indent="0">
              <a:buNone/>
            </a:pPr>
            <a:r>
              <a:rPr lang="en-US" sz="3000" b="1" dirty="0">
                <a:solidFill>
                  <a:srgbClr val="2E2B45"/>
                </a:solidFill>
                <a:latin typeface="Arial Black" panose="020B0A04020102020204" pitchFamily="34" charset="0"/>
                <a:ea typeface="Arial" pitchFamily="34" charset="-122"/>
                <a:cs typeface="Arial" pitchFamily="34" charset="-120"/>
              </a:rPr>
              <a:t>Graph Perturbation Module</a:t>
            </a:r>
            <a:endParaRPr lang="en-US" sz="3000" dirty="0">
              <a:latin typeface="Arial Black" panose="020B0A04020102020204" pitchFamily="34" charset="0"/>
            </a:endParaRPr>
          </a:p>
        </p:txBody>
      </p:sp>
      <p:sp>
        <p:nvSpPr>
          <p:cNvPr id="4" name="Shape 2"/>
          <p:cNvSpPr/>
          <p:nvPr/>
        </p:nvSpPr>
        <p:spPr>
          <a:xfrm>
            <a:off x="502920" y="1371600"/>
            <a:ext cx="5216652" cy="777240"/>
          </a:xfrm>
          <a:prstGeom prst="roundRect">
            <a:avLst>
              <a:gd name="adj" fmla="val 8235"/>
            </a:avLst>
          </a:prstGeom>
          <a:solidFill>
            <a:srgbClr val="F1EFF7"/>
          </a:solidFill>
          <a:ln w="12700">
            <a:solidFill>
              <a:srgbClr val="B7B1CD"/>
            </a:solidFill>
            <a:prstDash val="solid"/>
          </a:ln>
          <a:effectLst>
            <a:outerShdw algn="bl" rotWithShape="0">
              <a:srgbClr val="3A3660">
                <a:alpha val="0"/>
              </a:srgbClr>
            </a:outerShdw>
          </a:effectLst>
        </p:spPr>
        <p:txBody>
          <a:bodyPr/>
          <a:lstStyle/>
          <a:p>
            <a:endParaRPr lang="en-IL"/>
          </a:p>
        </p:txBody>
      </p:sp>
      <p:sp>
        <p:nvSpPr>
          <p:cNvPr id="5" name="Shape 3"/>
          <p:cNvSpPr/>
          <p:nvPr/>
        </p:nvSpPr>
        <p:spPr>
          <a:xfrm>
            <a:off x="685800" y="1536192"/>
            <a:ext cx="438912" cy="438912"/>
          </a:xfrm>
          <a:prstGeom prst="ellipse">
            <a:avLst/>
          </a:prstGeom>
          <a:solidFill>
            <a:srgbClr val="F1EFF7"/>
          </a:solidFill>
          <a:ln w="12700">
            <a:solidFill>
              <a:srgbClr val="B7B1CD"/>
            </a:solidFill>
            <a:prstDash val="solid"/>
          </a:ln>
        </p:spPr>
        <p:txBody>
          <a:bodyPr/>
          <a:lstStyle/>
          <a:p>
            <a:endParaRPr lang="en-IL"/>
          </a:p>
        </p:txBody>
      </p:sp>
      <p:pic>
        <p:nvPicPr>
          <p:cNvPr id="6" name="Image 0" descr="preencoded.png"/>
          <p:cNvPicPr>
            <a:picLocks noChangeAspect="1"/>
          </p:cNvPicPr>
          <p:nvPr/>
        </p:nvPicPr>
        <p:blipFill>
          <a:blip r:embed="rId3"/>
          <a:stretch>
            <a:fillRect/>
          </a:stretch>
        </p:blipFill>
        <p:spPr>
          <a:xfrm>
            <a:off x="799917" y="1650309"/>
            <a:ext cx="210678" cy="210678"/>
          </a:xfrm>
          <a:prstGeom prst="rect">
            <a:avLst/>
          </a:prstGeom>
        </p:spPr>
      </p:pic>
      <p:sp>
        <p:nvSpPr>
          <p:cNvPr id="7" name="Text 4"/>
          <p:cNvSpPr/>
          <p:nvPr/>
        </p:nvSpPr>
        <p:spPr>
          <a:xfrm>
            <a:off x="1261872" y="1371600"/>
            <a:ext cx="4526280" cy="777240"/>
          </a:xfrm>
          <a:prstGeom prst="rect">
            <a:avLst/>
          </a:prstGeom>
          <a:noFill/>
          <a:ln/>
        </p:spPr>
        <p:txBody>
          <a:bodyPr wrap="square" lIns="0" tIns="0" rIns="0" bIns="0" rtlCol="0" anchor="ctr"/>
          <a:lstStyle/>
          <a:p>
            <a:pPr marL="0" indent="0">
              <a:buNone/>
            </a:pPr>
            <a:r>
              <a:rPr lang="en-US" sz="1250" b="1" dirty="0">
                <a:solidFill>
                  <a:srgbClr val="4E4A73"/>
                </a:solidFill>
                <a:latin typeface="Bierstadt" panose="020B0004020202020204" pitchFamily="34" charset="0"/>
                <a:ea typeface="Calibri" pitchFamily="34" charset="-122"/>
                <a:cs typeface="Calibri" pitchFamily="34" charset="-120"/>
              </a:rPr>
              <a:t>Goal   </a:t>
            </a:r>
            <a:r>
              <a:rPr lang="en-US" sz="1250" dirty="0">
                <a:solidFill>
                  <a:srgbClr val="2E2B45"/>
                </a:solidFill>
                <a:latin typeface="Bierstadt" panose="020B0004020202020204" pitchFamily="34" charset="0"/>
                <a:ea typeface="Calibri" pitchFamily="34" charset="-122"/>
                <a:cs typeface="Calibri" pitchFamily="34" charset="-120"/>
              </a:rPr>
              <a:t>Systematically removes edges to simulate dynamic structural disruptions.</a:t>
            </a:r>
            <a:endParaRPr lang="en-US" sz="1250" dirty="0">
              <a:latin typeface="Bierstadt" panose="020B0004020202020204" pitchFamily="34" charset="0"/>
            </a:endParaRPr>
          </a:p>
        </p:txBody>
      </p:sp>
      <p:sp>
        <p:nvSpPr>
          <p:cNvPr id="9" name="Shape 5"/>
          <p:cNvSpPr/>
          <p:nvPr/>
        </p:nvSpPr>
        <p:spPr>
          <a:xfrm>
            <a:off x="502920" y="3063240"/>
            <a:ext cx="2514600" cy="1828800"/>
          </a:xfrm>
          <a:prstGeom prst="roundRect">
            <a:avLst>
              <a:gd name="adj" fmla="val 35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10" name="Shape 6"/>
          <p:cNvSpPr/>
          <p:nvPr/>
        </p:nvSpPr>
        <p:spPr>
          <a:xfrm>
            <a:off x="685800" y="3227832"/>
            <a:ext cx="420624" cy="420624"/>
          </a:xfrm>
          <a:prstGeom prst="ellipse">
            <a:avLst/>
          </a:prstGeom>
          <a:solidFill>
            <a:srgbClr val="F1EFF7"/>
          </a:solidFill>
          <a:ln w="12700">
            <a:solidFill>
              <a:srgbClr val="B7B1CD"/>
            </a:solidFill>
            <a:prstDash val="solid"/>
          </a:ln>
        </p:spPr>
        <p:txBody>
          <a:bodyPr/>
          <a:lstStyle/>
          <a:p>
            <a:endParaRPr lang="en-IL"/>
          </a:p>
        </p:txBody>
      </p:sp>
      <p:pic>
        <p:nvPicPr>
          <p:cNvPr id="11" name="Image 2" descr="preencoded.png"/>
          <p:cNvPicPr>
            <a:picLocks noChangeAspect="1"/>
          </p:cNvPicPr>
          <p:nvPr/>
        </p:nvPicPr>
        <p:blipFill>
          <a:blip r:embed="rId4"/>
          <a:stretch>
            <a:fillRect/>
          </a:stretch>
        </p:blipFill>
        <p:spPr>
          <a:xfrm>
            <a:off x="795162" y="3337194"/>
            <a:ext cx="201900" cy="201900"/>
          </a:xfrm>
          <a:prstGeom prst="rect">
            <a:avLst/>
          </a:prstGeom>
        </p:spPr>
      </p:pic>
      <p:sp>
        <p:nvSpPr>
          <p:cNvPr id="12" name="Text 7"/>
          <p:cNvSpPr/>
          <p:nvPr/>
        </p:nvSpPr>
        <p:spPr>
          <a:xfrm>
            <a:off x="1216152" y="3300984"/>
            <a:ext cx="1691640" cy="292608"/>
          </a:xfrm>
          <a:prstGeom prst="rect">
            <a:avLst/>
          </a:prstGeom>
          <a:noFill/>
          <a:ln/>
        </p:spPr>
        <p:txBody>
          <a:bodyPr wrap="square" lIns="0" tIns="0" rIns="0" bIns="0" rtlCol="0" anchor="ctr"/>
          <a:lstStyle/>
          <a:p>
            <a:pPr marL="0" indent="0" algn="l">
              <a:buNone/>
            </a:pPr>
            <a:r>
              <a:rPr lang="en-US" sz="1200" b="1" dirty="0">
                <a:solidFill>
                  <a:srgbClr val="4E4A73"/>
                </a:solidFill>
                <a:latin typeface="Aptos Black" panose="020B0004020202020204" pitchFamily="34" charset="0"/>
                <a:ea typeface="Arial" pitchFamily="34" charset="-122"/>
                <a:cs typeface="Arial" pitchFamily="34" charset="-120"/>
              </a:rPr>
              <a:t>Random Edge Removals</a:t>
            </a:r>
            <a:endParaRPr lang="en-US" sz="1200" dirty="0">
              <a:latin typeface="Aptos Black" panose="020B0004020202020204" pitchFamily="34" charset="0"/>
            </a:endParaRPr>
          </a:p>
        </p:txBody>
      </p:sp>
      <p:sp>
        <p:nvSpPr>
          <p:cNvPr id="13" name="Text 8"/>
          <p:cNvSpPr/>
          <p:nvPr/>
        </p:nvSpPr>
        <p:spPr>
          <a:xfrm>
            <a:off x="731520" y="3749040"/>
            <a:ext cx="2057400" cy="1005840"/>
          </a:xfrm>
          <a:prstGeom prst="rect">
            <a:avLst/>
          </a:prstGeom>
          <a:noFill/>
          <a:ln/>
        </p:spPr>
        <p:txBody>
          <a:bodyPr wrap="square" lIns="0" tIns="0" rIns="0" bIns="0" rtlCol="0" anchor="t"/>
          <a:lstStyle/>
          <a:p>
            <a:pPr marL="0" indent="0" algn="l">
              <a:lnSpc>
                <a:spcPts val="1400"/>
              </a:lnSpc>
              <a:buNone/>
            </a:pPr>
            <a:r>
              <a:rPr lang="en-US" sz="1100" dirty="0">
                <a:solidFill>
                  <a:srgbClr val="2E2B45"/>
                </a:solidFill>
                <a:latin typeface="Bierstadt" panose="020B0004020202020204" pitchFamily="34" charset="0"/>
                <a:ea typeface="Calibri" pitchFamily="34" charset="-122"/>
                <a:cs typeface="Calibri" pitchFamily="34" charset="-120"/>
              </a:rPr>
              <a:t>Deletes connections uniformly based on a predefined fraction.</a:t>
            </a:r>
            <a:endParaRPr lang="en-US" sz="1100" dirty="0">
              <a:latin typeface="Bierstadt" panose="020B0004020202020204" pitchFamily="34" charset="0"/>
            </a:endParaRPr>
          </a:p>
        </p:txBody>
      </p:sp>
      <p:sp>
        <p:nvSpPr>
          <p:cNvPr id="15" name="Shape 10"/>
          <p:cNvSpPr/>
          <p:nvPr/>
        </p:nvSpPr>
        <p:spPr>
          <a:xfrm>
            <a:off x="3314700" y="3063240"/>
            <a:ext cx="2514600" cy="1828800"/>
          </a:xfrm>
          <a:prstGeom prst="roundRect">
            <a:avLst>
              <a:gd name="adj" fmla="val 35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16" name="Shape 11"/>
          <p:cNvSpPr/>
          <p:nvPr/>
        </p:nvSpPr>
        <p:spPr>
          <a:xfrm>
            <a:off x="3497580" y="3227832"/>
            <a:ext cx="420624" cy="420624"/>
          </a:xfrm>
          <a:prstGeom prst="ellipse">
            <a:avLst/>
          </a:prstGeom>
          <a:solidFill>
            <a:srgbClr val="F1EFF7"/>
          </a:solidFill>
          <a:ln w="12700">
            <a:solidFill>
              <a:srgbClr val="B7B1CD"/>
            </a:solidFill>
            <a:prstDash val="solid"/>
          </a:ln>
        </p:spPr>
        <p:txBody>
          <a:bodyPr/>
          <a:lstStyle/>
          <a:p>
            <a:endParaRPr lang="en-IL"/>
          </a:p>
        </p:txBody>
      </p:sp>
      <p:pic>
        <p:nvPicPr>
          <p:cNvPr id="17" name="Image 3" descr="preencoded.png"/>
          <p:cNvPicPr>
            <a:picLocks noChangeAspect="1"/>
          </p:cNvPicPr>
          <p:nvPr/>
        </p:nvPicPr>
        <p:blipFill>
          <a:blip r:embed="rId5"/>
          <a:stretch>
            <a:fillRect/>
          </a:stretch>
        </p:blipFill>
        <p:spPr>
          <a:xfrm>
            <a:off x="3606942" y="3337194"/>
            <a:ext cx="201900" cy="201900"/>
          </a:xfrm>
          <a:prstGeom prst="rect">
            <a:avLst/>
          </a:prstGeom>
        </p:spPr>
      </p:pic>
      <p:sp>
        <p:nvSpPr>
          <p:cNvPr id="18" name="Text 12"/>
          <p:cNvSpPr/>
          <p:nvPr/>
        </p:nvSpPr>
        <p:spPr>
          <a:xfrm>
            <a:off x="4027932" y="3300984"/>
            <a:ext cx="1691640" cy="292608"/>
          </a:xfrm>
          <a:prstGeom prst="rect">
            <a:avLst/>
          </a:prstGeom>
          <a:noFill/>
          <a:ln/>
        </p:spPr>
        <p:txBody>
          <a:bodyPr wrap="square" lIns="0" tIns="0" rIns="0" bIns="0" rtlCol="0" anchor="ctr"/>
          <a:lstStyle/>
          <a:p>
            <a:pPr marL="0" indent="0" algn="l">
              <a:buNone/>
            </a:pPr>
            <a:r>
              <a:rPr lang="en-US" sz="1200" b="1" dirty="0">
                <a:solidFill>
                  <a:srgbClr val="4E4A73"/>
                </a:solidFill>
                <a:latin typeface="Aptos Black" panose="020B0004020202020204" pitchFamily="34" charset="0"/>
                <a:ea typeface="Arial" pitchFamily="34" charset="-122"/>
                <a:cs typeface="Arial" pitchFamily="34" charset="-120"/>
              </a:rPr>
              <a:t>Targeted Attacks</a:t>
            </a:r>
            <a:endParaRPr lang="en-US" sz="1200" dirty="0">
              <a:latin typeface="Aptos Black" panose="020B0004020202020204" pitchFamily="34" charset="0"/>
            </a:endParaRPr>
          </a:p>
        </p:txBody>
      </p:sp>
      <p:sp>
        <p:nvSpPr>
          <p:cNvPr id="19" name="Text 13"/>
          <p:cNvSpPr/>
          <p:nvPr/>
        </p:nvSpPr>
        <p:spPr>
          <a:xfrm>
            <a:off x="3543300" y="3749040"/>
            <a:ext cx="2057400" cy="1005840"/>
          </a:xfrm>
          <a:prstGeom prst="rect">
            <a:avLst/>
          </a:prstGeom>
          <a:noFill/>
          <a:ln/>
        </p:spPr>
        <p:txBody>
          <a:bodyPr wrap="square" lIns="0" tIns="0" rIns="0" bIns="0" rtlCol="0" anchor="t"/>
          <a:lstStyle/>
          <a:p>
            <a:pPr marL="0" indent="0" algn="l">
              <a:lnSpc>
                <a:spcPts val="1400"/>
              </a:lnSpc>
              <a:buNone/>
            </a:pPr>
            <a:r>
              <a:rPr lang="en-US" sz="1100" dirty="0">
                <a:solidFill>
                  <a:srgbClr val="2E2B45"/>
                </a:solidFill>
                <a:latin typeface="Bierstadt" panose="020B0004020202020204" pitchFamily="34" charset="0"/>
                <a:ea typeface="Calibri" pitchFamily="34" charset="-122"/>
                <a:cs typeface="Calibri" pitchFamily="34" charset="-120"/>
              </a:rPr>
              <a:t>Removes the highest-impact connections based on Degree Centrality.</a:t>
            </a:r>
            <a:endParaRPr lang="en-US" sz="1100" dirty="0">
              <a:latin typeface="Bierstadt" panose="020B0004020202020204" pitchFamily="34" charset="0"/>
            </a:endParaRPr>
          </a:p>
        </p:txBody>
      </p:sp>
      <p:sp>
        <p:nvSpPr>
          <p:cNvPr id="21" name="Shape 15"/>
          <p:cNvSpPr/>
          <p:nvPr/>
        </p:nvSpPr>
        <p:spPr>
          <a:xfrm>
            <a:off x="6126480" y="3063240"/>
            <a:ext cx="2514600" cy="1828800"/>
          </a:xfrm>
          <a:prstGeom prst="roundRect">
            <a:avLst>
              <a:gd name="adj" fmla="val 35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22" name="Shape 16"/>
          <p:cNvSpPr/>
          <p:nvPr/>
        </p:nvSpPr>
        <p:spPr>
          <a:xfrm>
            <a:off x="6309360" y="3227832"/>
            <a:ext cx="420624" cy="420624"/>
          </a:xfrm>
          <a:prstGeom prst="ellipse">
            <a:avLst/>
          </a:prstGeom>
          <a:solidFill>
            <a:srgbClr val="F1EFF7"/>
          </a:solidFill>
          <a:ln w="12700">
            <a:solidFill>
              <a:srgbClr val="B7B1CD"/>
            </a:solidFill>
            <a:prstDash val="solid"/>
          </a:ln>
        </p:spPr>
        <p:txBody>
          <a:bodyPr/>
          <a:lstStyle/>
          <a:p>
            <a:endParaRPr lang="en-IL"/>
          </a:p>
        </p:txBody>
      </p:sp>
      <p:pic>
        <p:nvPicPr>
          <p:cNvPr id="23" name="Image 4" descr="preencoded.png"/>
          <p:cNvPicPr>
            <a:picLocks noChangeAspect="1"/>
          </p:cNvPicPr>
          <p:nvPr/>
        </p:nvPicPr>
        <p:blipFill>
          <a:blip r:embed="rId6"/>
          <a:stretch>
            <a:fillRect/>
          </a:stretch>
        </p:blipFill>
        <p:spPr>
          <a:xfrm>
            <a:off x="6418722" y="3337194"/>
            <a:ext cx="201900" cy="201900"/>
          </a:xfrm>
          <a:prstGeom prst="rect">
            <a:avLst/>
          </a:prstGeom>
        </p:spPr>
      </p:pic>
      <p:sp>
        <p:nvSpPr>
          <p:cNvPr id="24" name="Text 17"/>
          <p:cNvSpPr/>
          <p:nvPr/>
        </p:nvSpPr>
        <p:spPr>
          <a:xfrm>
            <a:off x="6839712" y="3300984"/>
            <a:ext cx="1691640" cy="292608"/>
          </a:xfrm>
          <a:prstGeom prst="rect">
            <a:avLst/>
          </a:prstGeom>
          <a:noFill/>
          <a:ln/>
        </p:spPr>
        <p:txBody>
          <a:bodyPr wrap="square" lIns="0" tIns="0" rIns="0" bIns="0" rtlCol="0" anchor="ctr"/>
          <a:lstStyle/>
          <a:p>
            <a:pPr marL="0" indent="0" algn="l">
              <a:buNone/>
            </a:pPr>
            <a:r>
              <a:rPr lang="en-US" sz="1200" b="1" dirty="0">
                <a:solidFill>
                  <a:srgbClr val="4E4A73"/>
                </a:solidFill>
                <a:latin typeface="Aptos Black" panose="020B0004020202020204" pitchFamily="34" charset="0"/>
                <a:ea typeface="Arial" pitchFamily="34" charset="-122"/>
                <a:cs typeface="Arial" pitchFamily="34" charset="-120"/>
              </a:rPr>
              <a:t>Iterative Batch Generation</a:t>
            </a:r>
            <a:endParaRPr lang="en-US" sz="1200" dirty="0">
              <a:latin typeface="Aptos Black" panose="020B0004020202020204" pitchFamily="34" charset="0"/>
            </a:endParaRPr>
          </a:p>
        </p:txBody>
      </p:sp>
      <p:sp>
        <p:nvSpPr>
          <p:cNvPr id="25" name="Text 18"/>
          <p:cNvSpPr/>
          <p:nvPr/>
        </p:nvSpPr>
        <p:spPr>
          <a:xfrm>
            <a:off x="6355080" y="3749040"/>
            <a:ext cx="2057400" cy="1005840"/>
          </a:xfrm>
          <a:prstGeom prst="rect">
            <a:avLst/>
          </a:prstGeom>
          <a:noFill/>
          <a:ln/>
        </p:spPr>
        <p:txBody>
          <a:bodyPr wrap="square" lIns="0" tIns="0" rIns="0" bIns="0" rtlCol="0" anchor="t"/>
          <a:lstStyle/>
          <a:p>
            <a:pPr marL="0" indent="0" algn="l">
              <a:lnSpc>
                <a:spcPts val="1400"/>
              </a:lnSpc>
              <a:buNone/>
            </a:pPr>
            <a:r>
              <a:rPr lang="en-US" sz="1100" dirty="0">
                <a:solidFill>
                  <a:srgbClr val="2E2B45"/>
                </a:solidFill>
                <a:latin typeface="Bierstadt" panose="020B0004020202020204" pitchFamily="34" charset="0"/>
                <a:ea typeface="Calibri" pitchFamily="34" charset="-122"/>
                <a:cs typeface="Calibri" pitchFamily="34" charset="-120"/>
              </a:rPr>
              <a:t>Repeats the removal process N independent times, producing a batch of N perturbed matrices for statistical reliability.</a:t>
            </a:r>
            <a:endParaRPr lang="en-US" sz="1100" dirty="0">
              <a:latin typeface="Bierstadt" panose="020B0004020202020204" pitchFamily="34" charset="0"/>
            </a:endParaRPr>
          </a:p>
        </p:txBody>
      </p:sp>
      <p:sp>
        <p:nvSpPr>
          <p:cNvPr id="14" name="Text 6">
            <a:extLst>
              <a:ext uri="{FF2B5EF4-FFF2-40B4-BE49-F238E27FC236}">
                <a16:creationId xmlns:a16="http://schemas.microsoft.com/office/drawing/2014/main" id="{A04B0B50-697E-D040-F36D-EADE5822BFCC}"/>
              </a:ext>
            </a:extLst>
          </p:cNvPr>
          <p:cNvSpPr/>
          <p:nvPr/>
        </p:nvSpPr>
        <p:spPr>
          <a:xfrm>
            <a:off x="8770144" y="4876800"/>
            <a:ext cx="221456"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13" dirty="0">
                <a:solidFill>
                  <a:srgbClr val="7A75A3"/>
                </a:solidFill>
                <a:latin typeface="Arial" pitchFamily="34" charset="0"/>
                <a:ea typeface="Arial" pitchFamily="34" charset="-122"/>
                <a:cs typeface="Arial" pitchFamily="34" charset="-120"/>
              </a:rPr>
              <a:t>10</a:t>
            </a:r>
            <a:endParaRPr lang="en-US" sz="825" dirty="0"/>
          </a:p>
        </p:txBody>
      </p:sp>
      <p:pic>
        <p:nvPicPr>
          <p:cNvPr id="30" name="תמונה 29">
            <a:extLst>
              <a:ext uri="{FF2B5EF4-FFF2-40B4-BE49-F238E27FC236}">
                <a16:creationId xmlns:a16="http://schemas.microsoft.com/office/drawing/2014/main" id="{8683EA3C-84FF-238B-EBF8-9EC9C6BE3BD9}"/>
              </a:ext>
            </a:extLst>
          </p:cNvPr>
          <p:cNvPicPr>
            <a:picLocks noChangeAspect="1"/>
          </p:cNvPicPr>
          <p:nvPr/>
        </p:nvPicPr>
        <p:blipFill>
          <a:blip r:embed="rId7"/>
          <a:stretch>
            <a:fillRect/>
          </a:stretch>
        </p:blipFill>
        <p:spPr>
          <a:xfrm>
            <a:off x="5788152" y="1121425"/>
            <a:ext cx="3160513" cy="191766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marL="0" indent="0">
              <a:buNone/>
            </a:pPr>
            <a:r>
              <a:rPr lang="en-US" sz="1100" b="1" kern="0" spc="300" dirty="0">
                <a:solidFill>
                  <a:srgbClr val="7A75A3"/>
                </a:solidFill>
                <a:latin typeface="Arial" pitchFamily="34" charset="0"/>
                <a:ea typeface="Arial" pitchFamily="34" charset="-122"/>
                <a:cs typeface="Arial" pitchFamily="34" charset="-120"/>
              </a:rPr>
              <a:t>MODULE 2</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marL="0" indent="0">
              <a:buNone/>
            </a:pPr>
            <a:r>
              <a:rPr lang="en-US" sz="3000" b="1" dirty="0">
                <a:solidFill>
                  <a:srgbClr val="2E2B45"/>
                </a:solidFill>
                <a:latin typeface="Arial" pitchFamily="34" charset="0"/>
                <a:ea typeface="Arial" pitchFamily="34" charset="-122"/>
                <a:cs typeface="Arial" pitchFamily="34" charset="-120"/>
              </a:rPr>
              <a:t>Generative Recovery Module</a:t>
            </a:r>
            <a:endParaRPr lang="en-US" sz="3000" dirty="0"/>
          </a:p>
        </p:txBody>
      </p:sp>
      <p:sp>
        <p:nvSpPr>
          <p:cNvPr id="4" name="Shape 2"/>
          <p:cNvSpPr/>
          <p:nvPr/>
        </p:nvSpPr>
        <p:spPr>
          <a:xfrm>
            <a:off x="502919" y="1371600"/>
            <a:ext cx="7259956" cy="777240"/>
          </a:xfrm>
          <a:prstGeom prst="roundRect">
            <a:avLst>
              <a:gd name="adj" fmla="val 8235"/>
            </a:avLst>
          </a:prstGeom>
          <a:solidFill>
            <a:srgbClr val="F1EFF7"/>
          </a:solidFill>
          <a:ln w="12700">
            <a:solidFill>
              <a:srgbClr val="B7B1CD"/>
            </a:solidFill>
            <a:prstDash val="solid"/>
          </a:ln>
          <a:effectLst>
            <a:outerShdw algn="bl" rotWithShape="0">
              <a:srgbClr val="3A3660">
                <a:alpha val="0"/>
              </a:srgbClr>
            </a:outerShdw>
          </a:effectLst>
        </p:spPr>
        <p:txBody>
          <a:bodyPr/>
          <a:lstStyle/>
          <a:p>
            <a:endParaRPr lang="en-IL"/>
          </a:p>
        </p:txBody>
      </p:sp>
      <p:sp>
        <p:nvSpPr>
          <p:cNvPr id="5" name="Shape 3"/>
          <p:cNvSpPr/>
          <p:nvPr/>
        </p:nvSpPr>
        <p:spPr>
          <a:xfrm>
            <a:off x="685800" y="1536192"/>
            <a:ext cx="438912" cy="438912"/>
          </a:xfrm>
          <a:prstGeom prst="ellipse">
            <a:avLst/>
          </a:prstGeom>
          <a:solidFill>
            <a:srgbClr val="F1EFF7"/>
          </a:solidFill>
          <a:ln w="12700">
            <a:solidFill>
              <a:srgbClr val="B7B1CD"/>
            </a:solidFill>
            <a:prstDash val="solid"/>
          </a:ln>
        </p:spPr>
        <p:txBody>
          <a:bodyPr/>
          <a:lstStyle/>
          <a:p>
            <a:endParaRPr lang="en-IL"/>
          </a:p>
        </p:txBody>
      </p:sp>
      <p:pic>
        <p:nvPicPr>
          <p:cNvPr id="6" name="Image 0" descr="preencoded.png"/>
          <p:cNvPicPr>
            <a:picLocks noChangeAspect="1"/>
          </p:cNvPicPr>
          <p:nvPr/>
        </p:nvPicPr>
        <p:blipFill>
          <a:blip r:embed="rId3"/>
          <a:stretch>
            <a:fillRect/>
          </a:stretch>
        </p:blipFill>
        <p:spPr>
          <a:xfrm>
            <a:off x="799917" y="1650309"/>
            <a:ext cx="210678" cy="210678"/>
          </a:xfrm>
          <a:prstGeom prst="rect">
            <a:avLst/>
          </a:prstGeom>
        </p:spPr>
      </p:pic>
      <p:sp>
        <p:nvSpPr>
          <p:cNvPr id="7" name="Text 4"/>
          <p:cNvSpPr/>
          <p:nvPr/>
        </p:nvSpPr>
        <p:spPr>
          <a:xfrm>
            <a:off x="1261871" y="1371600"/>
            <a:ext cx="6300795" cy="777240"/>
          </a:xfrm>
          <a:prstGeom prst="rect">
            <a:avLst/>
          </a:prstGeom>
          <a:noFill/>
          <a:ln/>
        </p:spPr>
        <p:txBody>
          <a:bodyPr wrap="square" lIns="0" tIns="0" rIns="0" bIns="0" rtlCol="0" anchor="ctr"/>
          <a:lstStyle/>
          <a:p>
            <a:r>
              <a:rPr lang="en-US" sz="1250" b="1" dirty="0">
                <a:solidFill>
                  <a:srgbClr val="4E4A73"/>
                </a:solidFill>
                <a:latin typeface="Bierstadt" panose="020B0004020202020204" pitchFamily="34" charset="0"/>
                <a:ea typeface="Calibri" pitchFamily="34" charset="-122"/>
                <a:cs typeface="Calibri" pitchFamily="34" charset="-120"/>
              </a:rPr>
              <a:t>Goal </a:t>
            </a:r>
            <a:r>
              <a:rPr lang="he-IL" sz="1250" b="1" dirty="0">
                <a:solidFill>
                  <a:srgbClr val="4E4A73"/>
                </a:solidFill>
                <a:latin typeface="Bierstadt" panose="020B0004020202020204" pitchFamily="34" charset="0"/>
                <a:ea typeface="Calibri" pitchFamily="34" charset="-122"/>
                <a:cs typeface="Calibri" pitchFamily="34" charset="-120"/>
              </a:rPr>
              <a:t> </a:t>
            </a:r>
            <a:r>
              <a:rPr lang="en-IL" sz="1400" dirty="0">
                <a:latin typeface="Bierstadt" panose="020B0004020202020204" pitchFamily="34" charset="0"/>
              </a:rPr>
              <a:t>Reuse pretrained HypDiff to sample K reconstructions per perturbed graph</a:t>
            </a:r>
            <a:endParaRPr lang="en-US" sz="1250" dirty="0">
              <a:latin typeface="Bierstadt" panose="020B0004020202020204" pitchFamily="34" charset="0"/>
            </a:endParaRPr>
          </a:p>
        </p:txBody>
      </p:sp>
      <p:sp>
        <p:nvSpPr>
          <p:cNvPr id="27" name="Text 6">
            <a:extLst>
              <a:ext uri="{FF2B5EF4-FFF2-40B4-BE49-F238E27FC236}">
                <a16:creationId xmlns:a16="http://schemas.microsoft.com/office/drawing/2014/main" id="{20FBC6C4-5DE9-8338-2910-7283C378BF43}"/>
              </a:ext>
            </a:extLst>
          </p:cNvPr>
          <p:cNvSpPr/>
          <p:nvPr/>
        </p:nvSpPr>
        <p:spPr>
          <a:xfrm>
            <a:off x="8770144" y="4876800"/>
            <a:ext cx="221456"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13" dirty="0">
                <a:solidFill>
                  <a:srgbClr val="7A75A3"/>
                </a:solidFill>
                <a:latin typeface="Arial" pitchFamily="34" charset="0"/>
                <a:ea typeface="Arial" pitchFamily="34" charset="-122"/>
                <a:cs typeface="Arial" pitchFamily="34" charset="-120"/>
              </a:rPr>
              <a:t>11</a:t>
            </a:r>
            <a:endParaRPr lang="en-US" sz="825" dirty="0"/>
          </a:p>
        </p:txBody>
      </p:sp>
      <p:sp>
        <p:nvSpPr>
          <p:cNvPr id="28" name="Shape 12">
            <a:extLst>
              <a:ext uri="{FF2B5EF4-FFF2-40B4-BE49-F238E27FC236}">
                <a16:creationId xmlns:a16="http://schemas.microsoft.com/office/drawing/2014/main" id="{8900C6BE-EB21-F3FD-6E53-01CA9A9B7AA8}"/>
              </a:ext>
            </a:extLst>
          </p:cNvPr>
          <p:cNvSpPr/>
          <p:nvPr/>
        </p:nvSpPr>
        <p:spPr>
          <a:xfrm>
            <a:off x="502890" y="2495550"/>
            <a:ext cx="1809750" cy="2381250"/>
          </a:xfrm>
          <a:prstGeom prst="roundRect">
            <a:avLst>
              <a:gd name="adj" fmla="val 5263"/>
            </a:avLst>
          </a:prstGeom>
          <a:solidFill>
            <a:srgbClr val="FFFFFF"/>
          </a:solidFill>
          <a:ln w="9525">
            <a:solidFill>
              <a:srgbClr val="D8D6E2"/>
            </a:solidFill>
            <a:prstDash val="solid"/>
          </a:ln>
        </p:spPr>
        <p:txBody>
          <a:bodyPr/>
          <a:lstStyle/>
          <a:p>
            <a:endParaRPr lang="en-IL"/>
          </a:p>
        </p:txBody>
      </p:sp>
      <p:sp>
        <p:nvSpPr>
          <p:cNvPr id="29" name="Shape 13">
            <a:extLst>
              <a:ext uri="{FF2B5EF4-FFF2-40B4-BE49-F238E27FC236}">
                <a16:creationId xmlns:a16="http://schemas.microsoft.com/office/drawing/2014/main" id="{D63FAD0E-A14F-ACCF-FBB2-7E033B97B72E}"/>
              </a:ext>
            </a:extLst>
          </p:cNvPr>
          <p:cNvSpPr/>
          <p:nvPr/>
        </p:nvSpPr>
        <p:spPr>
          <a:xfrm>
            <a:off x="664815" y="2657475"/>
            <a:ext cx="381000" cy="381000"/>
          </a:xfrm>
          <a:prstGeom prst="ellipse">
            <a:avLst/>
          </a:prstGeom>
          <a:solidFill>
            <a:srgbClr val="F1EFF7"/>
          </a:solidFill>
          <a:ln w="9525">
            <a:solidFill>
              <a:srgbClr val="B7B1CD"/>
            </a:solidFill>
            <a:prstDash val="solid"/>
          </a:ln>
        </p:spPr>
        <p:txBody>
          <a:bodyPr/>
          <a:lstStyle/>
          <a:p>
            <a:endParaRPr lang="en-IL"/>
          </a:p>
        </p:txBody>
      </p:sp>
      <p:pic>
        <p:nvPicPr>
          <p:cNvPr id="30" name="Image 6" descr="preencoded.png">
            <a:extLst>
              <a:ext uri="{FF2B5EF4-FFF2-40B4-BE49-F238E27FC236}">
                <a16:creationId xmlns:a16="http://schemas.microsoft.com/office/drawing/2014/main" id="{F0022839-386C-1CB0-CBA5-90FC82888F9F}"/>
              </a:ext>
            </a:extLst>
          </p:cNvPr>
          <p:cNvPicPr>
            <a:picLocks noChangeAspect="1"/>
          </p:cNvPicPr>
          <p:nvPr/>
        </p:nvPicPr>
        <p:blipFill>
          <a:blip r:embed="rId4"/>
          <a:srcRect/>
          <a:stretch/>
        </p:blipFill>
        <p:spPr>
          <a:xfrm>
            <a:off x="755303" y="2747963"/>
            <a:ext cx="200025" cy="200025"/>
          </a:xfrm>
          <a:prstGeom prst="rect">
            <a:avLst/>
          </a:prstGeom>
        </p:spPr>
      </p:pic>
      <p:sp>
        <p:nvSpPr>
          <p:cNvPr id="31" name="Text 14">
            <a:extLst>
              <a:ext uri="{FF2B5EF4-FFF2-40B4-BE49-F238E27FC236}">
                <a16:creationId xmlns:a16="http://schemas.microsoft.com/office/drawing/2014/main" id="{7B75697C-6D2E-0BF4-3514-A927BC2E757E}"/>
              </a:ext>
            </a:extLst>
          </p:cNvPr>
          <p:cNvSpPr/>
          <p:nvPr/>
        </p:nvSpPr>
        <p:spPr>
          <a:xfrm>
            <a:off x="664815" y="3124200"/>
            <a:ext cx="1634490" cy="198239"/>
          </a:xfrm>
          <a:prstGeom prst="rect">
            <a:avLst/>
          </a:prstGeom>
          <a:noFill/>
          <a:ln/>
        </p:spPr>
        <p:txBody>
          <a:bodyPr wrap="square" lIns="25400" tIns="25400" rIns="25400" bIns="25400" rtlCol="0" anchor="t">
            <a:noAutofit/>
          </a:bodyPr>
          <a:lstStyle/>
          <a:p>
            <a:pPr marL="0" indent="0" algn="l">
              <a:lnSpc>
                <a:spcPct val="116000"/>
              </a:lnSpc>
              <a:buNone/>
            </a:pPr>
            <a:r>
              <a:rPr lang="en-US" sz="1100" b="1" dirty="0">
                <a:solidFill>
                  <a:srgbClr val="4E4A73"/>
                </a:solidFill>
                <a:latin typeface="Aptos Black" panose="020B0004020202020204" pitchFamily="34" charset="0"/>
                <a:ea typeface="Arial" pitchFamily="34" charset="-122"/>
                <a:cs typeface="Arial" pitchFamily="34" charset="-120"/>
              </a:rPr>
              <a:t>Hyperbolic Encoding</a:t>
            </a:r>
            <a:endParaRPr lang="en-US" sz="1100" dirty="0">
              <a:solidFill>
                <a:srgbClr val="4E4A73"/>
              </a:solidFill>
              <a:latin typeface="Aptos Black" panose="020B0004020202020204" pitchFamily="34" charset="0"/>
            </a:endParaRPr>
          </a:p>
        </p:txBody>
      </p:sp>
      <p:sp>
        <p:nvSpPr>
          <p:cNvPr id="32" name="Text 15">
            <a:extLst>
              <a:ext uri="{FF2B5EF4-FFF2-40B4-BE49-F238E27FC236}">
                <a16:creationId xmlns:a16="http://schemas.microsoft.com/office/drawing/2014/main" id="{38B246AA-072F-9939-A395-41D2488FB8AA}"/>
              </a:ext>
            </a:extLst>
          </p:cNvPr>
          <p:cNvSpPr/>
          <p:nvPr/>
        </p:nvSpPr>
        <p:spPr>
          <a:xfrm>
            <a:off x="685800" y="3576638"/>
            <a:ext cx="1562100" cy="678061"/>
          </a:xfrm>
          <a:prstGeom prst="rect">
            <a:avLst/>
          </a:prstGeom>
          <a:noFill/>
          <a:ln/>
        </p:spPr>
        <p:txBody>
          <a:bodyPr wrap="square" lIns="25400" tIns="25400" rIns="25400" bIns="25400" rtlCol="0" anchor="t">
            <a:noAutofit/>
          </a:bodyPr>
          <a:lstStyle/>
          <a:p>
            <a:pPr marL="0" indent="0" algn="l">
              <a:lnSpc>
                <a:spcPct val="140000"/>
              </a:lnSpc>
              <a:buNone/>
            </a:pPr>
            <a:r>
              <a:rPr lang="en-US" sz="1000" dirty="0">
                <a:solidFill>
                  <a:srgbClr val="2E2B45"/>
                </a:solidFill>
                <a:latin typeface="Bierstadt" panose="020B0004020202020204" pitchFamily="34" charset="0"/>
                <a:ea typeface="Arial" pitchFamily="34" charset="-122"/>
                <a:cs typeface="Arial" pitchFamily="34" charset="-120"/>
              </a:rPr>
              <a:t>HGCN embeds the perturbed graph into latent space, keeping the surviving structure.</a:t>
            </a:r>
            <a:endParaRPr lang="en-US" sz="1000" dirty="0">
              <a:latin typeface="Bierstadt" panose="020B0004020202020204" pitchFamily="34" charset="0"/>
            </a:endParaRPr>
          </a:p>
        </p:txBody>
      </p:sp>
      <p:sp>
        <p:nvSpPr>
          <p:cNvPr id="34" name="Shape 17">
            <a:extLst>
              <a:ext uri="{FF2B5EF4-FFF2-40B4-BE49-F238E27FC236}">
                <a16:creationId xmlns:a16="http://schemas.microsoft.com/office/drawing/2014/main" id="{E348D6BE-CBAF-F486-6677-92BA1A279D29}"/>
              </a:ext>
            </a:extLst>
          </p:cNvPr>
          <p:cNvSpPr/>
          <p:nvPr/>
        </p:nvSpPr>
        <p:spPr>
          <a:xfrm>
            <a:off x="2604310" y="2528769"/>
            <a:ext cx="1809750" cy="2381250"/>
          </a:xfrm>
          <a:prstGeom prst="roundRect">
            <a:avLst>
              <a:gd name="adj" fmla="val 5263"/>
            </a:avLst>
          </a:prstGeom>
          <a:solidFill>
            <a:srgbClr val="FFFFFF"/>
          </a:solidFill>
          <a:ln w="9525">
            <a:solidFill>
              <a:srgbClr val="D8D6E2"/>
            </a:solidFill>
            <a:prstDash val="solid"/>
          </a:ln>
        </p:spPr>
        <p:txBody>
          <a:bodyPr/>
          <a:lstStyle/>
          <a:p>
            <a:endParaRPr lang="en-IL"/>
          </a:p>
        </p:txBody>
      </p:sp>
      <p:sp>
        <p:nvSpPr>
          <p:cNvPr id="35" name="Shape 18">
            <a:extLst>
              <a:ext uri="{FF2B5EF4-FFF2-40B4-BE49-F238E27FC236}">
                <a16:creationId xmlns:a16="http://schemas.microsoft.com/office/drawing/2014/main" id="{2DBC6288-6F62-D27D-5460-93493096FD23}"/>
              </a:ext>
            </a:extLst>
          </p:cNvPr>
          <p:cNvSpPr/>
          <p:nvPr/>
        </p:nvSpPr>
        <p:spPr>
          <a:xfrm>
            <a:off x="2774603" y="2657475"/>
            <a:ext cx="381000" cy="381000"/>
          </a:xfrm>
          <a:prstGeom prst="ellipse">
            <a:avLst/>
          </a:prstGeom>
          <a:solidFill>
            <a:srgbClr val="F1EFF7"/>
          </a:solidFill>
          <a:ln w="9525">
            <a:solidFill>
              <a:srgbClr val="B7B1CD"/>
            </a:solidFill>
            <a:prstDash val="solid"/>
          </a:ln>
        </p:spPr>
        <p:txBody>
          <a:bodyPr/>
          <a:lstStyle/>
          <a:p>
            <a:endParaRPr lang="en-IL"/>
          </a:p>
        </p:txBody>
      </p:sp>
      <p:pic>
        <p:nvPicPr>
          <p:cNvPr id="36" name="Image 7" descr="preencoded.png">
            <a:extLst>
              <a:ext uri="{FF2B5EF4-FFF2-40B4-BE49-F238E27FC236}">
                <a16:creationId xmlns:a16="http://schemas.microsoft.com/office/drawing/2014/main" id="{52146526-9066-530D-BEA2-4E58ABAC716C}"/>
              </a:ext>
            </a:extLst>
          </p:cNvPr>
          <p:cNvPicPr>
            <a:picLocks noChangeAspect="1"/>
          </p:cNvPicPr>
          <p:nvPr/>
        </p:nvPicPr>
        <p:blipFill>
          <a:blip r:embed="rId5"/>
          <a:srcRect/>
          <a:stretch/>
        </p:blipFill>
        <p:spPr>
          <a:xfrm>
            <a:off x="2865090" y="2747963"/>
            <a:ext cx="200025" cy="200025"/>
          </a:xfrm>
          <a:prstGeom prst="rect">
            <a:avLst/>
          </a:prstGeom>
        </p:spPr>
      </p:pic>
      <p:sp>
        <p:nvSpPr>
          <p:cNvPr id="37" name="Text 19">
            <a:extLst>
              <a:ext uri="{FF2B5EF4-FFF2-40B4-BE49-F238E27FC236}">
                <a16:creationId xmlns:a16="http://schemas.microsoft.com/office/drawing/2014/main" id="{6D905995-C9EF-6423-8B7A-DCC5BDC6B9F4}"/>
              </a:ext>
            </a:extLst>
          </p:cNvPr>
          <p:cNvSpPr/>
          <p:nvPr/>
        </p:nvSpPr>
        <p:spPr>
          <a:xfrm>
            <a:off x="2774603" y="3124200"/>
            <a:ext cx="1562100" cy="358378"/>
          </a:xfrm>
          <a:prstGeom prst="rect">
            <a:avLst/>
          </a:prstGeom>
          <a:noFill/>
          <a:ln/>
        </p:spPr>
        <p:txBody>
          <a:bodyPr wrap="square" lIns="25400" tIns="25400" rIns="25400" bIns="25400" rtlCol="0" anchor="t">
            <a:noAutofit/>
          </a:bodyPr>
          <a:lstStyle/>
          <a:p>
            <a:pPr marL="0" indent="0" algn="l">
              <a:lnSpc>
                <a:spcPct val="116000"/>
              </a:lnSpc>
              <a:buNone/>
            </a:pPr>
            <a:r>
              <a:rPr lang="en-US" sz="1100" b="1" dirty="0">
                <a:solidFill>
                  <a:srgbClr val="4E4A73"/>
                </a:solidFill>
                <a:latin typeface="Aptos Black" panose="020B0004020202020204" pitchFamily="34" charset="0"/>
                <a:ea typeface="Arial" pitchFamily="34" charset="-122"/>
                <a:cs typeface="Arial" pitchFamily="34" charset="-120"/>
              </a:rPr>
              <a:t>Partial Forward Diffusion</a:t>
            </a:r>
            <a:endParaRPr lang="en-US" sz="1100" dirty="0">
              <a:solidFill>
                <a:srgbClr val="4E4A73"/>
              </a:solidFill>
              <a:latin typeface="Aptos Black" panose="020B0004020202020204" pitchFamily="34" charset="0"/>
            </a:endParaRPr>
          </a:p>
        </p:txBody>
      </p:sp>
      <mc:AlternateContent xmlns:mc="http://schemas.openxmlformats.org/markup-compatibility/2006" xmlns:a14="http://schemas.microsoft.com/office/drawing/2010/main">
        <mc:Choice Requires="a14">
          <p:sp>
            <p:nvSpPr>
              <p:cNvPr id="38" name="Text 20">
                <a:extLst>
                  <a:ext uri="{FF2B5EF4-FFF2-40B4-BE49-F238E27FC236}">
                    <a16:creationId xmlns:a16="http://schemas.microsoft.com/office/drawing/2014/main" id="{47E8E2B7-B16D-407B-7461-1962DF20AE83}"/>
                  </a:ext>
                </a:extLst>
              </p:cNvPr>
              <p:cNvSpPr/>
              <p:nvPr/>
            </p:nvSpPr>
            <p:spPr>
              <a:xfrm>
                <a:off x="2736503" y="3568303"/>
                <a:ext cx="1562100" cy="518071"/>
              </a:xfrm>
              <a:prstGeom prst="rect">
                <a:avLst/>
              </a:prstGeom>
              <a:noFill/>
              <a:ln/>
            </p:spPr>
            <p:txBody>
              <a:bodyPr wrap="square" lIns="25400" tIns="25400" rIns="25400" bIns="25400" rtlCol="0" anchor="t">
                <a:noAutofit/>
              </a:bodyPr>
              <a:lstStyle/>
              <a:p>
                <a:pPr marL="0" indent="0" algn="l">
                  <a:lnSpc>
                    <a:spcPct val="140000"/>
                  </a:lnSpc>
                  <a:buNone/>
                </a:pPr>
                <a:r>
                  <a:rPr lang="en-US" sz="1000" dirty="0">
                    <a:solidFill>
                      <a:srgbClr val="2E2B45"/>
                    </a:solidFill>
                    <a:latin typeface="Bierstadt" panose="020B0004020202020204" pitchFamily="34" charset="0"/>
                    <a:ea typeface="Arial" pitchFamily="34" charset="-122"/>
                    <a:cs typeface="Arial" pitchFamily="34" charset="-120"/>
                  </a:rPr>
                  <a:t>Noise the latents only up to </a:t>
                </a:r>
                <a14:m>
                  <m:oMath xmlns:m="http://schemas.openxmlformats.org/officeDocument/2006/math">
                    <m:sSup>
                      <m:sSupPr>
                        <m:ctrlPr>
                          <a:rPr lang="en-US" sz="1000" b="0" i="1" dirty="0" smtClean="0">
                            <a:solidFill>
                              <a:srgbClr val="2E2B45"/>
                            </a:solidFill>
                            <a:latin typeface="Cambria Math" panose="02040503050406030204" pitchFamily="18" charset="0"/>
                            <a:ea typeface="Arial" pitchFamily="34" charset="-122"/>
                            <a:cs typeface="Arial" pitchFamily="34" charset="-120"/>
                          </a:rPr>
                        </m:ctrlPr>
                      </m:sSupPr>
                      <m:e>
                        <m:r>
                          <a:rPr lang="en-US" sz="1000" i="1" dirty="0" smtClean="0">
                            <a:solidFill>
                              <a:srgbClr val="2E2B45"/>
                            </a:solidFill>
                            <a:latin typeface="Cambria Math" panose="02040503050406030204" pitchFamily="18" charset="0"/>
                            <a:ea typeface="Arial" pitchFamily="34" charset="-122"/>
                            <a:cs typeface="Arial" pitchFamily="34" charset="-120"/>
                          </a:rPr>
                          <m:t>𝑡</m:t>
                        </m:r>
                      </m:e>
                      <m:sup>
                        <m:r>
                          <a:rPr lang="en-US" sz="1000" i="1" dirty="0" smtClean="0">
                            <a:solidFill>
                              <a:srgbClr val="2E2B45"/>
                            </a:solidFill>
                            <a:latin typeface="Cambria Math" panose="02040503050406030204" pitchFamily="18" charset="0"/>
                            <a:ea typeface="Arial" pitchFamily="34" charset="-122"/>
                            <a:cs typeface="Arial" pitchFamily="34" charset="-120"/>
                          </a:rPr>
                          <m:t>∗</m:t>
                        </m:r>
                      </m:sup>
                    </m:sSup>
                    <m:r>
                      <a:rPr lang="en-US" sz="1000" i="1" dirty="0" smtClean="0">
                        <a:solidFill>
                          <a:srgbClr val="2E2B45"/>
                        </a:solidFill>
                        <a:latin typeface="Cambria Math" panose="02040503050406030204" pitchFamily="18" charset="0"/>
                        <a:ea typeface="Arial" pitchFamily="34" charset="-122"/>
                        <a:cs typeface="Arial" pitchFamily="34" charset="-120"/>
                      </a:rPr>
                      <m:t> &lt; </m:t>
                    </m:r>
                    <m:r>
                      <a:rPr lang="en-US" sz="1000" i="1" dirty="0" smtClean="0">
                        <a:solidFill>
                          <a:srgbClr val="2E2B45"/>
                        </a:solidFill>
                        <a:latin typeface="Cambria Math" panose="02040503050406030204" pitchFamily="18" charset="0"/>
                        <a:ea typeface="Arial" pitchFamily="34" charset="-122"/>
                        <a:cs typeface="Arial" pitchFamily="34" charset="-120"/>
                      </a:rPr>
                      <m:t>𝑇</m:t>
                    </m:r>
                    <m:r>
                      <a:rPr lang="en-US" sz="1000" b="0" i="0" dirty="0" smtClean="0">
                        <a:solidFill>
                          <a:srgbClr val="2E2B45"/>
                        </a:solidFill>
                        <a:latin typeface="Cambria Math" panose="02040503050406030204" pitchFamily="18" charset="0"/>
                        <a:ea typeface="Arial" pitchFamily="34" charset="-122"/>
                        <a:cs typeface="Arial" pitchFamily="34" charset="-120"/>
                      </a:rPr>
                      <m:t>, </m:t>
                    </m:r>
                  </m:oMath>
                </a14:m>
                <a:r>
                  <a:rPr lang="en-US" sz="1000" dirty="0">
                    <a:solidFill>
                      <a:srgbClr val="2E2B45"/>
                    </a:solidFill>
                    <a:latin typeface="Bierstadt" panose="020B0004020202020204" pitchFamily="34" charset="0"/>
                    <a:ea typeface="Arial" pitchFamily="34" charset="-122"/>
                    <a:cs typeface="Arial" pitchFamily="34" charset="-120"/>
                  </a:rPr>
                  <a:t>encoded structure guides the reverse process.</a:t>
                </a:r>
                <a:endParaRPr lang="en-US" sz="1000" dirty="0">
                  <a:latin typeface="Bierstadt" panose="020B0004020202020204" pitchFamily="34" charset="0"/>
                </a:endParaRPr>
              </a:p>
            </p:txBody>
          </p:sp>
        </mc:Choice>
        <mc:Fallback xmlns="">
          <p:sp>
            <p:nvSpPr>
              <p:cNvPr id="38" name="Text 20">
                <a:extLst>
                  <a:ext uri="{FF2B5EF4-FFF2-40B4-BE49-F238E27FC236}">
                    <a16:creationId xmlns:a16="http://schemas.microsoft.com/office/drawing/2014/main" id="{47E8E2B7-B16D-407B-7461-1962DF20AE83}"/>
                  </a:ext>
                </a:extLst>
              </p:cNvPr>
              <p:cNvSpPr>
                <a:spLocks noRot="1" noChangeAspect="1" noMove="1" noResize="1" noEditPoints="1" noAdjustHandles="1" noChangeArrowheads="1" noChangeShapeType="1" noTextEdit="1"/>
              </p:cNvSpPr>
              <p:nvPr/>
            </p:nvSpPr>
            <p:spPr>
              <a:xfrm>
                <a:off x="2736503" y="3568303"/>
                <a:ext cx="1562100" cy="518071"/>
              </a:xfrm>
              <a:prstGeom prst="rect">
                <a:avLst/>
              </a:prstGeom>
              <a:blipFill>
                <a:blip r:embed="rId6"/>
                <a:stretch>
                  <a:fillRect l="-3516" r="-5078" b="-40000"/>
                </a:stretch>
              </a:blipFill>
              <a:ln/>
            </p:spPr>
            <p:txBody>
              <a:bodyPr/>
              <a:lstStyle/>
              <a:p>
                <a:r>
                  <a:rPr lang="en-IL">
                    <a:noFill/>
                  </a:rPr>
                  <a:t> </a:t>
                </a:r>
              </a:p>
            </p:txBody>
          </p:sp>
        </mc:Fallback>
      </mc:AlternateContent>
      <p:sp>
        <p:nvSpPr>
          <p:cNvPr id="40" name="Shape 22">
            <a:extLst>
              <a:ext uri="{FF2B5EF4-FFF2-40B4-BE49-F238E27FC236}">
                <a16:creationId xmlns:a16="http://schemas.microsoft.com/office/drawing/2014/main" id="{AC4D1D64-2508-BD8E-8C82-37BA41F8C431}"/>
              </a:ext>
            </a:extLst>
          </p:cNvPr>
          <p:cNvSpPr/>
          <p:nvPr/>
        </p:nvSpPr>
        <p:spPr>
          <a:xfrm>
            <a:off x="4722465" y="2495550"/>
            <a:ext cx="1809750" cy="2381250"/>
          </a:xfrm>
          <a:prstGeom prst="roundRect">
            <a:avLst>
              <a:gd name="adj" fmla="val 5263"/>
            </a:avLst>
          </a:prstGeom>
          <a:solidFill>
            <a:srgbClr val="FFFFFF"/>
          </a:solidFill>
          <a:ln w="9525">
            <a:solidFill>
              <a:srgbClr val="D8D6E2"/>
            </a:solidFill>
            <a:prstDash val="solid"/>
          </a:ln>
        </p:spPr>
        <p:txBody>
          <a:bodyPr/>
          <a:lstStyle/>
          <a:p>
            <a:endParaRPr lang="en-IL"/>
          </a:p>
        </p:txBody>
      </p:sp>
      <p:sp>
        <p:nvSpPr>
          <p:cNvPr id="41" name="Shape 23">
            <a:extLst>
              <a:ext uri="{FF2B5EF4-FFF2-40B4-BE49-F238E27FC236}">
                <a16:creationId xmlns:a16="http://schemas.microsoft.com/office/drawing/2014/main" id="{DE944B15-AC3C-8227-3EDC-21621FED3910}"/>
              </a:ext>
            </a:extLst>
          </p:cNvPr>
          <p:cNvSpPr/>
          <p:nvPr/>
        </p:nvSpPr>
        <p:spPr>
          <a:xfrm>
            <a:off x="4884390" y="2657475"/>
            <a:ext cx="381000" cy="381000"/>
          </a:xfrm>
          <a:prstGeom prst="ellipse">
            <a:avLst/>
          </a:prstGeom>
          <a:solidFill>
            <a:srgbClr val="F1EFF7"/>
          </a:solidFill>
          <a:ln w="9525">
            <a:solidFill>
              <a:srgbClr val="B7B1CD"/>
            </a:solidFill>
            <a:prstDash val="solid"/>
          </a:ln>
        </p:spPr>
        <p:txBody>
          <a:bodyPr/>
          <a:lstStyle/>
          <a:p>
            <a:endParaRPr lang="en-IL"/>
          </a:p>
        </p:txBody>
      </p:sp>
      <p:pic>
        <p:nvPicPr>
          <p:cNvPr id="42" name="Image 8" descr="preencoded.png">
            <a:extLst>
              <a:ext uri="{FF2B5EF4-FFF2-40B4-BE49-F238E27FC236}">
                <a16:creationId xmlns:a16="http://schemas.microsoft.com/office/drawing/2014/main" id="{2C208146-7435-AC46-C283-5884131CCE42}"/>
              </a:ext>
            </a:extLst>
          </p:cNvPr>
          <p:cNvPicPr>
            <a:picLocks noChangeAspect="1"/>
          </p:cNvPicPr>
          <p:nvPr/>
        </p:nvPicPr>
        <p:blipFill>
          <a:blip r:embed="rId7"/>
          <a:srcRect/>
          <a:stretch/>
        </p:blipFill>
        <p:spPr>
          <a:xfrm>
            <a:off x="4974878" y="2747963"/>
            <a:ext cx="200025" cy="200025"/>
          </a:xfrm>
          <a:prstGeom prst="rect">
            <a:avLst/>
          </a:prstGeom>
        </p:spPr>
      </p:pic>
      <p:sp>
        <p:nvSpPr>
          <p:cNvPr id="43" name="Text 24">
            <a:extLst>
              <a:ext uri="{FF2B5EF4-FFF2-40B4-BE49-F238E27FC236}">
                <a16:creationId xmlns:a16="http://schemas.microsoft.com/office/drawing/2014/main" id="{71A277A9-43A4-AE4D-BB9A-60C5BEF86F5F}"/>
              </a:ext>
            </a:extLst>
          </p:cNvPr>
          <p:cNvSpPr/>
          <p:nvPr/>
        </p:nvSpPr>
        <p:spPr>
          <a:xfrm>
            <a:off x="4884390" y="3124200"/>
            <a:ext cx="1562100" cy="358378"/>
          </a:xfrm>
          <a:prstGeom prst="rect">
            <a:avLst/>
          </a:prstGeom>
          <a:noFill/>
          <a:ln/>
        </p:spPr>
        <p:txBody>
          <a:bodyPr wrap="square" lIns="25400" tIns="25400" rIns="25400" bIns="25400" rtlCol="0" anchor="t">
            <a:noAutofit/>
          </a:bodyPr>
          <a:lstStyle/>
          <a:p>
            <a:pPr>
              <a:lnSpc>
                <a:spcPct val="116000"/>
              </a:lnSpc>
            </a:pPr>
            <a:r>
              <a:rPr lang="en-US" sz="1100" b="1" dirty="0">
                <a:solidFill>
                  <a:srgbClr val="4E4A73"/>
                </a:solidFill>
                <a:latin typeface="Aptos Black" panose="020B0004020202020204" pitchFamily="34" charset="0"/>
                <a:cs typeface="Arial" pitchFamily="34" charset="-120"/>
              </a:rPr>
              <a:t>Anisotropic Reverse Denoising</a:t>
            </a:r>
          </a:p>
        </p:txBody>
      </p:sp>
      <p:sp>
        <p:nvSpPr>
          <p:cNvPr id="44" name="Text 25">
            <a:extLst>
              <a:ext uri="{FF2B5EF4-FFF2-40B4-BE49-F238E27FC236}">
                <a16:creationId xmlns:a16="http://schemas.microsoft.com/office/drawing/2014/main" id="{AA04FD62-A735-067C-285B-C44CD1C536AD}"/>
              </a:ext>
            </a:extLst>
          </p:cNvPr>
          <p:cNvSpPr/>
          <p:nvPr/>
        </p:nvSpPr>
        <p:spPr>
          <a:xfrm>
            <a:off x="4884390" y="3530203"/>
            <a:ext cx="1562100" cy="838051"/>
          </a:xfrm>
          <a:prstGeom prst="rect">
            <a:avLst/>
          </a:prstGeom>
          <a:noFill/>
          <a:ln/>
        </p:spPr>
        <p:txBody>
          <a:bodyPr wrap="square" lIns="25400" tIns="25400" rIns="25400" bIns="25400" rtlCol="0" anchor="t">
            <a:noAutofit/>
          </a:bodyPr>
          <a:lstStyle/>
          <a:p>
            <a:pPr marL="0" indent="0" algn="l">
              <a:lnSpc>
                <a:spcPct val="140000"/>
              </a:lnSpc>
              <a:buNone/>
            </a:pPr>
            <a:r>
              <a:rPr lang="en-US" sz="1000" dirty="0">
                <a:solidFill>
                  <a:srgbClr val="2E2B45"/>
                </a:solidFill>
                <a:latin typeface="Bierstadt" panose="020B0004020202020204" pitchFamily="34" charset="0"/>
                <a:ea typeface="Arial" pitchFamily="34" charset="-122"/>
                <a:cs typeface="Arial" pitchFamily="34" charset="-120"/>
              </a:rPr>
              <a:t>Denoise along angular &amp; radial constraints, reusing community centres from the original graph. Run K times per perturbed graph.</a:t>
            </a:r>
            <a:endParaRPr lang="en-US" sz="1000" dirty="0">
              <a:latin typeface="Bierstadt" panose="020B0004020202020204" pitchFamily="34" charset="0"/>
            </a:endParaRPr>
          </a:p>
        </p:txBody>
      </p:sp>
      <p:sp>
        <p:nvSpPr>
          <p:cNvPr id="46" name="Shape 27">
            <a:extLst>
              <a:ext uri="{FF2B5EF4-FFF2-40B4-BE49-F238E27FC236}">
                <a16:creationId xmlns:a16="http://schemas.microsoft.com/office/drawing/2014/main" id="{6C0B4F05-9BC7-543F-9CE8-B32624D9AF14}"/>
              </a:ext>
            </a:extLst>
          </p:cNvPr>
          <p:cNvSpPr/>
          <p:nvPr/>
        </p:nvSpPr>
        <p:spPr>
          <a:xfrm>
            <a:off x="6832253" y="2495550"/>
            <a:ext cx="1809750" cy="2381250"/>
          </a:xfrm>
          <a:prstGeom prst="roundRect">
            <a:avLst>
              <a:gd name="adj" fmla="val 5263"/>
            </a:avLst>
          </a:prstGeom>
          <a:solidFill>
            <a:srgbClr val="FFFFFF"/>
          </a:solidFill>
          <a:ln w="9525">
            <a:solidFill>
              <a:srgbClr val="D8D6E2"/>
            </a:solidFill>
            <a:prstDash val="solid"/>
          </a:ln>
        </p:spPr>
        <p:txBody>
          <a:bodyPr/>
          <a:lstStyle/>
          <a:p>
            <a:endParaRPr lang="en-IL" sz="1200"/>
          </a:p>
        </p:txBody>
      </p:sp>
      <p:sp>
        <p:nvSpPr>
          <p:cNvPr id="47" name="Shape 28">
            <a:extLst>
              <a:ext uri="{FF2B5EF4-FFF2-40B4-BE49-F238E27FC236}">
                <a16:creationId xmlns:a16="http://schemas.microsoft.com/office/drawing/2014/main" id="{8525D77D-B487-AB5A-4ABE-27B9765A0D3D}"/>
              </a:ext>
            </a:extLst>
          </p:cNvPr>
          <p:cNvSpPr/>
          <p:nvPr/>
        </p:nvSpPr>
        <p:spPr>
          <a:xfrm>
            <a:off x="6994178" y="2657475"/>
            <a:ext cx="381000" cy="381000"/>
          </a:xfrm>
          <a:prstGeom prst="ellipse">
            <a:avLst/>
          </a:prstGeom>
          <a:solidFill>
            <a:srgbClr val="F1EFF7"/>
          </a:solidFill>
          <a:ln w="9525">
            <a:solidFill>
              <a:srgbClr val="B7B1CD"/>
            </a:solidFill>
            <a:prstDash val="solid"/>
          </a:ln>
        </p:spPr>
        <p:txBody>
          <a:bodyPr/>
          <a:lstStyle/>
          <a:p>
            <a:endParaRPr lang="en-IL"/>
          </a:p>
        </p:txBody>
      </p:sp>
      <p:pic>
        <p:nvPicPr>
          <p:cNvPr id="48" name="Image 9" descr="preencoded.png">
            <a:extLst>
              <a:ext uri="{FF2B5EF4-FFF2-40B4-BE49-F238E27FC236}">
                <a16:creationId xmlns:a16="http://schemas.microsoft.com/office/drawing/2014/main" id="{4E1EB623-06F8-D614-E206-F43AEC86116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084665" y="2747963"/>
            <a:ext cx="200025" cy="200025"/>
          </a:xfrm>
          <a:prstGeom prst="rect">
            <a:avLst/>
          </a:prstGeom>
        </p:spPr>
      </p:pic>
      <p:sp>
        <p:nvSpPr>
          <p:cNvPr id="49" name="Text 29">
            <a:extLst>
              <a:ext uri="{FF2B5EF4-FFF2-40B4-BE49-F238E27FC236}">
                <a16:creationId xmlns:a16="http://schemas.microsoft.com/office/drawing/2014/main" id="{F5A2F0DA-905B-84CA-7605-593E96083B77}"/>
              </a:ext>
            </a:extLst>
          </p:cNvPr>
          <p:cNvSpPr/>
          <p:nvPr/>
        </p:nvSpPr>
        <p:spPr>
          <a:xfrm>
            <a:off x="6994178" y="3124200"/>
            <a:ext cx="1634490" cy="198239"/>
          </a:xfrm>
          <a:prstGeom prst="rect">
            <a:avLst/>
          </a:prstGeom>
          <a:noFill/>
          <a:ln/>
        </p:spPr>
        <p:txBody>
          <a:bodyPr wrap="square" lIns="25400" tIns="25400" rIns="25400" bIns="25400" rtlCol="0" anchor="t">
            <a:noAutofit/>
          </a:bodyPr>
          <a:lstStyle/>
          <a:p>
            <a:pPr marL="0" indent="0" algn="l">
              <a:lnSpc>
                <a:spcPct val="116000"/>
              </a:lnSpc>
              <a:buNone/>
            </a:pPr>
            <a:r>
              <a:rPr lang="en-US" sz="1100" b="1" dirty="0">
                <a:solidFill>
                  <a:srgbClr val="4E4A73"/>
                </a:solidFill>
                <a:latin typeface="Aptos Black" panose="020B0004020202020204" pitchFamily="34" charset="0"/>
                <a:cs typeface="Arial" pitchFamily="34" charset="-120"/>
              </a:rPr>
              <a:t>Fermi-Dirac</a:t>
            </a:r>
            <a:r>
              <a:rPr lang="en-US" sz="1100" b="1" dirty="0">
                <a:solidFill>
                  <a:srgbClr val="2E2B45"/>
                </a:solidFill>
                <a:latin typeface="Aptos Black" panose="020B0004020202020204" pitchFamily="34" charset="0"/>
                <a:ea typeface="Arial" pitchFamily="34" charset="-122"/>
                <a:cs typeface="Arial" pitchFamily="34" charset="-120"/>
              </a:rPr>
              <a:t> Decoding</a:t>
            </a:r>
            <a:endParaRPr lang="en-US" sz="1100" dirty="0">
              <a:latin typeface="Aptos Black" panose="020B0004020202020204" pitchFamily="34" charset="0"/>
            </a:endParaRPr>
          </a:p>
        </p:txBody>
      </p:sp>
      <p:sp>
        <p:nvSpPr>
          <p:cNvPr id="50" name="Text 30">
            <a:extLst>
              <a:ext uri="{FF2B5EF4-FFF2-40B4-BE49-F238E27FC236}">
                <a16:creationId xmlns:a16="http://schemas.microsoft.com/office/drawing/2014/main" id="{DDFF1A91-31BC-2505-7368-E26698831B7C}"/>
              </a:ext>
            </a:extLst>
          </p:cNvPr>
          <p:cNvSpPr/>
          <p:nvPr/>
        </p:nvSpPr>
        <p:spPr>
          <a:xfrm>
            <a:off x="6994178" y="3524250"/>
            <a:ext cx="1562100" cy="678061"/>
          </a:xfrm>
          <a:prstGeom prst="rect">
            <a:avLst/>
          </a:prstGeom>
          <a:noFill/>
          <a:ln/>
        </p:spPr>
        <p:txBody>
          <a:bodyPr wrap="square" lIns="25400" tIns="25400" rIns="25400" bIns="25400" rtlCol="0" anchor="t">
            <a:noAutofit/>
          </a:bodyPr>
          <a:lstStyle/>
          <a:p>
            <a:pPr marL="0" indent="0" algn="l">
              <a:lnSpc>
                <a:spcPct val="140000"/>
              </a:lnSpc>
              <a:buNone/>
            </a:pPr>
            <a:r>
              <a:rPr lang="en-US" sz="1000" dirty="0">
                <a:solidFill>
                  <a:srgbClr val="2E2B45"/>
                </a:solidFill>
                <a:latin typeface="Bierstadt" panose="020B0004020202020204" pitchFamily="34" charset="0"/>
                <a:ea typeface="Arial" pitchFamily="34" charset="-122"/>
                <a:cs typeface="Arial" pitchFamily="34" charset="-120"/>
              </a:rPr>
              <a:t>A reconstructed adjacency matrix per run — K reconstructed graphs for every perturbed graph.</a:t>
            </a:r>
            <a:endParaRPr lang="en-US" sz="1000" dirty="0">
              <a:latin typeface="Bierstadt" panose="020B0004020202020204" pitchFamily="34" charset="0"/>
            </a:endParaRPr>
          </a:p>
        </p:txBody>
      </p:sp>
      <p:sp>
        <p:nvSpPr>
          <p:cNvPr id="51" name="Shape 9">
            <a:extLst>
              <a:ext uri="{FF2B5EF4-FFF2-40B4-BE49-F238E27FC236}">
                <a16:creationId xmlns:a16="http://schemas.microsoft.com/office/drawing/2014/main" id="{CCAF7773-9B11-529C-7448-3197A3F2096A}"/>
              </a:ext>
            </a:extLst>
          </p:cNvPr>
          <p:cNvSpPr/>
          <p:nvPr/>
        </p:nvSpPr>
        <p:spPr>
          <a:xfrm>
            <a:off x="2322576" y="3322439"/>
            <a:ext cx="290102" cy="237744"/>
          </a:xfrm>
          <a:prstGeom prst="rightArrow">
            <a:avLst/>
          </a:prstGeom>
          <a:solidFill>
            <a:srgbClr val="B7B1CD"/>
          </a:solidFill>
          <a:ln/>
        </p:spPr>
        <p:txBody>
          <a:bodyPr/>
          <a:lstStyle/>
          <a:p>
            <a:endParaRPr lang="en-IL"/>
          </a:p>
        </p:txBody>
      </p:sp>
      <p:sp>
        <p:nvSpPr>
          <p:cNvPr id="52" name="Shape 9">
            <a:extLst>
              <a:ext uri="{FF2B5EF4-FFF2-40B4-BE49-F238E27FC236}">
                <a16:creationId xmlns:a16="http://schemas.microsoft.com/office/drawing/2014/main" id="{08AF4B80-D3B7-37F9-F0E9-488C1AD17E92}"/>
              </a:ext>
            </a:extLst>
          </p:cNvPr>
          <p:cNvSpPr/>
          <p:nvPr/>
        </p:nvSpPr>
        <p:spPr>
          <a:xfrm>
            <a:off x="4419028" y="3322439"/>
            <a:ext cx="290102" cy="237744"/>
          </a:xfrm>
          <a:prstGeom prst="rightArrow">
            <a:avLst/>
          </a:prstGeom>
          <a:solidFill>
            <a:srgbClr val="B7B1CD"/>
          </a:solidFill>
          <a:ln/>
        </p:spPr>
        <p:txBody>
          <a:bodyPr/>
          <a:lstStyle/>
          <a:p>
            <a:endParaRPr lang="en-IL"/>
          </a:p>
        </p:txBody>
      </p:sp>
      <p:sp>
        <p:nvSpPr>
          <p:cNvPr id="53" name="Shape 9">
            <a:extLst>
              <a:ext uri="{FF2B5EF4-FFF2-40B4-BE49-F238E27FC236}">
                <a16:creationId xmlns:a16="http://schemas.microsoft.com/office/drawing/2014/main" id="{3C535712-1B7A-FF33-8377-C18C568EF5B3}"/>
              </a:ext>
            </a:extLst>
          </p:cNvPr>
          <p:cNvSpPr/>
          <p:nvPr/>
        </p:nvSpPr>
        <p:spPr>
          <a:xfrm>
            <a:off x="6532215" y="3286506"/>
            <a:ext cx="290102" cy="237744"/>
          </a:xfrm>
          <a:prstGeom prst="rightArrow">
            <a:avLst/>
          </a:prstGeom>
          <a:solidFill>
            <a:srgbClr val="B7B1CD"/>
          </a:solidFill>
          <a:ln/>
        </p:spPr>
        <p:txBody>
          <a:bodyPr/>
          <a:lstStyle/>
          <a:p>
            <a:endParaRPr lang="en-IL"/>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marL="0" indent="0">
              <a:buNone/>
            </a:pPr>
            <a:r>
              <a:rPr lang="en-US" sz="1100" b="1" kern="0" spc="300" dirty="0">
                <a:solidFill>
                  <a:srgbClr val="7A75A3"/>
                </a:solidFill>
                <a:latin typeface="Arial" pitchFamily="34" charset="0"/>
                <a:ea typeface="Arial" pitchFamily="34" charset="-122"/>
                <a:cs typeface="Arial" pitchFamily="34" charset="-120"/>
              </a:rPr>
              <a:t>MODULE 3</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marL="0" indent="0">
              <a:buNone/>
            </a:pPr>
            <a:r>
              <a:rPr lang="en-US" sz="3000" b="1" dirty="0">
                <a:solidFill>
                  <a:srgbClr val="2E2B45"/>
                </a:solidFill>
                <a:latin typeface="Arial Black" panose="020B0A04020102020204" pitchFamily="34" charset="0"/>
                <a:ea typeface="Arial" pitchFamily="34" charset="-122"/>
                <a:cs typeface="Arial" pitchFamily="34" charset="-120"/>
              </a:rPr>
              <a:t>Probabilistic Stability Scoring Module</a:t>
            </a:r>
            <a:endParaRPr lang="en-US" sz="3000" dirty="0">
              <a:latin typeface="Arial Black" panose="020B0A04020102020204" pitchFamily="34" charset="0"/>
            </a:endParaRPr>
          </a:p>
        </p:txBody>
      </p:sp>
      <p:sp>
        <p:nvSpPr>
          <p:cNvPr id="4" name="Shape 2"/>
          <p:cNvSpPr/>
          <p:nvPr/>
        </p:nvSpPr>
        <p:spPr>
          <a:xfrm>
            <a:off x="502920" y="1207008"/>
            <a:ext cx="8138160" cy="566928"/>
          </a:xfrm>
          <a:prstGeom prst="roundRect">
            <a:avLst>
              <a:gd name="adj" fmla="val 11290"/>
            </a:avLst>
          </a:prstGeom>
          <a:solidFill>
            <a:srgbClr val="F1EFF7"/>
          </a:solidFill>
          <a:ln w="12700">
            <a:solidFill>
              <a:srgbClr val="B7B1CD"/>
            </a:solidFill>
            <a:prstDash val="solid"/>
          </a:ln>
          <a:effectLst>
            <a:outerShdw algn="bl" rotWithShape="0">
              <a:srgbClr val="3A3660">
                <a:alpha val="0"/>
              </a:srgbClr>
            </a:outerShdw>
          </a:effectLst>
        </p:spPr>
        <p:txBody>
          <a:bodyPr/>
          <a:lstStyle/>
          <a:p>
            <a:endParaRPr lang="en-IL"/>
          </a:p>
        </p:txBody>
      </p:sp>
      <p:sp>
        <p:nvSpPr>
          <p:cNvPr id="5" name="Text 3"/>
          <p:cNvSpPr/>
          <p:nvPr/>
        </p:nvSpPr>
        <p:spPr>
          <a:xfrm>
            <a:off x="1122391" y="1225296"/>
            <a:ext cx="7440168" cy="566928"/>
          </a:xfrm>
          <a:prstGeom prst="rect">
            <a:avLst/>
          </a:prstGeom>
          <a:noFill/>
          <a:ln/>
        </p:spPr>
        <p:txBody>
          <a:bodyPr wrap="square" lIns="0" tIns="0" rIns="0" bIns="0" rtlCol="0" anchor="ctr"/>
          <a:lstStyle/>
          <a:p>
            <a:r>
              <a:rPr lang="en-US" sz="1150" b="1" dirty="0">
                <a:solidFill>
                  <a:srgbClr val="4E4A73"/>
                </a:solidFill>
                <a:latin typeface="Bierstadt" panose="020B0004020202020204" pitchFamily="34" charset="0"/>
                <a:ea typeface="Calibri" pitchFamily="34" charset="-122"/>
                <a:cs typeface="Calibri" pitchFamily="34" charset="-120"/>
              </a:rPr>
              <a:t>Goal: </a:t>
            </a:r>
            <a:r>
              <a:rPr lang="en-IL" sz="1150" dirty="0">
                <a:latin typeface="Bierstadt" panose="020B0004020202020204" pitchFamily="34" charset="0"/>
              </a:rPr>
              <a:t>Turn K stochastic reconstructions of each of the N perturbed graphs into a single stability score for the network.</a:t>
            </a:r>
            <a:endParaRPr lang="en-US" sz="1150" dirty="0">
              <a:latin typeface="Bierstadt" panose="020B0004020202020204" pitchFamily="34" charset="0"/>
            </a:endParaRPr>
          </a:p>
        </p:txBody>
      </p:sp>
      <p:sp>
        <p:nvSpPr>
          <p:cNvPr id="6" name="Shape 4"/>
          <p:cNvSpPr/>
          <p:nvPr/>
        </p:nvSpPr>
        <p:spPr>
          <a:xfrm>
            <a:off x="484632" y="2057400"/>
            <a:ext cx="1920240" cy="2788920"/>
          </a:xfrm>
          <a:prstGeom prst="roundRect">
            <a:avLst>
              <a:gd name="adj" fmla="val 3333"/>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7" name="Shape 5"/>
          <p:cNvSpPr/>
          <p:nvPr/>
        </p:nvSpPr>
        <p:spPr>
          <a:xfrm>
            <a:off x="621792" y="2194560"/>
            <a:ext cx="685800" cy="274320"/>
          </a:xfrm>
          <a:prstGeom prst="roundRect">
            <a:avLst>
              <a:gd name="adj" fmla="val 16667"/>
            </a:avLst>
          </a:prstGeom>
          <a:solidFill>
            <a:srgbClr val="7A75A3"/>
          </a:solidFill>
          <a:ln/>
        </p:spPr>
        <p:txBody>
          <a:bodyPr/>
          <a:lstStyle/>
          <a:p>
            <a:endParaRPr lang="en-IL"/>
          </a:p>
        </p:txBody>
      </p:sp>
      <p:sp>
        <p:nvSpPr>
          <p:cNvPr id="8" name="Text 6"/>
          <p:cNvSpPr/>
          <p:nvPr/>
        </p:nvSpPr>
        <p:spPr>
          <a:xfrm>
            <a:off x="621792" y="2194560"/>
            <a:ext cx="68580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Step 1</a:t>
            </a:r>
            <a:endParaRPr lang="en-US" sz="1050" dirty="0"/>
          </a:p>
        </p:txBody>
      </p:sp>
      <p:sp>
        <p:nvSpPr>
          <p:cNvPr id="9" name="Text 7"/>
          <p:cNvSpPr/>
          <p:nvPr/>
        </p:nvSpPr>
        <p:spPr>
          <a:xfrm>
            <a:off x="621792" y="2560320"/>
            <a:ext cx="1645920" cy="292608"/>
          </a:xfrm>
          <a:prstGeom prst="rect">
            <a:avLst/>
          </a:prstGeom>
          <a:noFill/>
          <a:ln/>
        </p:spPr>
        <p:txBody>
          <a:bodyPr wrap="square" lIns="0" tIns="0" rIns="0" bIns="0" rtlCol="0" anchor="ctr"/>
          <a:lstStyle/>
          <a:p>
            <a:r>
              <a:rPr lang="en-IL" sz="1150" b="1" dirty="0">
                <a:solidFill>
                  <a:srgbClr val="4E4A73"/>
                </a:solidFill>
                <a:latin typeface="Aptos Black" panose="020B0004020202020204" pitchFamily="34" charset="0"/>
                <a:cs typeface="Arial" pitchFamily="34" charset="-120"/>
              </a:rPr>
              <a:t>Identify Target Edges</a:t>
            </a:r>
            <a:endParaRPr lang="en-US" sz="1150" b="1" dirty="0">
              <a:solidFill>
                <a:srgbClr val="4E4A73"/>
              </a:solidFill>
              <a:latin typeface="Aptos Black" panose="020B0004020202020204" pitchFamily="34" charset="0"/>
              <a:cs typeface="Arial" pitchFamily="34" charset="-120"/>
            </a:endParaRPr>
          </a:p>
        </p:txBody>
      </p:sp>
      <mc:AlternateContent xmlns:mc="http://schemas.openxmlformats.org/markup-compatibility/2006" xmlns:a14="http://schemas.microsoft.com/office/drawing/2010/main">
        <mc:Choice Requires="a14">
          <p:sp>
            <p:nvSpPr>
              <p:cNvPr id="10" name="Text 8"/>
              <p:cNvSpPr/>
              <p:nvPr/>
            </p:nvSpPr>
            <p:spPr>
              <a:xfrm>
                <a:off x="637977" y="3133296"/>
                <a:ext cx="1629735" cy="1051560"/>
              </a:xfrm>
              <a:prstGeom prst="rect">
                <a:avLst/>
              </a:prstGeom>
              <a:noFill/>
              <a:ln/>
            </p:spPr>
            <p:txBody>
              <a:bodyPr wrap="square" lIns="0" tIns="0" rIns="0" bIns="0" rtlCol="0" anchor="t"/>
              <a:lstStyle/>
              <a:p>
                <a:pPr>
                  <a:lnSpc>
                    <a:spcPts val="1250"/>
                  </a:lnSpc>
                </a:pPr>
                <a:r>
                  <a:rPr lang="en-IL" sz="1000" dirty="0">
                    <a:latin typeface="Bierstadt" panose="020B0004020202020204" pitchFamily="34" charset="0"/>
                  </a:rPr>
                  <a:t>For each perturbed graph </a:t>
                </a:r>
                <a14:m>
                  <m:oMath xmlns:m="http://schemas.openxmlformats.org/officeDocument/2006/math">
                    <m:r>
                      <a:rPr lang="en-IL" sz="1000" i="1" dirty="0" smtClean="0">
                        <a:latin typeface="Cambria Math" panose="02040503050406030204" pitchFamily="18" charset="0"/>
                      </a:rPr>
                      <m:t>𝑛</m:t>
                    </m:r>
                  </m:oMath>
                </a14:m>
                <a:r>
                  <a:rPr lang="en-IL" sz="1000" dirty="0">
                    <a:latin typeface="Bierstadt" panose="020B0004020202020204" pitchFamily="34" charset="0"/>
                  </a:rPr>
                  <a:t>, isolate the set of removed edges</a:t>
                </a:r>
                <a:r>
                  <a:rPr lang="en-US" sz="1000" dirty="0">
                    <a:latin typeface="Bierstadt" panose="020B0004020202020204" pitchFamily="34" charset="0"/>
                  </a:rPr>
                  <a:t> </a:t>
                </a:r>
                <a14:m>
                  <m:oMath xmlns:m="http://schemas.openxmlformats.org/officeDocument/2006/math">
                    <m:sSubSup>
                      <m:sSubSupPr>
                        <m:ctrlPr>
                          <a:rPr lang="en-US" sz="1000" b="0" i="1" smtClean="0">
                            <a:latin typeface="Cambria Math" panose="02040503050406030204" pitchFamily="18" charset="0"/>
                          </a:rPr>
                        </m:ctrlPr>
                      </m:sSubSupPr>
                      <m:e>
                        <m:r>
                          <a:rPr lang="en-US" sz="1000" b="0" i="1" smtClean="0">
                            <a:latin typeface="Cambria Math" panose="02040503050406030204" pitchFamily="18" charset="0"/>
                          </a:rPr>
                          <m:t>𝐸</m:t>
                        </m:r>
                      </m:e>
                      <m:sub>
                        <m:r>
                          <a:rPr lang="en-US" sz="1000" b="0" i="1" smtClean="0">
                            <a:latin typeface="Cambria Math" panose="02040503050406030204" pitchFamily="18" charset="0"/>
                          </a:rPr>
                          <m:t>𝑟𝑒𝑚𝑜𝑣𝑒𝑑</m:t>
                        </m:r>
                      </m:sub>
                      <m:sup>
                        <m:r>
                          <a:rPr lang="en-US" sz="1000" b="0" i="1" smtClean="0">
                            <a:latin typeface="Cambria Math" panose="02040503050406030204" pitchFamily="18" charset="0"/>
                          </a:rPr>
                          <m:t>(</m:t>
                        </m:r>
                        <m:r>
                          <a:rPr lang="en-US" sz="1000" b="0" i="1" smtClean="0">
                            <a:latin typeface="Cambria Math" panose="02040503050406030204" pitchFamily="18" charset="0"/>
                          </a:rPr>
                          <m:t>𝑛</m:t>
                        </m:r>
                        <m:r>
                          <a:rPr lang="en-US" sz="1000" b="0" i="1" smtClean="0">
                            <a:latin typeface="Cambria Math" panose="02040503050406030204" pitchFamily="18" charset="0"/>
                          </a:rPr>
                          <m:t>)</m:t>
                        </m:r>
                      </m:sup>
                    </m:sSubSup>
                    <m:r>
                      <a:rPr lang="en-US" sz="1000" b="0" i="0" smtClean="0">
                        <a:latin typeface="Cambria Math" panose="02040503050406030204" pitchFamily="18" charset="0"/>
                      </a:rPr>
                      <m:t>, </m:t>
                    </m:r>
                  </m:oMath>
                </a14:m>
                <a:r>
                  <a:rPr lang="en-IL" sz="1000" dirty="0">
                    <a:latin typeface="Bierstadt" panose="020B0004020202020204" pitchFamily="34" charset="0"/>
                  </a:rPr>
                  <a:t>For every reconstruction </a:t>
                </a:r>
                <a14:m>
                  <m:oMath xmlns:m="http://schemas.openxmlformats.org/officeDocument/2006/math">
                    <m:sSubSup>
                      <m:sSubSupPr>
                        <m:ctrlPr>
                          <a:rPr lang="en-US" sz="1000" b="0" i="1" dirty="0" smtClean="0">
                            <a:latin typeface="Cambria Math" panose="02040503050406030204" pitchFamily="18" charset="0"/>
                          </a:rPr>
                        </m:ctrlPr>
                      </m:sSubSupPr>
                      <m:e>
                        <m:acc>
                          <m:accPr>
                            <m:chr m:val="̂"/>
                            <m:ctrlPr>
                              <a:rPr lang="en-IL" sz="1000" i="1" dirty="0" smtClean="0">
                                <a:latin typeface="Cambria Math" panose="02040503050406030204" pitchFamily="18" charset="0"/>
                              </a:rPr>
                            </m:ctrlPr>
                          </m:accPr>
                          <m:e>
                            <m:r>
                              <a:rPr lang="en-US" sz="1000" b="0" i="1" dirty="0" smtClean="0">
                                <a:latin typeface="Cambria Math" panose="02040503050406030204" pitchFamily="18" charset="0"/>
                              </a:rPr>
                              <m:t>𝐴</m:t>
                            </m:r>
                          </m:e>
                        </m:acc>
                      </m:e>
                      <m:sub>
                        <m:r>
                          <a:rPr lang="en-US" sz="1000" b="0" i="1" dirty="0" smtClean="0">
                            <a:latin typeface="Cambria Math" panose="02040503050406030204" pitchFamily="18" charset="0"/>
                          </a:rPr>
                          <m:t>𝑟𝑒𝑐</m:t>
                        </m:r>
                        <m:r>
                          <a:rPr lang="en-US" sz="1000" b="0" i="1" dirty="0" smtClean="0">
                            <a:latin typeface="Cambria Math" panose="02040503050406030204" pitchFamily="18" charset="0"/>
                          </a:rPr>
                          <m:t>,</m:t>
                        </m:r>
                        <m:r>
                          <a:rPr lang="en-US" sz="1000" b="0" i="1" dirty="0" smtClean="0">
                            <a:latin typeface="Cambria Math" panose="02040503050406030204" pitchFamily="18" charset="0"/>
                          </a:rPr>
                          <m:t>𝑛</m:t>
                        </m:r>
                      </m:sub>
                      <m:sup>
                        <m:r>
                          <a:rPr lang="en-US" sz="1000" b="0" i="1" dirty="0" smtClean="0">
                            <a:latin typeface="Cambria Math" panose="02040503050406030204" pitchFamily="18" charset="0"/>
                          </a:rPr>
                          <m:t>(</m:t>
                        </m:r>
                        <m:r>
                          <a:rPr lang="en-US" sz="1000" b="0" i="1" dirty="0" smtClean="0">
                            <a:latin typeface="Cambria Math" panose="02040503050406030204" pitchFamily="18" charset="0"/>
                          </a:rPr>
                          <m:t>𝑘</m:t>
                        </m:r>
                        <m:r>
                          <a:rPr lang="en-US" sz="1000" b="0" i="1" dirty="0" smtClean="0">
                            <a:latin typeface="Cambria Math" panose="02040503050406030204" pitchFamily="18" charset="0"/>
                          </a:rPr>
                          <m:t>)</m:t>
                        </m:r>
                      </m:sup>
                    </m:sSubSup>
                    <m:r>
                      <a:rPr lang="en-IL" sz="1000" i="1" dirty="0">
                        <a:latin typeface="Cambria Math" panose="02040503050406030204" pitchFamily="18" charset="0"/>
                      </a:rPr>
                      <m:t>, </m:t>
                    </m:r>
                  </m:oMath>
                </a14:m>
                <a:r>
                  <a:rPr lang="en-IL" sz="1000" dirty="0">
                    <a:latin typeface="Bierstadt" panose="020B0004020202020204" pitchFamily="34" charset="0"/>
                  </a:rPr>
                  <a:t>record which of these edges reappear.</a:t>
                </a:r>
                <a:endParaRPr lang="en-US" sz="1000" dirty="0">
                  <a:latin typeface="Bierstadt" panose="020B0004020202020204" pitchFamily="34" charset="0"/>
                </a:endParaRPr>
              </a:p>
            </p:txBody>
          </p:sp>
        </mc:Choice>
        <mc:Fallback xmlns="">
          <p:sp>
            <p:nvSpPr>
              <p:cNvPr id="10" name="Text 8"/>
              <p:cNvSpPr>
                <a:spLocks noRot="1" noChangeAspect="1" noMove="1" noResize="1" noEditPoints="1" noAdjustHandles="1" noChangeArrowheads="1" noChangeShapeType="1" noTextEdit="1"/>
              </p:cNvSpPr>
              <p:nvPr/>
            </p:nvSpPr>
            <p:spPr>
              <a:xfrm>
                <a:off x="637977" y="3133296"/>
                <a:ext cx="1629735" cy="1051560"/>
              </a:xfrm>
              <a:prstGeom prst="rect">
                <a:avLst/>
              </a:prstGeom>
              <a:blipFill>
                <a:blip r:embed="rId3"/>
                <a:stretch>
                  <a:fillRect l="-4869" t="-4070" r="-3371" b="-1163"/>
                </a:stretch>
              </a:blipFill>
              <a:ln/>
            </p:spPr>
            <p:txBody>
              <a:bodyPr/>
              <a:lstStyle/>
              <a:p>
                <a:r>
                  <a:rPr lang="en-IL">
                    <a:noFill/>
                  </a:rPr>
                  <a:t> </a:t>
                </a:r>
              </a:p>
            </p:txBody>
          </p:sp>
        </mc:Fallback>
      </mc:AlternateContent>
      <p:sp>
        <p:nvSpPr>
          <p:cNvPr id="11" name="Shape 9"/>
          <p:cNvSpPr/>
          <p:nvPr/>
        </p:nvSpPr>
        <p:spPr>
          <a:xfrm>
            <a:off x="2409444" y="2971800"/>
            <a:ext cx="173736" cy="237744"/>
          </a:xfrm>
          <a:prstGeom prst="rightArrow">
            <a:avLst/>
          </a:prstGeom>
          <a:solidFill>
            <a:srgbClr val="B7B1CD"/>
          </a:solidFill>
          <a:ln/>
        </p:spPr>
        <p:txBody>
          <a:bodyPr/>
          <a:lstStyle/>
          <a:p>
            <a:endParaRPr lang="en-IL"/>
          </a:p>
        </p:txBody>
      </p:sp>
      <p:sp>
        <p:nvSpPr>
          <p:cNvPr id="12" name="Shape 10"/>
          <p:cNvSpPr/>
          <p:nvPr/>
        </p:nvSpPr>
        <p:spPr>
          <a:xfrm>
            <a:off x="2569464" y="2057400"/>
            <a:ext cx="1920240" cy="2788920"/>
          </a:xfrm>
          <a:prstGeom prst="roundRect">
            <a:avLst>
              <a:gd name="adj" fmla="val 3333"/>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13" name="Shape 11"/>
          <p:cNvSpPr/>
          <p:nvPr/>
        </p:nvSpPr>
        <p:spPr>
          <a:xfrm>
            <a:off x="2706624" y="2194560"/>
            <a:ext cx="685800" cy="274320"/>
          </a:xfrm>
          <a:prstGeom prst="roundRect">
            <a:avLst>
              <a:gd name="adj" fmla="val 16667"/>
            </a:avLst>
          </a:prstGeom>
          <a:solidFill>
            <a:srgbClr val="7A75A3"/>
          </a:solidFill>
          <a:ln/>
        </p:spPr>
        <p:txBody>
          <a:bodyPr/>
          <a:lstStyle/>
          <a:p>
            <a:endParaRPr lang="en-IL"/>
          </a:p>
        </p:txBody>
      </p:sp>
      <p:sp>
        <p:nvSpPr>
          <p:cNvPr id="14" name="Text 12"/>
          <p:cNvSpPr/>
          <p:nvPr/>
        </p:nvSpPr>
        <p:spPr>
          <a:xfrm>
            <a:off x="2706624" y="2194560"/>
            <a:ext cx="68580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Step 2</a:t>
            </a:r>
            <a:endParaRPr lang="en-US" sz="1050" dirty="0"/>
          </a:p>
        </p:txBody>
      </p:sp>
      <p:sp>
        <p:nvSpPr>
          <p:cNvPr id="15" name="Text 13"/>
          <p:cNvSpPr/>
          <p:nvPr/>
        </p:nvSpPr>
        <p:spPr>
          <a:xfrm>
            <a:off x="2706624" y="2560320"/>
            <a:ext cx="1645920" cy="292608"/>
          </a:xfrm>
          <a:prstGeom prst="rect">
            <a:avLst/>
          </a:prstGeom>
          <a:noFill/>
          <a:ln/>
        </p:spPr>
        <p:txBody>
          <a:bodyPr wrap="square" lIns="0" tIns="0" rIns="0" bIns="0" rtlCol="0" anchor="ctr"/>
          <a:lstStyle/>
          <a:p>
            <a:r>
              <a:rPr lang="en-IL" sz="1150" b="1" dirty="0">
                <a:solidFill>
                  <a:srgbClr val="4E4A73"/>
                </a:solidFill>
                <a:latin typeface="Aptos Black" panose="020B0004020202020204" pitchFamily="34" charset="0"/>
                <a:cs typeface="Arial" pitchFamily="34" charset="-120"/>
              </a:rPr>
              <a:t>Edge-Level Recovery</a:t>
            </a:r>
            <a:endParaRPr lang="en-US" sz="1150" b="1" dirty="0">
              <a:solidFill>
                <a:srgbClr val="4E4A73"/>
              </a:solidFill>
              <a:latin typeface="Aptos Black" panose="020B0004020202020204" pitchFamily="34" charset="0"/>
              <a:cs typeface="Arial" pitchFamily="34" charset="-120"/>
            </a:endParaRPr>
          </a:p>
        </p:txBody>
      </p:sp>
      <mc:AlternateContent xmlns:mc="http://schemas.openxmlformats.org/markup-compatibility/2006" xmlns:a14="http://schemas.microsoft.com/office/drawing/2010/main">
        <mc:Choice Requires="a14">
          <p:sp>
            <p:nvSpPr>
              <p:cNvPr id="16" name="Text 14"/>
              <p:cNvSpPr/>
              <p:nvPr/>
            </p:nvSpPr>
            <p:spPr>
              <a:xfrm>
                <a:off x="2818638" y="3124152"/>
                <a:ext cx="1540069" cy="1051560"/>
              </a:xfrm>
              <a:prstGeom prst="rect">
                <a:avLst/>
              </a:prstGeom>
              <a:noFill/>
              <a:ln/>
            </p:spPr>
            <p:txBody>
              <a:bodyPr wrap="square" lIns="0" tIns="0" rIns="0" bIns="0" rtlCol="0" anchor="t"/>
              <a:lstStyle/>
              <a:p>
                <a:pPr>
                  <a:lnSpc>
                    <a:spcPts val="1250"/>
                  </a:lnSpc>
                </a:pPr>
                <a:r>
                  <a:rPr lang="en-IL" sz="1000" dirty="0">
                    <a:latin typeface="Bierstadt" panose="020B0004020202020204" pitchFamily="34" charset="0"/>
                  </a:rPr>
                  <a:t>For each removed edge </a:t>
                </a:r>
                <a14:m>
                  <m:oMath xmlns:m="http://schemas.openxmlformats.org/officeDocument/2006/math">
                    <m:r>
                      <a:rPr lang="en-IL" sz="1000" i="1" dirty="0" smtClean="0">
                        <a:latin typeface="Cambria Math" panose="02040503050406030204" pitchFamily="18" charset="0"/>
                      </a:rPr>
                      <m:t>𝑒</m:t>
                    </m:r>
                  </m:oMath>
                </a14:m>
                <a:r>
                  <a:rPr lang="en-IL" sz="1000" dirty="0">
                    <a:latin typeface="Bierstadt" panose="020B0004020202020204" pitchFamily="34" charset="0"/>
                  </a:rPr>
                  <a:t>, compute its recovery frequency across the K reconstructions</a:t>
                </a:r>
                <a:endParaRPr lang="en-US" sz="1000" dirty="0">
                  <a:latin typeface="Bierstadt" panose="020B0004020202020204" pitchFamily="34" charset="0"/>
                </a:endParaRPr>
              </a:p>
            </p:txBody>
          </p:sp>
        </mc:Choice>
        <mc:Fallback xmlns="">
          <p:sp>
            <p:nvSpPr>
              <p:cNvPr id="16" name="Text 14"/>
              <p:cNvSpPr>
                <a:spLocks noRot="1" noChangeAspect="1" noMove="1" noResize="1" noEditPoints="1" noAdjustHandles="1" noChangeArrowheads="1" noChangeShapeType="1" noTextEdit="1"/>
              </p:cNvSpPr>
              <p:nvPr/>
            </p:nvSpPr>
            <p:spPr>
              <a:xfrm>
                <a:off x="2818638" y="3124152"/>
                <a:ext cx="1540069" cy="1051560"/>
              </a:xfrm>
              <a:prstGeom prst="rect">
                <a:avLst/>
              </a:prstGeom>
              <a:blipFill>
                <a:blip r:embed="rId4"/>
                <a:stretch>
                  <a:fillRect l="-5138" t="-3468"/>
                </a:stretch>
              </a:blipFill>
              <a:ln/>
            </p:spPr>
            <p:txBody>
              <a:bodyPr/>
              <a:lstStyle/>
              <a:p>
                <a:r>
                  <a:rPr lang="en-IL">
                    <a:noFill/>
                  </a:rPr>
                  <a:t> </a:t>
                </a:r>
              </a:p>
            </p:txBody>
          </p:sp>
        </mc:Fallback>
      </mc:AlternateContent>
      <p:sp>
        <p:nvSpPr>
          <p:cNvPr id="17" name="Shape 15"/>
          <p:cNvSpPr/>
          <p:nvPr/>
        </p:nvSpPr>
        <p:spPr>
          <a:xfrm>
            <a:off x="2679192" y="4187952"/>
            <a:ext cx="1700784" cy="548640"/>
          </a:xfrm>
          <a:prstGeom prst="roundRect">
            <a:avLst>
              <a:gd name="adj" fmla="val 6667"/>
            </a:avLst>
          </a:prstGeom>
          <a:solidFill>
            <a:srgbClr val="F1EFF7"/>
          </a:solidFill>
          <a:ln w="9525">
            <a:solidFill>
              <a:srgbClr val="B7B1CD"/>
            </a:solidFill>
            <a:prstDash val="solid"/>
          </a:ln>
        </p:spPr>
        <p:txBody>
          <a:bodyPr/>
          <a:lstStyle/>
          <a:p>
            <a:endParaRPr lang="en-IL"/>
          </a:p>
        </p:txBody>
      </p:sp>
      <p:sp>
        <p:nvSpPr>
          <p:cNvPr id="19" name="Shape 16"/>
          <p:cNvSpPr/>
          <p:nvPr/>
        </p:nvSpPr>
        <p:spPr>
          <a:xfrm>
            <a:off x="4494276" y="2971800"/>
            <a:ext cx="173736" cy="237744"/>
          </a:xfrm>
          <a:prstGeom prst="rightArrow">
            <a:avLst/>
          </a:prstGeom>
          <a:solidFill>
            <a:srgbClr val="B7B1CD"/>
          </a:solidFill>
          <a:ln/>
        </p:spPr>
        <p:txBody>
          <a:bodyPr/>
          <a:lstStyle/>
          <a:p>
            <a:endParaRPr lang="en-IL"/>
          </a:p>
        </p:txBody>
      </p:sp>
      <p:sp>
        <p:nvSpPr>
          <p:cNvPr id="20" name="Shape 17"/>
          <p:cNvSpPr/>
          <p:nvPr/>
        </p:nvSpPr>
        <p:spPr>
          <a:xfrm>
            <a:off x="4654296" y="2057400"/>
            <a:ext cx="1920240" cy="2788920"/>
          </a:xfrm>
          <a:prstGeom prst="roundRect">
            <a:avLst>
              <a:gd name="adj" fmla="val 3333"/>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21" name="Shape 18"/>
          <p:cNvSpPr/>
          <p:nvPr/>
        </p:nvSpPr>
        <p:spPr>
          <a:xfrm>
            <a:off x="4791456" y="2194560"/>
            <a:ext cx="685800" cy="274320"/>
          </a:xfrm>
          <a:prstGeom prst="roundRect">
            <a:avLst>
              <a:gd name="adj" fmla="val 16667"/>
            </a:avLst>
          </a:prstGeom>
          <a:solidFill>
            <a:srgbClr val="7A75A3"/>
          </a:solidFill>
          <a:ln/>
        </p:spPr>
        <p:txBody>
          <a:bodyPr/>
          <a:lstStyle/>
          <a:p>
            <a:endParaRPr lang="en-IL"/>
          </a:p>
        </p:txBody>
      </p:sp>
      <p:sp>
        <p:nvSpPr>
          <p:cNvPr id="22" name="Text 19"/>
          <p:cNvSpPr/>
          <p:nvPr/>
        </p:nvSpPr>
        <p:spPr>
          <a:xfrm>
            <a:off x="4791456" y="2194560"/>
            <a:ext cx="68580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Step 3</a:t>
            </a:r>
            <a:endParaRPr lang="en-US" sz="1050" dirty="0"/>
          </a:p>
        </p:txBody>
      </p:sp>
      <p:sp>
        <p:nvSpPr>
          <p:cNvPr id="23" name="Text 20"/>
          <p:cNvSpPr/>
          <p:nvPr/>
        </p:nvSpPr>
        <p:spPr>
          <a:xfrm>
            <a:off x="4791456" y="2560320"/>
            <a:ext cx="1645920" cy="292608"/>
          </a:xfrm>
          <a:prstGeom prst="rect">
            <a:avLst/>
          </a:prstGeom>
          <a:noFill/>
          <a:ln/>
        </p:spPr>
        <p:txBody>
          <a:bodyPr wrap="square" lIns="0" tIns="0" rIns="0" bIns="0" rtlCol="0" anchor="ctr"/>
          <a:lstStyle/>
          <a:p>
            <a:r>
              <a:rPr lang="en-IL" sz="1150" b="1" dirty="0">
                <a:solidFill>
                  <a:srgbClr val="4E4A73"/>
                </a:solidFill>
                <a:latin typeface="Aptos Black" panose="020B0004020202020204" pitchFamily="34" charset="0"/>
                <a:cs typeface="Arial" pitchFamily="34" charset="-120"/>
              </a:rPr>
              <a:t>Graph-Level Stability</a:t>
            </a:r>
            <a:endParaRPr lang="en-US" sz="1150" b="1" dirty="0">
              <a:solidFill>
                <a:srgbClr val="4E4A73"/>
              </a:solidFill>
              <a:latin typeface="Aptos Black" panose="020B0004020202020204" pitchFamily="34" charset="0"/>
              <a:cs typeface="Arial" pitchFamily="34" charset="-120"/>
            </a:endParaRPr>
          </a:p>
        </p:txBody>
      </p:sp>
      <p:sp>
        <p:nvSpPr>
          <p:cNvPr id="24" name="Text 21"/>
          <p:cNvSpPr/>
          <p:nvPr/>
        </p:nvSpPr>
        <p:spPr>
          <a:xfrm>
            <a:off x="4903470" y="3093784"/>
            <a:ext cx="1540069" cy="1051560"/>
          </a:xfrm>
          <a:prstGeom prst="rect">
            <a:avLst/>
          </a:prstGeom>
          <a:noFill/>
          <a:ln/>
        </p:spPr>
        <p:txBody>
          <a:bodyPr wrap="square" lIns="0" tIns="0" rIns="0" bIns="0" rtlCol="0" anchor="t"/>
          <a:lstStyle/>
          <a:p>
            <a:pPr>
              <a:lnSpc>
                <a:spcPts val="1250"/>
              </a:lnSpc>
            </a:pPr>
            <a:r>
              <a:rPr lang="en-IL" sz="1000" dirty="0">
                <a:latin typeface="Bierstadt" panose="020B0004020202020204" pitchFamily="34" charset="0"/>
              </a:rPr>
              <a:t>Average the edge-level probabilities to score each perturbed graph:</a:t>
            </a:r>
            <a:endParaRPr lang="en-US" sz="1000" dirty="0">
              <a:latin typeface="Bierstadt" panose="020B0004020202020204" pitchFamily="34" charset="0"/>
            </a:endParaRPr>
          </a:p>
        </p:txBody>
      </p:sp>
      <p:sp>
        <p:nvSpPr>
          <p:cNvPr id="25" name="Shape 22"/>
          <p:cNvSpPr/>
          <p:nvPr/>
        </p:nvSpPr>
        <p:spPr>
          <a:xfrm>
            <a:off x="4764024" y="4187952"/>
            <a:ext cx="1700784" cy="548640"/>
          </a:xfrm>
          <a:prstGeom prst="roundRect">
            <a:avLst>
              <a:gd name="adj" fmla="val 6667"/>
            </a:avLst>
          </a:prstGeom>
          <a:solidFill>
            <a:srgbClr val="F1EFF7"/>
          </a:solidFill>
          <a:ln w="9525">
            <a:solidFill>
              <a:srgbClr val="B7B1CD"/>
            </a:solidFill>
            <a:prstDash val="solid"/>
          </a:ln>
        </p:spPr>
        <p:txBody>
          <a:bodyPr/>
          <a:lstStyle/>
          <a:p>
            <a:endParaRPr lang="en-IL"/>
          </a:p>
        </p:txBody>
      </p:sp>
      <p:sp>
        <p:nvSpPr>
          <p:cNvPr id="27" name="Shape 23"/>
          <p:cNvSpPr/>
          <p:nvPr/>
        </p:nvSpPr>
        <p:spPr>
          <a:xfrm>
            <a:off x="6579108" y="2971800"/>
            <a:ext cx="173736" cy="237744"/>
          </a:xfrm>
          <a:prstGeom prst="rightArrow">
            <a:avLst/>
          </a:prstGeom>
          <a:solidFill>
            <a:srgbClr val="B7B1CD"/>
          </a:solidFill>
          <a:ln/>
        </p:spPr>
        <p:txBody>
          <a:bodyPr/>
          <a:lstStyle/>
          <a:p>
            <a:endParaRPr lang="en-IL"/>
          </a:p>
        </p:txBody>
      </p:sp>
      <p:sp>
        <p:nvSpPr>
          <p:cNvPr id="28" name="Shape 24"/>
          <p:cNvSpPr/>
          <p:nvPr/>
        </p:nvSpPr>
        <p:spPr>
          <a:xfrm>
            <a:off x="6739128" y="2057400"/>
            <a:ext cx="1920240" cy="2788920"/>
          </a:xfrm>
          <a:prstGeom prst="roundRect">
            <a:avLst>
              <a:gd name="adj" fmla="val 3333"/>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29" name="Shape 25"/>
          <p:cNvSpPr/>
          <p:nvPr/>
        </p:nvSpPr>
        <p:spPr>
          <a:xfrm>
            <a:off x="6876288" y="2194560"/>
            <a:ext cx="685800" cy="274320"/>
          </a:xfrm>
          <a:prstGeom prst="roundRect">
            <a:avLst>
              <a:gd name="adj" fmla="val 16667"/>
            </a:avLst>
          </a:prstGeom>
          <a:solidFill>
            <a:srgbClr val="7A75A3"/>
          </a:solidFill>
          <a:ln/>
        </p:spPr>
        <p:txBody>
          <a:bodyPr/>
          <a:lstStyle/>
          <a:p>
            <a:endParaRPr lang="en-IL"/>
          </a:p>
        </p:txBody>
      </p:sp>
      <p:sp>
        <p:nvSpPr>
          <p:cNvPr id="30" name="Text 26"/>
          <p:cNvSpPr/>
          <p:nvPr/>
        </p:nvSpPr>
        <p:spPr>
          <a:xfrm>
            <a:off x="6876288" y="2194560"/>
            <a:ext cx="68580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Step 4</a:t>
            </a:r>
            <a:endParaRPr lang="en-US" sz="1050" dirty="0"/>
          </a:p>
        </p:txBody>
      </p:sp>
      <p:sp>
        <p:nvSpPr>
          <p:cNvPr id="31" name="Text 27"/>
          <p:cNvSpPr/>
          <p:nvPr/>
        </p:nvSpPr>
        <p:spPr>
          <a:xfrm>
            <a:off x="6876288" y="2560320"/>
            <a:ext cx="1645920" cy="292608"/>
          </a:xfrm>
          <a:prstGeom prst="rect">
            <a:avLst/>
          </a:prstGeom>
          <a:noFill/>
          <a:ln/>
        </p:spPr>
        <p:txBody>
          <a:bodyPr wrap="square" lIns="0" tIns="0" rIns="0" bIns="0" rtlCol="0" anchor="ctr"/>
          <a:lstStyle/>
          <a:p>
            <a:r>
              <a:rPr lang="en-US" sz="1150" b="1" dirty="0">
                <a:solidFill>
                  <a:srgbClr val="4E4A73"/>
                </a:solidFill>
                <a:latin typeface="Aptos Black" panose="020B0004020202020204" pitchFamily="34" charset="0"/>
                <a:ea typeface="Arial" pitchFamily="34" charset="-122"/>
                <a:cs typeface="Arial" pitchFamily="34" charset="-120"/>
              </a:rPr>
              <a:t>Final </a:t>
            </a:r>
            <a:r>
              <a:rPr lang="en-IL" sz="1150" b="1" dirty="0">
                <a:solidFill>
                  <a:srgbClr val="4E4A73"/>
                </a:solidFill>
                <a:latin typeface="Aptos Black" panose="020B0004020202020204" pitchFamily="34" charset="0"/>
                <a:cs typeface="Arial" pitchFamily="34" charset="-120"/>
              </a:rPr>
              <a:t>Stability Score</a:t>
            </a:r>
            <a:endParaRPr lang="en-US" sz="1150" b="1" dirty="0">
              <a:solidFill>
                <a:srgbClr val="4E4A73"/>
              </a:solidFill>
              <a:latin typeface="Aptos Black" panose="020B0004020202020204" pitchFamily="34" charset="0"/>
              <a:cs typeface="Arial" pitchFamily="34" charset="-120"/>
            </a:endParaRPr>
          </a:p>
        </p:txBody>
      </p:sp>
      <mc:AlternateContent xmlns:mc="http://schemas.openxmlformats.org/markup-compatibility/2006" xmlns:a14="http://schemas.microsoft.com/office/drawing/2010/main">
        <mc:Choice Requires="a14">
          <p:sp>
            <p:nvSpPr>
              <p:cNvPr id="32" name="Text 28"/>
              <p:cNvSpPr/>
              <p:nvPr/>
            </p:nvSpPr>
            <p:spPr>
              <a:xfrm>
                <a:off x="6995160" y="3071999"/>
                <a:ext cx="1540069" cy="1051560"/>
              </a:xfrm>
              <a:prstGeom prst="rect">
                <a:avLst/>
              </a:prstGeom>
              <a:noFill/>
              <a:ln/>
            </p:spPr>
            <p:txBody>
              <a:bodyPr wrap="square" lIns="0" tIns="0" rIns="0" bIns="0" rtlCol="0" anchor="t"/>
              <a:lstStyle/>
              <a:p>
                <a:pPr>
                  <a:lnSpc>
                    <a:spcPts val="1250"/>
                  </a:lnSpc>
                </a:pPr>
                <a:r>
                  <a:rPr lang="en-IL" sz="1000" dirty="0">
                    <a:latin typeface="Bierstadt" panose="020B0004020202020204" pitchFamily="34" charset="0"/>
                  </a:rPr>
                  <a:t>Average across all </a:t>
                </a:r>
                <a14:m>
                  <m:oMath xmlns:m="http://schemas.openxmlformats.org/officeDocument/2006/math">
                    <m:r>
                      <a:rPr lang="en-IL" sz="1000" i="1" dirty="0" smtClean="0">
                        <a:latin typeface="Cambria Math" panose="02040503050406030204" pitchFamily="18" charset="0"/>
                      </a:rPr>
                      <m:t>𝑁</m:t>
                    </m:r>
                  </m:oMath>
                </a14:m>
                <a:r>
                  <a:rPr lang="en-IL" sz="1000" dirty="0">
                    <a:latin typeface="Bierstadt" panose="020B0004020202020204" pitchFamily="34" charset="0"/>
                  </a:rPr>
                  <a:t> perturbed graphs to obtain the final Probabilistic Network Stability Score</a:t>
                </a:r>
                <a:endParaRPr lang="en-US" sz="1000" dirty="0">
                  <a:latin typeface="Bierstadt" panose="020B0004020202020204" pitchFamily="34" charset="0"/>
                </a:endParaRPr>
              </a:p>
            </p:txBody>
          </p:sp>
        </mc:Choice>
        <mc:Fallback xmlns="">
          <p:sp>
            <p:nvSpPr>
              <p:cNvPr id="32" name="Text 28"/>
              <p:cNvSpPr>
                <a:spLocks noRot="1" noChangeAspect="1" noMove="1" noResize="1" noEditPoints="1" noAdjustHandles="1" noChangeArrowheads="1" noChangeShapeType="1" noTextEdit="1"/>
              </p:cNvSpPr>
              <p:nvPr/>
            </p:nvSpPr>
            <p:spPr>
              <a:xfrm>
                <a:off x="6995160" y="3071999"/>
                <a:ext cx="1540069" cy="1051560"/>
              </a:xfrm>
              <a:prstGeom prst="rect">
                <a:avLst/>
              </a:prstGeom>
              <a:blipFill>
                <a:blip r:embed="rId5"/>
                <a:stretch>
                  <a:fillRect l="-5159" t="-4070" r="-2381"/>
                </a:stretch>
              </a:blipFill>
              <a:ln/>
            </p:spPr>
            <p:txBody>
              <a:bodyPr/>
              <a:lstStyle/>
              <a:p>
                <a:r>
                  <a:rPr lang="en-IL">
                    <a:noFill/>
                  </a:rPr>
                  <a:t> </a:t>
                </a:r>
              </a:p>
            </p:txBody>
          </p:sp>
        </mc:Fallback>
      </mc:AlternateContent>
      <p:sp>
        <p:nvSpPr>
          <p:cNvPr id="33" name="Shape 3">
            <a:extLst>
              <a:ext uri="{FF2B5EF4-FFF2-40B4-BE49-F238E27FC236}">
                <a16:creationId xmlns:a16="http://schemas.microsoft.com/office/drawing/2014/main" id="{0FFF04DA-2EE4-91D4-97D2-52A20F889CDB}"/>
              </a:ext>
            </a:extLst>
          </p:cNvPr>
          <p:cNvSpPr/>
          <p:nvPr/>
        </p:nvSpPr>
        <p:spPr>
          <a:xfrm>
            <a:off x="621792" y="1272540"/>
            <a:ext cx="438912" cy="438912"/>
          </a:xfrm>
          <a:prstGeom prst="ellipse">
            <a:avLst/>
          </a:prstGeom>
          <a:solidFill>
            <a:srgbClr val="F1EFF7"/>
          </a:solidFill>
          <a:ln w="12700">
            <a:solidFill>
              <a:srgbClr val="B7B1CD"/>
            </a:solidFill>
            <a:prstDash val="solid"/>
          </a:ln>
        </p:spPr>
        <p:txBody>
          <a:bodyPr/>
          <a:lstStyle/>
          <a:p>
            <a:endParaRPr lang="en-IL"/>
          </a:p>
        </p:txBody>
      </p:sp>
      <p:pic>
        <p:nvPicPr>
          <p:cNvPr id="34" name="Image 0" descr="preencoded.png">
            <a:extLst>
              <a:ext uri="{FF2B5EF4-FFF2-40B4-BE49-F238E27FC236}">
                <a16:creationId xmlns:a16="http://schemas.microsoft.com/office/drawing/2014/main" id="{52C66E1E-26A2-9350-CF7A-9A12E63E1753}"/>
              </a:ext>
            </a:extLst>
          </p:cNvPr>
          <p:cNvPicPr>
            <a:picLocks noChangeAspect="1"/>
          </p:cNvPicPr>
          <p:nvPr/>
        </p:nvPicPr>
        <p:blipFill>
          <a:blip r:embed="rId6"/>
          <a:stretch>
            <a:fillRect/>
          </a:stretch>
        </p:blipFill>
        <p:spPr>
          <a:xfrm>
            <a:off x="735909" y="1386657"/>
            <a:ext cx="210678" cy="210678"/>
          </a:xfrm>
          <a:prstGeom prst="rect">
            <a:avLst/>
          </a:prstGeom>
        </p:spPr>
      </p:pic>
      <mc:AlternateContent xmlns:mc="http://schemas.openxmlformats.org/markup-compatibility/2006" xmlns:a14="http://schemas.microsoft.com/office/drawing/2010/main">
        <mc:Choice Requires="a14">
          <p:sp>
            <p:nvSpPr>
              <p:cNvPr id="35" name="תיבת טקסט 34">
                <a:extLst>
                  <a:ext uri="{FF2B5EF4-FFF2-40B4-BE49-F238E27FC236}">
                    <a16:creationId xmlns:a16="http://schemas.microsoft.com/office/drawing/2014/main" id="{27952569-24EE-4420-230B-81F658CDE849}"/>
                  </a:ext>
                </a:extLst>
              </p:cNvPr>
              <p:cNvSpPr txBox="1"/>
              <p:nvPr/>
            </p:nvSpPr>
            <p:spPr>
              <a:xfrm>
                <a:off x="2216693" y="4218656"/>
                <a:ext cx="2625782" cy="45435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050" b="0" i="1" smtClean="0">
                              <a:latin typeface="Cambria Math" panose="02040503050406030204" pitchFamily="18" charset="0"/>
                            </a:rPr>
                          </m:ctrlPr>
                        </m:sSubSupPr>
                        <m:e>
                          <m:r>
                            <a:rPr lang="en-US" sz="1050" b="0" i="1" smtClean="0">
                              <a:latin typeface="Cambria Math" panose="02040503050406030204" pitchFamily="18" charset="0"/>
                            </a:rPr>
                            <m:t>𝑝</m:t>
                          </m:r>
                        </m:e>
                        <m:sub>
                          <m:r>
                            <a:rPr lang="en-US" sz="1050" b="0" i="1" smtClean="0">
                              <a:latin typeface="Cambria Math" panose="02040503050406030204" pitchFamily="18" charset="0"/>
                            </a:rPr>
                            <m:t>𝑒</m:t>
                          </m:r>
                        </m:sub>
                        <m:sup>
                          <m:r>
                            <a:rPr lang="en-US" sz="1050" b="0" i="1" smtClean="0">
                              <a:latin typeface="Cambria Math" panose="02040503050406030204" pitchFamily="18" charset="0"/>
                            </a:rPr>
                            <m:t>(</m:t>
                          </m:r>
                          <m:r>
                            <a:rPr lang="en-US" sz="1050" b="0" i="1" smtClean="0">
                              <a:latin typeface="Cambria Math" panose="02040503050406030204" pitchFamily="18" charset="0"/>
                            </a:rPr>
                            <m:t>𝑛</m:t>
                          </m:r>
                          <m:r>
                            <a:rPr lang="en-US" sz="1050" b="0" i="1" smtClean="0">
                              <a:latin typeface="Cambria Math" panose="02040503050406030204" pitchFamily="18" charset="0"/>
                            </a:rPr>
                            <m:t>)</m:t>
                          </m:r>
                        </m:sup>
                      </m:sSubSup>
                      <m:r>
                        <a:rPr lang="en-US" sz="1050" b="0" i="1" smtClean="0">
                          <a:latin typeface="Cambria Math" panose="02040503050406030204" pitchFamily="18" charset="0"/>
                        </a:rPr>
                        <m:t>=</m:t>
                      </m:r>
                      <m:f>
                        <m:fPr>
                          <m:ctrlPr>
                            <a:rPr lang="en-US" sz="1050" b="0" i="1" smtClean="0">
                              <a:latin typeface="Cambria Math" panose="02040503050406030204" pitchFamily="18" charset="0"/>
                            </a:rPr>
                          </m:ctrlPr>
                        </m:fPr>
                        <m:num>
                          <m:r>
                            <a:rPr lang="en-US" sz="1050" b="0" i="1" smtClean="0">
                              <a:latin typeface="Cambria Math" panose="02040503050406030204" pitchFamily="18" charset="0"/>
                            </a:rPr>
                            <m:t>1</m:t>
                          </m:r>
                        </m:num>
                        <m:den>
                          <m:r>
                            <a:rPr lang="en-US" sz="1050" b="0" i="1" smtClean="0">
                              <a:latin typeface="Cambria Math" panose="02040503050406030204" pitchFamily="18" charset="0"/>
                            </a:rPr>
                            <m:t>𝐾</m:t>
                          </m:r>
                        </m:den>
                      </m:f>
                      <m:nary>
                        <m:naryPr>
                          <m:chr m:val="∑"/>
                          <m:ctrlPr>
                            <a:rPr lang="en-IL" sz="1050" b="0" i="1" smtClean="0">
                              <a:latin typeface="Cambria Math" panose="02040503050406030204" pitchFamily="18" charset="0"/>
                            </a:rPr>
                          </m:ctrlPr>
                        </m:naryPr>
                        <m:sub>
                          <m:r>
                            <m:rPr>
                              <m:brk m:alnAt="23"/>
                            </m:rPr>
                            <a:rPr lang="en-US" sz="1050" b="0" i="1" smtClean="0">
                              <a:latin typeface="Cambria Math" panose="02040503050406030204" pitchFamily="18" charset="0"/>
                            </a:rPr>
                            <m:t>𝑘</m:t>
                          </m:r>
                          <m:r>
                            <a:rPr lang="en-US" sz="1050" b="0" i="1" smtClean="0">
                              <a:latin typeface="Cambria Math" panose="02040503050406030204" pitchFamily="18" charset="0"/>
                            </a:rPr>
                            <m:t>=</m:t>
                          </m:r>
                          <m:r>
                            <m:rPr>
                              <m:brk m:alnAt="23"/>
                            </m:rPr>
                            <a:rPr lang="en-US" sz="1050" b="0" i="1" smtClean="0">
                              <a:latin typeface="Cambria Math" panose="02040503050406030204" pitchFamily="18" charset="0"/>
                            </a:rPr>
                            <m:t>1</m:t>
                          </m:r>
                        </m:sub>
                        <m:sup>
                          <m:r>
                            <a:rPr lang="en-US" sz="1050" b="0" i="1" smtClean="0">
                              <a:latin typeface="Cambria Math" panose="02040503050406030204" pitchFamily="18" charset="0"/>
                            </a:rPr>
                            <m:t>𝐾</m:t>
                          </m:r>
                        </m:sup>
                        <m:e>
                          <m:r>
                            <a:rPr lang="en-US" sz="1050" b="0" i="1" smtClean="0">
                              <a:latin typeface="Cambria Math" panose="02040503050406030204" pitchFamily="18" charset="0"/>
                            </a:rPr>
                            <m:t>1</m:t>
                          </m:r>
                          <m:d>
                            <m:dPr>
                              <m:begChr m:val="{"/>
                              <m:endChr m:val="}"/>
                              <m:ctrlPr>
                                <a:rPr lang="en-IL" sz="1050" b="0" i="1" smtClean="0">
                                  <a:latin typeface="Cambria Math" panose="02040503050406030204" pitchFamily="18" charset="0"/>
                                </a:rPr>
                              </m:ctrlPr>
                            </m:dPr>
                            <m:e>
                              <m:r>
                                <a:rPr lang="en-US" sz="1050" b="0" i="1" smtClean="0">
                                  <a:latin typeface="Cambria Math" panose="02040503050406030204" pitchFamily="18" charset="0"/>
                                </a:rPr>
                                <m:t>𝑒</m:t>
                              </m:r>
                              <m:r>
                                <a:rPr lang="en-US" sz="1050" b="0" i="1" smtClean="0">
                                  <a:latin typeface="Cambria Math" panose="02040503050406030204" pitchFamily="18" charset="0"/>
                                  <a:ea typeface="Cambria Math" panose="02040503050406030204" pitchFamily="18" charset="0"/>
                                </a:rPr>
                                <m:t>∈</m:t>
                              </m:r>
                              <m:sSubSup>
                                <m:sSubSupPr>
                                  <m:ctrlPr>
                                    <a:rPr lang="en-US" sz="1050" b="0" i="1" smtClean="0">
                                      <a:latin typeface="Cambria Math" panose="02040503050406030204" pitchFamily="18" charset="0"/>
                                      <a:ea typeface="Cambria Math" panose="02040503050406030204" pitchFamily="18" charset="0"/>
                                    </a:rPr>
                                  </m:ctrlPr>
                                </m:sSubSupPr>
                                <m:e>
                                  <m:acc>
                                    <m:accPr>
                                      <m:chr m:val="̂"/>
                                      <m:ctrlPr>
                                        <a:rPr lang="en-IL" sz="1050" b="0" i="1" smtClean="0">
                                          <a:latin typeface="Cambria Math" panose="02040503050406030204" pitchFamily="18" charset="0"/>
                                          <a:ea typeface="Cambria Math" panose="02040503050406030204" pitchFamily="18" charset="0"/>
                                        </a:rPr>
                                      </m:ctrlPr>
                                    </m:accPr>
                                    <m:e>
                                      <m:r>
                                        <a:rPr lang="en-US" sz="1050" b="0" i="1" smtClean="0">
                                          <a:latin typeface="Cambria Math" panose="02040503050406030204" pitchFamily="18" charset="0"/>
                                          <a:ea typeface="Cambria Math" panose="02040503050406030204" pitchFamily="18" charset="0"/>
                                        </a:rPr>
                                        <m:t>𝐴</m:t>
                                      </m:r>
                                    </m:e>
                                  </m:acc>
                                </m:e>
                                <m:sub>
                                  <m:r>
                                    <a:rPr lang="en-US" sz="1050" b="0" i="1" smtClean="0">
                                      <a:latin typeface="Cambria Math" panose="02040503050406030204" pitchFamily="18" charset="0"/>
                                    </a:rPr>
                                    <m:t>𝑟𝑒𝑐</m:t>
                                  </m:r>
                                  <m:r>
                                    <a:rPr lang="en-US" sz="1050" b="0" i="1" smtClean="0">
                                      <a:latin typeface="Cambria Math" panose="02040503050406030204" pitchFamily="18" charset="0"/>
                                    </a:rPr>
                                    <m:t>,</m:t>
                                  </m:r>
                                  <m:r>
                                    <a:rPr lang="en-US" sz="1050" b="0" i="1" smtClean="0">
                                      <a:latin typeface="Cambria Math" panose="02040503050406030204" pitchFamily="18" charset="0"/>
                                    </a:rPr>
                                    <m:t>𝑛</m:t>
                                  </m:r>
                                </m:sub>
                                <m:sup>
                                  <m:r>
                                    <a:rPr lang="en-US" sz="1050" b="0" i="1" smtClean="0">
                                      <a:latin typeface="Cambria Math" panose="02040503050406030204" pitchFamily="18" charset="0"/>
                                    </a:rPr>
                                    <m:t>(</m:t>
                                  </m:r>
                                  <m:r>
                                    <a:rPr lang="en-US" sz="1050" b="0" i="1" smtClean="0">
                                      <a:latin typeface="Cambria Math" panose="02040503050406030204" pitchFamily="18" charset="0"/>
                                    </a:rPr>
                                    <m:t>𝑘</m:t>
                                  </m:r>
                                  <m:r>
                                    <a:rPr lang="en-US" sz="1050" b="0" i="1" smtClean="0">
                                      <a:latin typeface="Cambria Math" panose="02040503050406030204" pitchFamily="18" charset="0"/>
                                    </a:rPr>
                                    <m:t>)</m:t>
                                  </m:r>
                                </m:sup>
                              </m:sSubSup>
                            </m:e>
                          </m:d>
                        </m:e>
                      </m:nary>
                    </m:oMath>
                  </m:oMathPara>
                </a14:m>
                <a:endParaRPr lang="en-IL" sz="1050" dirty="0"/>
              </a:p>
            </p:txBody>
          </p:sp>
        </mc:Choice>
        <mc:Fallback xmlns="">
          <p:sp>
            <p:nvSpPr>
              <p:cNvPr id="35" name="תיבת טקסט 34">
                <a:extLst>
                  <a:ext uri="{FF2B5EF4-FFF2-40B4-BE49-F238E27FC236}">
                    <a16:creationId xmlns:a16="http://schemas.microsoft.com/office/drawing/2014/main" id="{27952569-24EE-4420-230B-81F658CDE849}"/>
                  </a:ext>
                </a:extLst>
              </p:cNvPr>
              <p:cNvSpPr txBox="1">
                <a:spLocks noRot="1" noChangeAspect="1" noMove="1" noResize="1" noEditPoints="1" noAdjustHandles="1" noChangeArrowheads="1" noChangeShapeType="1" noTextEdit="1"/>
              </p:cNvSpPr>
              <p:nvPr/>
            </p:nvSpPr>
            <p:spPr>
              <a:xfrm>
                <a:off x="2216693" y="4218656"/>
                <a:ext cx="2625782" cy="454355"/>
              </a:xfrm>
              <a:prstGeom prst="rect">
                <a:avLst/>
              </a:prstGeom>
              <a:blipFill>
                <a:blip r:embed="rId7"/>
                <a:stretch>
                  <a:fillRect t="-116000" b="-177333"/>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36" name="תיבת טקסט 35">
                <a:extLst>
                  <a:ext uri="{FF2B5EF4-FFF2-40B4-BE49-F238E27FC236}">
                    <a16:creationId xmlns:a16="http://schemas.microsoft.com/office/drawing/2014/main" id="{3C70F9EC-B797-368D-236C-D7EC8FEED8EC}"/>
                  </a:ext>
                </a:extLst>
              </p:cNvPr>
              <p:cNvSpPr txBox="1"/>
              <p:nvPr/>
            </p:nvSpPr>
            <p:spPr>
              <a:xfrm>
                <a:off x="4754020" y="4251960"/>
                <a:ext cx="1720791" cy="4036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900" b="0" i="1" smtClean="0">
                              <a:latin typeface="Cambria Math" panose="02040503050406030204" pitchFamily="18" charset="0"/>
                            </a:rPr>
                          </m:ctrlPr>
                        </m:sSubSupPr>
                        <m:e>
                          <m:r>
                            <a:rPr lang="en-US" sz="900" b="0" i="1" smtClean="0">
                              <a:latin typeface="Cambria Math" panose="02040503050406030204" pitchFamily="18" charset="0"/>
                            </a:rPr>
                            <m:t>𝑆</m:t>
                          </m:r>
                        </m:e>
                        <m:sub>
                          <m:r>
                            <a:rPr lang="en-US" sz="900" b="0" i="1" smtClean="0">
                              <a:latin typeface="Cambria Math" panose="02040503050406030204" pitchFamily="18" charset="0"/>
                            </a:rPr>
                            <m:t>𝑔𝑟𝑎𝑝</m:t>
                          </m:r>
                          <m:r>
                            <a:rPr lang="en-US" sz="900" b="0" i="1" smtClean="0">
                              <a:latin typeface="Cambria Math" panose="02040503050406030204" pitchFamily="18" charset="0"/>
                            </a:rPr>
                            <m:t>h</m:t>
                          </m:r>
                        </m:sub>
                        <m:sup>
                          <m:r>
                            <a:rPr lang="en-US" sz="900" b="0" i="1" smtClean="0">
                              <a:latin typeface="Cambria Math" panose="02040503050406030204" pitchFamily="18" charset="0"/>
                            </a:rPr>
                            <m:t>(</m:t>
                          </m:r>
                          <m:r>
                            <a:rPr lang="en-US" sz="900" b="0" i="1" smtClean="0">
                              <a:latin typeface="Cambria Math" panose="02040503050406030204" pitchFamily="18" charset="0"/>
                            </a:rPr>
                            <m:t>𝑛</m:t>
                          </m:r>
                          <m:r>
                            <a:rPr lang="en-US" sz="900" b="0" i="1" smtClean="0">
                              <a:latin typeface="Cambria Math" panose="02040503050406030204" pitchFamily="18" charset="0"/>
                            </a:rPr>
                            <m:t>)</m:t>
                          </m:r>
                        </m:sup>
                      </m:sSubSup>
                      <m:r>
                        <a:rPr lang="en-US" sz="900" dirty="0">
                          <a:latin typeface="Cambria Math" panose="02040503050406030204" pitchFamily="18" charset="0"/>
                          <a:ea typeface="Cambria Math" panose="02040503050406030204" pitchFamily="18" charset="0"/>
                        </a:rPr>
                        <m:t>=</m:t>
                      </m:r>
                      <m:f>
                        <m:fPr>
                          <m:ctrlPr>
                            <a:rPr lang="en-IL" sz="900" i="1" dirty="0" smtClean="0">
                              <a:latin typeface="Cambria Math" panose="02040503050406030204" pitchFamily="18" charset="0"/>
                              <a:ea typeface="Cambria Math" panose="02040503050406030204" pitchFamily="18" charset="0"/>
                            </a:rPr>
                          </m:ctrlPr>
                        </m:fPr>
                        <m:num>
                          <m:r>
                            <a:rPr lang="en-US" sz="900" b="0" i="1" dirty="0" smtClean="0">
                              <a:latin typeface="Cambria Math" panose="02040503050406030204" pitchFamily="18" charset="0"/>
                              <a:ea typeface="Cambria Math" panose="02040503050406030204" pitchFamily="18" charset="0"/>
                            </a:rPr>
                            <m:t>1</m:t>
                          </m:r>
                        </m:num>
                        <m:den>
                          <m:d>
                            <m:dPr>
                              <m:begChr m:val="|"/>
                              <m:endChr m:val="|"/>
                              <m:ctrlPr>
                                <a:rPr lang="en-IL" sz="900" i="1" dirty="0" smtClean="0">
                                  <a:latin typeface="Cambria Math" panose="02040503050406030204" pitchFamily="18" charset="0"/>
                                  <a:ea typeface="Cambria Math" panose="02040503050406030204" pitchFamily="18" charset="0"/>
                                </a:rPr>
                              </m:ctrlPr>
                            </m:dPr>
                            <m:e>
                              <m:sSubSup>
                                <m:sSubSupPr>
                                  <m:ctrlPr>
                                    <a:rPr lang="en-US" sz="900" i="1">
                                      <a:latin typeface="Cambria Math" panose="02040503050406030204" pitchFamily="18" charset="0"/>
                                    </a:rPr>
                                  </m:ctrlPr>
                                </m:sSubSupPr>
                                <m:e>
                                  <m:r>
                                    <a:rPr lang="en-US" sz="900" i="1">
                                      <a:latin typeface="Cambria Math" panose="02040503050406030204" pitchFamily="18" charset="0"/>
                                    </a:rPr>
                                    <m:t>𝐸</m:t>
                                  </m:r>
                                </m:e>
                                <m:sub>
                                  <m:r>
                                    <a:rPr lang="en-US" sz="900" i="1">
                                      <a:latin typeface="Cambria Math" panose="02040503050406030204" pitchFamily="18" charset="0"/>
                                    </a:rPr>
                                    <m:t>𝑟𝑒𝑚𝑜𝑣𝑒𝑑</m:t>
                                  </m:r>
                                </m:sub>
                                <m:sup>
                                  <m:r>
                                    <a:rPr lang="en-US" sz="900" i="1">
                                      <a:latin typeface="Cambria Math" panose="02040503050406030204" pitchFamily="18" charset="0"/>
                                    </a:rPr>
                                    <m:t>(</m:t>
                                  </m:r>
                                  <m:r>
                                    <a:rPr lang="en-US" sz="900" i="1">
                                      <a:latin typeface="Cambria Math" panose="02040503050406030204" pitchFamily="18" charset="0"/>
                                    </a:rPr>
                                    <m:t>𝑛</m:t>
                                  </m:r>
                                  <m:r>
                                    <a:rPr lang="en-US" sz="900" i="1">
                                      <a:latin typeface="Cambria Math" panose="02040503050406030204" pitchFamily="18" charset="0"/>
                                    </a:rPr>
                                    <m:t>)</m:t>
                                  </m:r>
                                </m:sup>
                              </m:sSubSup>
                            </m:e>
                          </m:d>
                        </m:den>
                      </m:f>
                      <m:nary>
                        <m:naryPr>
                          <m:chr m:val="∑"/>
                          <m:supHide m:val="on"/>
                          <m:ctrlPr>
                            <a:rPr lang="en-IL" sz="900" i="1" dirty="0" smtClean="0">
                              <a:latin typeface="Cambria Math" panose="02040503050406030204" pitchFamily="18" charset="0"/>
                              <a:ea typeface="Cambria Math" panose="02040503050406030204" pitchFamily="18" charset="0"/>
                            </a:rPr>
                          </m:ctrlPr>
                        </m:naryPr>
                        <m:sub>
                          <m:r>
                            <m:rPr>
                              <m:brk m:alnAt="7"/>
                            </m:rPr>
                            <a:rPr lang="en-US" sz="900" b="0" i="1" dirty="0" smtClean="0">
                              <a:latin typeface="Cambria Math" panose="02040503050406030204" pitchFamily="18" charset="0"/>
                              <a:ea typeface="Cambria Math" panose="02040503050406030204" pitchFamily="18" charset="0"/>
                            </a:rPr>
                            <m:t>𝑒</m:t>
                          </m:r>
                          <m:r>
                            <a:rPr lang="en-US" sz="900" b="0" i="1" dirty="0" smtClean="0">
                              <a:latin typeface="Cambria Math" panose="02040503050406030204" pitchFamily="18" charset="0"/>
                              <a:ea typeface="Cambria Math" panose="02040503050406030204" pitchFamily="18" charset="0"/>
                            </a:rPr>
                            <m:t>∈</m:t>
                          </m:r>
                          <m:sSubSup>
                            <m:sSubSupPr>
                              <m:ctrlPr>
                                <a:rPr lang="en-US" sz="900" i="1">
                                  <a:latin typeface="Cambria Math" panose="02040503050406030204" pitchFamily="18" charset="0"/>
                                </a:rPr>
                              </m:ctrlPr>
                            </m:sSubSupPr>
                            <m:e>
                              <m:r>
                                <a:rPr lang="en-US" sz="900" i="1">
                                  <a:latin typeface="Cambria Math" panose="02040503050406030204" pitchFamily="18" charset="0"/>
                                </a:rPr>
                                <m:t>𝐸</m:t>
                              </m:r>
                            </m:e>
                            <m:sub>
                              <m:r>
                                <a:rPr lang="en-US" sz="900" i="1">
                                  <a:latin typeface="Cambria Math" panose="02040503050406030204" pitchFamily="18" charset="0"/>
                                </a:rPr>
                                <m:t>𝑟𝑒𝑚𝑜𝑣𝑒𝑑</m:t>
                              </m:r>
                            </m:sub>
                            <m:sup>
                              <m:r>
                                <a:rPr lang="en-US" sz="900" i="1">
                                  <a:latin typeface="Cambria Math" panose="02040503050406030204" pitchFamily="18" charset="0"/>
                                </a:rPr>
                                <m:t>(</m:t>
                              </m:r>
                              <m:r>
                                <a:rPr lang="en-US" sz="900" i="1">
                                  <a:latin typeface="Cambria Math" panose="02040503050406030204" pitchFamily="18" charset="0"/>
                                </a:rPr>
                                <m:t>𝑛</m:t>
                              </m:r>
                              <m:r>
                                <a:rPr lang="en-US" sz="900" i="1">
                                  <a:latin typeface="Cambria Math" panose="02040503050406030204" pitchFamily="18" charset="0"/>
                                </a:rPr>
                                <m:t>)</m:t>
                              </m:r>
                            </m:sup>
                          </m:sSubSup>
                        </m:sub>
                        <m:sup/>
                        <m:e>
                          <m:sSubSup>
                            <m:sSubSupPr>
                              <m:ctrlPr>
                                <a:rPr lang="en-US" sz="900" b="0" i="1" dirty="0" smtClean="0">
                                  <a:latin typeface="Cambria Math" panose="02040503050406030204" pitchFamily="18" charset="0"/>
                                  <a:ea typeface="Cambria Math" panose="02040503050406030204" pitchFamily="18" charset="0"/>
                                </a:rPr>
                              </m:ctrlPr>
                            </m:sSubSupPr>
                            <m:e>
                              <m:r>
                                <a:rPr lang="en-US" sz="900" b="0" i="1" dirty="0" smtClean="0">
                                  <a:latin typeface="Cambria Math" panose="02040503050406030204" pitchFamily="18" charset="0"/>
                                  <a:ea typeface="Cambria Math" panose="02040503050406030204" pitchFamily="18" charset="0"/>
                                </a:rPr>
                                <m:t>𝑝</m:t>
                              </m:r>
                            </m:e>
                            <m:sub>
                              <m:r>
                                <a:rPr lang="en-US" sz="900" b="0" i="1" dirty="0" smtClean="0">
                                  <a:latin typeface="Cambria Math" panose="02040503050406030204" pitchFamily="18" charset="0"/>
                                  <a:ea typeface="Cambria Math" panose="02040503050406030204" pitchFamily="18" charset="0"/>
                                </a:rPr>
                                <m:t>𝑒</m:t>
                              </m:r>
                            </m:sub>
                            <m:sup>
                              <m:r>
                                <a:rPr lang="en-US" sz="900" b="0" i="1" dirty="0" smtClean="0">
                                  <a:latin typeface="Cambria Math" panose="02040503050406030204" pitchFamily="18" charset="0"/>
                                  <a:ea typeface="Cambria Math" panose="02040503050406030204" pitchFamily="18" charset="0"/>
                                </a:rPr>
                                <m:t>(</m:t>
                              </m:r>
                              <m:r>
                                <a:rPr lang="en-US" sz="900" b="0" i="1" dirty="0" smtClean="0">
                                  <a:latin typeface="Cambria Math" panose="02040503050406030204" pitchFamily="18" charset="0"/>
                                  <a:ea typeface="Cambria Math" panose="02040503050406030204" pitchFamily="18" charset="0"/>
                                </a:rPr>
                                <m:t>𝑛</m:t>
                              </m:r>
                              <m:r>
                                <a:rPr lang="en-US" sz="900" b="0" i="1" dirty="0" smtClean="0">
                                  <a:latin typeface="Cambria Math" panose="02040503050406030204" pitchFamily="18" charset="0"/>
                                  <a:ea typeface="Cambria Math" panose="02040503050406030204" pitchFamily="18" charset="0"/>
                                </a:rPr>
                                <m:t>)</m:t>
                              </m:r>
                            </m:sup>
                          </m:sSubSup>
                        </m:e>
                      </m:nary>
                    </m:oMath>
                  </m:oMathPara>
                </a14:m>
                <a:endParaRPr lang="en-IL" sz="900" dirty="0"/>
              </a:p>
            </p:txBody>
          </p:sp>
        </mc:Choice>
        <mc:Fallback xmlns="">
          <p:sp>
            <p:nvSpPr>
              <p:cNvPr id="36" name="תיבת טקסט 35">
                <a:extLst>
                  <a:ext uri="{FF2B5EF4-FFF2-40B4-BE49-F238E27FC236}">
                    <a16:creationId xmlns:a16="http://schemas.microsoft.com/office/drawing/2014/main" id="{3C70F9EC-B797-368D-236C-D7EC8FEED8EC}"/>
                  </a:ext>
                </a:extLst>
              </p:cNvPr>
              <p:cNvSpPr txBox="1">
                <a:spLocks noRot="1" noChangeAspect="1" noMove="1" noResize="1" noEditPoints="1" noAdjustHandles="1" noChangeArrowheads="1" noChangeShapeType="1" noTextEdit="1"/>
              </p:cNvSpPr>
              <p:nvPr/>
            </p:nvSpPr>
            <p:spPr>
              <a:xfrm>
                <a:off x="4754020" y="4251960"/>
                <a:ext cx="1720791" cy="403637"/>
              </a:xfrm>
              <a:prstGeom prst="rect">
                <a:avLst/>
              </a:prstGeom>
              <a:blipFill>
                <a:blip r:embed="rId8"/>
                <a:stretch>
                  <a:fillRect l="-1418" t="-130303" r="-28369" b="-163636"/>
                </a:stretch>
              </a:blipFill>
            </p:spPr>
            <p:txBody>
              <a:bodyPr/>
              <a:lstStyle/>
              <a:p>
                <a:r>
                  <a:rPr lang="en-IL">
                    <a:noFill/>
                  </a:rPr>
                  <a:t> </a:t>
                </a:r>
              </a:p>
            </p:txBody>
          </p:sp>
        </mc:Fallback>
      </mc:AlternateContent>
      <p:sp>
        <p:nvSpPr>
          <p:cNvPr id="37" name="Shape 15">
            <a:extLst>
              <a:ext uri="{FF2B5EF4-FFF2-40B4-BE49-F238E27FC236}">
                <a16:creationId xmlns:a16="http://schemas.microsoft.com/office/drawing/2014/main" id="{3AB2F382-EE74-8F05-6555-3054E74E39E6}"/>
              </a:ext>
            </a:extLst>
          </p:cNvPr>
          <p:cNvSpPr/>
          <p:nvPr/>
        </p:nvSpPr>
        <p:spPr>
          <a:xfrm>
            <a:off x="6828282" y="4179458"/>
            <a:ext cx="1700784" cy="548640"/>
          </a:xfrm>
          <a:prstGeom prst="roundRect">
            <a:avLst>
              <a:gd name="adj" fmla="val 6667"/>
            </a:avLst>
          </a:prstGeom>
          <a:solidFill>
            <a:srgbClr val="F1EFF7"/>
          </a:solidFill>
          <a:ln w="9525">
            <a:solidFill>
              <a:srgbClr val="B7B1CD"/>
            </a:solidFill>
            <a:prstDash val="solid"/>
          </a:ln>
        </p:spPr>
        <p:txBody>
          <a:bodyPr/>
          <a:lstStyle/>
          <a:p>
            <a:endParaRPr lang="en-IL"/>
          </a:p>
        </p:txBody>
      </p:sp>
      <mc:AlternateContent xmlns:mc="http://schemas.openxmlformats.org/markup-compatibility/2006" xmlns:a14="http://schemas.microsoft.com/office/drawing/2010/main">
        <mc:Choice Requires="a14">
          <p:sp>
            <p:nvSpPr>
              <p:cNvPr id="38" name="תיבת טקסט 37">
                <a:extLst>
                  <a:ext uri="{FF2B5EF4-FFF2-40B4-BE49-F238E27FC236}">
                    <a16:creationId xmlns:a16="http://schemas.microsoft.com/office/drawing/2014/main" id="{FEAEC8FF-3883-512E-A7BF-D74255496358}"/>
                  </a:ext>
                </a:extLst>
              </p:cNvPr>
              <p:cNvSpPr txBox="1"/>
              <p:nvPr/>
            </p:nvSpPr>
            <p:spPr>
              <a:xfrm>
                <a:off x="6927307" y="4207851"/>
                <a:ext cx="1477071" cy="4759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𝑆</m:t>
                          </m:r>
                        </m:e>
                        <m:sub>
                          <m:r>
                            <a:rPr lang="en-US" sz="1100" b="0" i="1" smtClean="0">
                              <a:latin typeface="Cambria Math" panose="02040503050406030204" pitchFamily="18" charset="0"/>
                            </a:rPr>
                            <m:t>𝑠𝑡𝑎𝑏𝑖𝑙𝑖𝑡𝑦</m:t>
                          </m:r>
                        </m:sub>
                      </m:sSub>
                      <m:r>
                        <a:rPr lang="en-US" sz="1100" b="0" i="1" smtClean="0">
                          <a:latin typeface="Cambria Math" panose="02040503050406030204" pitchFamily="18" charset="0"/>
                        </a:rPr>
                        <m:t>=</m:t>
                      </m:r>
                      <m:f>
                        <m:fPr>
                          <m:ctrlPr>
                            <a:rPr lang="en-US" sz="1100" b="0" i="1" smtClean="0">
                              <a:latin typeface="Cambria Math" panose="02040503050406030204" pitchFamily="18" charset="0"/>
                            </a:rPr>
                          </m:ctrlPr>
                        </m:fPr>
                        <m:num>
                          <m:r>
                            <a:rPr lang="en-US" sz="1100" b="0" i="1" smtClean="0">
                              <a:latin typeface="Cambria Math" panose="02040503050406030204" pitchFamily="18" charset="0"/>
                            </a:rPr>
                            <m:t>1</m:t>
                          </m:r>
                        </m:num>
                        <m:den>
                          <m:r>
                            <a:rPr lang="en-US" sz="1100" b="0" i="1" smtClean="0">
                              <a:latin typeface="Cambria Math" panose="02040503050406030204" pitchFamily="18" charset="0"/>
                            </a:rPr>
                            <m:t>𝑁</m:t>
                          </m:r>
                        </m:den>
                      </m:f>
                      <m:nary>
                        <m:naryPr>
                          <m:chr m:val="∑"/>
                          <m:ctrlPr>
                            <a:rPr lang="en-IL" sz="1100" b="0" i="1" smtClean="0">
                              <a:latin typeface="Cambria Math" panose="02040503050406030204" pitchFamily="18" charset="0"/>
                            </a:rPr>
                          </m:ctrlPr>
                        </m:naryPr>
                        <m:sub>
                          <m:r>
                            <m:rPr>
                              <m:brk m:alnAt="23"/>
                            </m:rPr>
                            <a:rPr lang="en-US" sz="1100" b="0" i="1" smtClean="0">
                              <a:latin typeface="Cambria Math" panose="02040503050406030204" pitchFamily="18" charset="0"/>
                            </a:rPr>
                            <m:t>𝑛</m:t>
                          </m:r>
                          <m:r>
                            <a:rPr lang="en-US" sz="1100" b="0" i="1" smtClean="0">
                              <a:latin typeface="Cambria Math" panose="02040503050406030204" pitchFamily="18" charset="0"/>
                            </a:rPr>
                            <m:t>=</m:t>
                          </m:r>
                          <m:r>
                            <m:rPr>
                              <m:brk m:alnAt="23"/>
                            </m:rPr>
                            <a:rPr lang="en-US" sz="1100" b="0" i="1" smtClean="0">
                              <a:latin typeface="Cambria Math" panose="02040503050406030204" pitchFamily="18" charset="0"/>
                            </a:rPr>
                            <m:t>1</m:t>
                          </m:r>
                        </m:sub>
                        <m:sup>
                          <m:r>
                            <a:rPr lang="en-US" sz="1100" b="0" i="1" smtClean="0">
                              <a:latin typeface="Cambria Math" panose="02040503050406030204" pitchFamily="18" charset="0"/>
                            </a:rPr>
                            <m:t>𝑁</m:t>
                          </m:r>
                        </m:sup>
                        <m:e>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𝑆</m:t>
                              </m:r>
                            </m:e>
                            <m:sub>
                              <m:r>
                                <a:rPr lang="en-US" sz="1100" b="0" i="1" smtClean="0">
                                  <a:latin typeface="Cambria Math" panose="02040503050406030204" pitchFamily="18" charset="0"/>
                                </a:rPr>
                                <m:t>𝑔𝑟𝑎𝑝</m:t>
                              </m:r>
                              <m:r>
                                <a:rPr lang="en-US" sz="1100" b="0" i="1" smtClean="0">
                                  <a:latin typeface="Cambria Math" panose="02040503050406030204" pitchFamily="18" charset="0"/>
                                </a:rPr>
                                <m:t>h</m:t>
                              </m:r>
                            </m:sub>
                            <m:sup>
                              <m:r>
                                <a:rPr lang="en-US" sz="1100" b="0" i="1" smtClean="0">
                                  <a:latin typeface="Cambria Math" panose="02040503050406030204" pitchFamily="18" charset="0"/>
                                </a:rPr>
                                <m:t>(</m:t>
                              </m:r>
                              <m:r>
                                <a:rPr lang="en-US" sz="1100" b="0" i="1" smtClean="0">
                                  <a:latin typeface="Cambria Math" panose="02040503050406030204" pitchFamily="18" charset="0"/>
                                </a:rPr>
                                <m:t>𝑛</m:t>
                              </m:r>
                              <m:r>
                                <a:rPr lang="en-US" sz="1100" b="0" i="1" smtClean="0">
                                  <a:latin typeface="Cambria Math" panose="02040503050406030204" pitchFamily="18" charset="0"/>
                                </a:rPr>
                                <m:t>)</m:t>
                              </m:r>
                            </m:sup>
                          </m:sSubSup>
                        </m:e>
                      </m:nary>
                    </m:oMath>
                  </m:oMathPara>
                </a14:m>
                <a:endParaRPr lang="en-IL" sz="1100" dirty="0"/>
              </a:p>
            </p:txBody>
          </p:sp>
        </mc:Choice>
        <mc:Fallback xmlns="">
          <p:sp>
            <p:nvSpPr>
              <p:cNvPr id="38" name="תיבת טקסט 37">
                <a:extLst>
                  <a:ext uri="{FF2B5EF4-FFF2-40B4-BE49-F238E27FC236}">
                    <a16:creationId xmlns:a16="http://schemas.microsoft.com/office/drawing/2014/main" id="{FEAEC8FF-3883-512E-A7BF-D74255496358}"/>
                  </a:ext>
                </a:extLst>
              </p:cNvPr>
              <p:cNvSpPr txBox="1">
                <a:spLocks noRot="1" noChangeAspect="1" noMove="1" noResize="1" noEditPoints="1" noAdjustHandles="1" noChangeArrowheads="1" noChangeShapeType="1" noTextEdit="1"/>
              </p:cNvSpPr>
              <p:nvPr/>
            </p:nvSpPr>
            <p:spPr>
              <a:xfrm>
                <a:off x="6927307" y="4207851"/>
                <a:ext cx="1477071" cy="475964"/>
              </a:xfrm>
              <a:prstGeom prst="rect">
                <a:avLst/>
              </a:prstGeom>
              <a:blipFill>
                <a:blip r:embed="rId9"/>
                <a:stretch>
                  <a:fillRect l="-1646" t="-116667" r="-41975" b="-179487"/>
                </a:stretch>
              </a:blipFill>
            </p:spPr>
            <p:txBody>
              <a:bodyPr/>
              <a:lstStyle/>
              <a:p>
                <a:r>
                  <a:rPr lang="en-IL">
                    <a:noFill/>
                  </a:rPr>
                  <a:t> </a:t>
                </a:r>
              </a:p>
            </p:txBody>
          </p:sp>
        </mc:Fallback>
      </mc:AlternateContent>
      <p:sp>
        <p:nvSpPr>
          <p:cNvPr id="18" name="Text 6">
            <a:extLst>
              <a:ext uri="{FF2B5EF4-FFF2-40B4-BE49-F238E27FC236}">
                <a16:creationId xmlns:a16="http://schemas.microsoft.com/office/drawing/2014/main" id="{24BEE8EE-130C-9AB4-CE3D-1F3E74351976}"/>
              </a:ext>
            </a:extLst>
          </p:cNvPr>
          <p:cNvSpPr/>
          <p:nvPr/>
        </p:nvSpPr>
        <p:spPr>
          <a:xfrm>
            <a:off x="8770144" y="4876800"/>
            <a:ext cx="221456"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13" dirty="0">
                <a:solidFill>
                  <a:srgbClr val="7A75A3"/>
                </a:solidFill>
                <a:latin typeface="Arial" pitchFamily="34" charset="0"/>
                <a:ea typeface="Arial" pitchFamily="34" charset="-122"/>
                <a:cs typeface="Arial" pitchFamily="34" charset="-120"/>
              </a:rPr>
              <a:t>12</a:t>
            </a:r>
            <a:endParaRPr lang="en-US" sz="8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marL="0" indent="0">
              <a:buNone/>
            </a:pPr>
            <a:r>
              <a:rPr lang="en-US" sz="1100" b="1" kern="0" spc="300" dirty="0">
                <a:solidFill>
                  <a:srgbClr val="7A75A3"/>
                </a:solidFill>
                <a:latin typeface="Arial" pitchFamily="34" charset="0"/>
                <a:ea typeface="Arial" pitchFamily="34" charset="-122"/>
                <a:cs typeface="Arial" pitchFamily="34" charset="-120"/>
              </a:rPr>
              <a:t>EVALUATION DATA</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r>
              <a:rPr lang="en-IL" sz="3000" b="1" dirty="0">
                <a:solidFill>
                  <a:srgbClr val="2E2B45"/>
                </a:solidFill>
                <a:latin typeface="Arial Black" panose="020B0A04020102020204" pitchFamily="34" charset="0"/>
                <a:cs typeface="Arial" pitchFamily="34" charset="-120"/>
              </a:rPr>
              <a:t>Evaluation Datasets</a:t>
            </a:r>
            <a:endParaRPr lang="en-US" sz="3000" b="1" dirty="0">
              <a:solidFill>
                <a:srgbClr val="2E2B45"/>
              </a:solidFill>
              <a:latin typeface="Arial Black" panose="020B0A04020102020204" pitchFamily="34" charset="0"/>
              <a:cs typeface="Arial" pitchFamily="34" charset="-120"/>
            </a:endParaRPr>
          </a:p>
        </p:txBody>
      </p:sp>
      <p:sp>
        <p:nvSpPr>
          <p:cNvPr id="5" name="Shape 2"/>
          <p:cNvSpPr/>
          <p:nvPr/>
        </p:nvSpPr>
        <p:spPr>
          <a:xfrm>
            <a:off x="502920" y="3230118"/>
            <a:ext cx="3977640" cy="1657350"/>
          </a:xfrm>
          <a:prstGeom prst="roundRect">
            <a:avLst>
              <a:gd name="adj" fmla="val 4375"/>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6" name="Text 3"/>
          <p:cNvSpPr/>
          <p:nvPr/>
        </p:nvSpPr>
        <p:spPr>
          <a:xfrm>
            <a:off x="731520" y="3312414"/>
            <a:ext cx="3566160" cy="292608"/>
          </a:xfrm>
          <a:prstGeom prst="rect">
            <a:avLst/>
          </a:prstGeom>
          <a:noFill/>
          <a:ln/>
        </p:spPr>
        <p:txBody>
          <a:bodyPr wrap="square" lIns="0" tIns="0" rIns="0" bIns="0" rtlCol="0" anchor="ctr"/>
          <a:lstStyle/>
          <a:p>
            <a:pPr marL="0" indent="0" algn="l">
              <a:buNone/>
            </a:pPr>
            <a:r>
              <a:rPr lang="en-US" sz="1350" b="1" dirty="0">
                <a:solidFill>
                  <a:srgbClr val="4E4A73"/>
                </a:solidFill>
                <a:latin typeface="Aptos Black" panose="020B0004020202020204" pitchFamily="34" charset="0"/>
                <a:ea typeface="Arial" pitchFamily="34" charset="-122"/>
                <a:cs typeface="Arial" pitchFamily="34" charset="-120"/>
              </a:rPr>
              <a:t>Synthetic Datasets</a:t>
            </a:r>
            <a:endParaRPr lang="en-US" sz="1350" dirty="0">
              <a:latin typeface="Aptos Black" panose="020B0004020202020204" pitchFamily="34" charset="0"/>
            </a:endParaRPr>
          </a:p>
        </p:txBody>
      </p:sp>
      <p:sp>
        <p:nvSpPr>
          <p:cNvPr id="7" name="Text 4"/>
          <p:cNvSpPr/>
          <p:nvPr/>
        </p:nvSpPr>
        <p:spPr>
          <a:xfrm>
            <a:off x="731520" y="3659886"/>
            <a:ext cx="3566160" cy="868680"/>
          </a:xfrm>
          <a:prstGeom prst="rect">
            <a:avLst/>
          </a:prstGeom>
          <a:noFill/>
          <a:ln/>
        </p:spPr>
        <p:txBody>
          <a:bodyPr wrap="square" lIns="0" tIns="0" rIns="0" bIns="0" rtlCol="0" anchor="t"/>
          <a:lstStyle/>
          <a:p>
            <a:pPr>
              <a:lnSpc>
                <a:spcPts val="1300"/>
              </a:lnSpc>
            </a:pPr>
            <a:r>
              <a:rPr lang="en-US" sz="1050" b="1" dirty="0">
                <a:solidFill>
                  <a:srgbClr val="4E4A73"/>
                </a:solidFill>
                <a:latin typeface="Bierstadt" panose="020B0004020202020204" pitchFamily="34" charset="0"/>
                <a:ea typeface="Calibri" pitchFamily="34" charset="-122"/>
                <a:cs typeface="Calibri" pitchFamily="34" charset="-120"/>
              </a:rPr>
              <a:t>SBM: </a:t>
            </a:r>
            <a:r>
              <a:rPr lang="en-IL" sz="1050" dirty="0">
                <a:latin typeface="Bierstadt" panose="020B0004020202020204" pitchFamily="34" charset="0"/>
              </a:rPr>
              <a:t>Modular community structure. Stress-tests the Angular constraint's ability to preserve local structure under perturbation. </a:t>
            </a:r>
            <a:br>
              <a:rPr lang="en-US" sz="1050" dirty="0">
                <a:latin typeface="Bierstadt" panose="020B0004020202020204" pitchFamily="34" charset="0"/>
              </a:rPr>
            </a:br>
            <a:endParaRPr lang="en-US" sz="1050" dirty="0">
              <a:latin typeface="Bierstadt" panose="020B0004020202020204" pitchFamily="34" charset="0"/>
            </a:endParaRPr>
          </a:p>
          <a:p>
            <a:pPr>
              <a:lnSpc>
                <a:spcPts val="1300"/>
              </a:lnSpc>
            </a:pPr>
            <a:r>
              <a:rPr lang="en-US" sz="1050" b="1" dirty="0">
                <a:solidFill>
                  <a:srgbClr val="4E4A73"/>
                </a:solidFill>
                <a:latin typeface="Bierstadt" panose="020B0004020202020204" pitchFamily="34" charset="0"/>
                <a:ea typeface="Calibri" pitchFamily="34" charset="-122"/>
                <a:cs typeface="Calibri" pitchFamily="34" charset="-120"/>
              </a:rPr>
              <a:t>BA: </a:t>
            </a:r>
            <a:r>
              <a:rPr lang="en-IL" sz="1050" dirty="0">
                <a:latin typeface="Bierstadt" panose="020B0004020202020204" pitchFamily="34" charset="0"/>
              </a:rPr>
              <a:t>Scale-free hub topology. Stress-tests the Radial constraint's ability to protect high-degree nodes under targeted attacks.</a:t>
            </a:r>
            <a:endParaRPr lang="en-US" sz="1050" dirty="0">
              <a:latin typeface="Bierstadt" panose="020B0004020202020204" pitchFamily="34" charset="0"/>
            </a:endParaRPr>
          </a:p>
        </p:txBody>
      </p:sp>
      <p:sp>
        <p:nvSpPr>
          <p:cNvPr id="8" name="Shape 5"/>
          <p:cNvSpPr/>
          <p:nvPr/>
        </p:nvSpPr>
        <p:spPr>
          <a:xfrm>
            <a:off x="4663440" y="3230118"/>
            <a:ext cx="3977640" cy="1657350"/>
          </a:xfrm>
          <a:prstGeom prst="roundRect">
            <a:avLst>
              <a:gd name="adj" fmla="val 4375"/>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9" name="Text 6"/>
          <p:cNvSpPr/>
          <p:nvPr/>
        </p:nvSpPr>
        <p:spPr>
          <a:xfrm>
            <a:off x="4892040" y="3315843"/>
            <a:ext cx="3566160" cy="292608"/>
          </a:xfrm>
          <a:prstGeom prst="rect">
            <a:avLst/>
          </a:prstGeom>
          <a:noFill/>
          <a:ln/>
        </p:spPr>
        <p:txBody>
          <a:bodyPr wrap="square" lIns="0" tIns="0" rIns="0" bIns="0" rtlCol="0" anchor="ctr"/>
          <a:lstStyle/>
          <a:p>
            <a:pPr marL="0" indent="0" algn="l">
              <a:buNone/>
            </a:pPr>
            <a:r>
              <a:rPr lang="en-US" sz="1350" b="1" dirty="0">
                <a:solidFill>
                  <a:srgbClr val="4E4A73"/>
                </a:solidFill>
                <a:latin typeface="Aptos Black" panose="020B0004020202020204" pitchFamily="34" charset="0"/>
                <a:ea typeface="Arial" pitchFamily="34" charset="-122"/>
                <a:cs typeface="Arial" pitchFamily="34" charset="-120"/>
              </a:rPr>
              <a:t>Real-World Datasets</a:t>
            </a:r>
            <a:endParaRPr lang="en-US" sz="1350" dirty="0">
              <a:latin typeface="Aptos Black" panose="020B0004020202020204" pitchFamily="34" charset="0"/>
            </a:endParaRPr>
          </a:p>
        </p:txBody>
      </p:sp>
      <p:sp>
        <p:nvSpPr>
          <p:cNvPr id="10" name="Text 7"/>
          <p:cNvSpPr/>
          <p:nvPr/>
        </p:nvSpPr>
        <p:spPr>
          <a:xfrm>
            <a:off x="4892040" y="3659886"/>
            <a:ext cx="3566160" cy="868680"/>
          </a:xfrm>
          <a:prstGeom prst="rect">
            <a:avLst/>
          </a:prstGeom>
          <a:noFill/>
          <a:ln/>
        </p:spPr>
        <p:txBody>
          <a:bodyPr wrap="square" lIns="0" tIns="0" rIns="0" bIns="0" rtlCol="0" anchor="t"/>
          <a:lstStyle/>
          <a:p>
            <a:pPr>
              <a:lnSpc>
                <a:spcPts val="1300"/>
              </a:lnSpc>
            </a:pPr>
            <a:r>
              <a:rPr lang="en-US" sz="1050" b="1" dirty="0">
                <a:solidFill>
                  <a:srgbClr val="4E4A73"/>
                </a:solidFill>
                <a:latin typeface="Bierstadt" panose="020B0004020202020204" pitchFamily="34" charset="0"/>
                <a:ea typeface="Calibri" pitchFamily="34" charset="-122"/>
                <a:cs typeface="Calibri" pitchFamily="34" charset="-120"/>
              </a:rPr>
              <a:t>IMDB-B (Social): </a:t>
            </a:r>
            <a:r>
              <a:rPr lang="en-IL" sz="1050" dirty="0">
                <a:latin typeface="Bierstadt" panose="020B0004020202020204" pitchFamily="34" charset="0"/>
              </a:rPr>
              <a:t>Co-starring network with dense local cliques. Validates the framework on naturally clustered social topologies.</a:t>
            </a:r>
            <a:br>
              <a:rPr lang="en-US" sz="1050" dirty="0">
                <a:latin typeface="Bierstadt" panose="020B0004020202020204" pitchFamily="34" charset="0"/>
              </a:rPr>
            </a:br>
            <a:r>
              <a:rPr lang="en-IL" sz="1050" dirty="0">
                <a:latin typeface="Bierstadt" panose="020B0004020202020204" pitchFamily="34" charset="0"/>
              </a:rPr>
              <a:t> </a:t>
            </a:r>
            <a:endParaRPr lang="en-US" sz="1050" dirty="0">
              <a:latin typeface="Bierstadt" panose="020B0004020202020204" pitchFamily="34" charset="0"/>
            </a:endParaRPr>
          </a:p>
          <a:p>
            <a:pPr>
              <a:lnSpc>
                <a:spcPts val="1300"/>
              </a:lnSpc>
            </a:pPr>
            <a:r>
              <a:rPr lang="en-US" sz="1050" b="1" dirty="0">
                <a:solidFill>
                  <a:srgbClr val="4E4A73"/>
                </a:solidFill>
                <a:latin typeface="Bierstadt" panose="020B0004020202020204" pitchFamily="34" charset="0"/>
                <a:ea typeface="Calibri" pitchFamily="34" charset="-122"/>
                <a:cs typeface="Calibri" pitchFamily="34" charset="-120"/>
              </a:rPr>
              <a:t>PROTEINS (Biological):</a:t>
            </a:r>
            <a:r>
              <a:rPr lang="en-IL" sz="1050" dirty="0">
                <a:latin typeface="Bierstadt" panose="020B0004020202020204" pitchFamily="34" charset="0"/>
              </a:rPr>
              <a:t> Amino-acid contact network with edges within 6 Å. Validates performance on spatially dense, non-hierarchical topologies.</a:t>
            </a:r>
            <a:endParaRPr lang="en-US" sz="1050" dirty="0">
              <a:latin typeface="Bierstadt" panose="020B0004020202020204" pitchFamily="34" charset="0"/>
            </a:endParaRPr>
          </a:p>
        </p:txBody>
      </p:sp>
      <p:sp>
        <p:nvSpPr>
          <p:cNvPr id="11" name="Text 6">
            <a:extLst>
              <a:ext uri="{FF2B5EF4-FFF2-40B4-BE49-F238E27FC236}">
                <a16:creationId xmlns:a16="http://schemas.microsoft.com/office/drawing/2014/main" id="{BE125097-EE25-7A5F-F789-A7F5ED8F85B6}"/>
              </a:ext>
            </a:extLst>
          </p:cNvPr>
          <p:cNvSpPr/>
          <p:nvPr/>
        </p:nvSpPr>
        <p:spPr>
          <a:xfrm>
            <a:off x="8770144" y="4876800"/>
            <a:ext cx="221456"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13" dirty="0">
                <a:solidFill>
                  <a:srgbClr val="7A75A3"/>
                </a:solidFill>
                <a:latin typeface="Arial" pitchFamily="34" charset="0"/>
                <a:ea typeface="Arial" pitchFamily="34" charset="-122"/>
                <a:cs typeface="Arial" pitchFamily="34" charset="-120"/>
              </a:rPr>
              <a:t>13</a:t>
            </a:r>
            <a:endParaRPr lang="en-US" sz="825" dirty="0"/>
          </a:p>
        </p:txBody>
      </p:sp>
      <p:pic>
        <p:nvPicPr>
          <p:cNvPr id="12" name="Picture 13">
            <a:extLst>
              <a:ext uri="{FF2B5EF4-FFF2-40B4-BE49-F238E27FC236}">
                <a16:creationId xmlns:a16="http://schemas.microsoft.com/office/drawing/2014/main" id="{28CC3FD0-21D3-090F-6BC0-4570A74CB88C}"/>
              </a:ext>
            </a:extLst>
          </p:cNvPr>
          <p:cNvPicPr>
            <a:picLocks noChangeAspect="1"/>
          </p:cNvPicPr>
          <p:nvPr/>
        </p:nvPicPr>
        <p:blipFill>
          <a:blip r:embed="rId3">
            <a:extLst>
              <a:ext uri="{28A0092B-C50C-407E-A947-70E740481C1C}">
                <a14:useLocalDpi xmlns:a14="http://schemas.microsoft.com/office/drawing/2010/main" val="0"/>
              </a:ext>
            </a:extLst>
          </a:blip>
          <a:srcRect b="50761"/>
          <a:stretch>
            <a:fillRect/>
          </a:stretch>
        </p:blipFill>
        <p:spPr>
          <a:xfrm>
            <a:off x="921693" y="1069848"/>
            <a:ext cx="7300614" cy="20231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marL="0" indent="0">
              <a:buNone/>
            </a:pPr>
            <a:r>
              <a:rPr lang="en-US" sz="1100" b="1" kern="0" spc="300" dirty="0">
                <a:solidFill>
                  <a:srgbClr val="7A75A3"/>
                </a:solidFill>
                <a:latin typeface="Arial" pitchFamily="34" charset="0"/>
                <a:ea typeface="Arial" pitchFamily="34" charset="-122"/>
                <a:cs typeface="Arial" pitchFamily="34" charset="-120"/>
              </a:rPr>
              <a:t>VERIFICATION</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marL="0" indent="0">
              <a:buNone/>
            </a:pPr>
            <a:r>
              <a:rPr lang="en-US" sz="3000" b="1" dirty="0">
                <a:solidFill>
                  <a:srgbClr val="2E2B45"/>
                </a:solidFill>
                <a:latin typeface="Arial Black" panose="020B0A04020102020204" pitchFamily="34" charset="0"/>
                <a:ea typeface="Arial" pitchFamily="34" charset="-122"/>
                <a:cs typeface="Arial" pitchFamily="34" charset="-120"/>
              </a:rPr>
              <a:t>Validation &amp; Evaluation</a:t>
            </a:r>
            <a:endParaRPr lang="en-US" sz="3000" dirty="0">
              <a:latin typeface="Arial Black" panose="020B0A04020102020204" pitchFamily="34" charset="0"/>
            </a:endParaRPr>
          </a:p>
        </p:txBody>
      </p:sp>
      <p:sp>
        <p:nvSpPr>
          <p:cNvPr id="4" name="Shape 2"/>
          <p:cNvSpPr/>
          <p:nvPr/>
        </p:nvSpPr>
        <p:spPr>
          <a:xfrm>
            <a:off x="502920" y="1314450"/>
            <a:ext cx="2560320" cy="2606040"/>
          </a:xfrm>
          <a:prstGeom prst="roundRect">
            <a:avLst>
              <a:gd name="adj" fmla="val 2545"/>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5" name="Shape 3"/>
          <p:cNvSpPr/>
          <p:nvPr/>
        </p:nvSpPr>
        <p:spPr>
          <a:xfrm>
            <a:off x="1508760" y="1588770"/>
            <a:ext cx="548640" cy="548640"/>
          </a:xfrm>
          <a:prstGeom prst="ellipse">
            <a:avLst/>
          </a:prstGeom>
          <a:solidFill>
            <a:srgbClr val="F1EFF7"/>
          </a:solidFill>
          <a:ln w="12700">
            <a:solidFill>
              <a:srgbClr val="B7B1CD"/>
            </a:solidFill>
            <a:prstDash val="solid"/>
          </a:ln>
        </p:spPr>
        <p:txBody>
          <a:bodyPr/>
          <a:lstStyle/>
          <a:p>
            <a:endParaRPr lang="en-IL"/>
          </a:p>
        </p:txBody>
      </p:sp>
      <p:pic>
        <p:nvPicPr>
          <p:cNvPr id="6" name="Image 0" descr="preencoded.png"/>
          <p:cNvPicPr>
            <a:picLocks noChangeAspect="1"/>
          </p:cNvPicPr>
          <p:nvPr/>
        </p:nvPicPr>
        <p:blipFill>
          <a:blip r:embed="rId3"/>
          <a:stretch>
            <a:fillRect/>
          </a:stretch>
        </p:blipFill>
        <p:spPr>
          <a:xfrm>
            <a:off x="1651406" y="1731416"/>
            <a:ext cx="263347" cy="263347"/>
          </a:xfrm>
          <a:prstGeom prst="rect">
            <a:avLst/>
          </a:prstGeom>
        </p:spPr>
      </p:pic>
      <p:sp>
        <p:nvSpPr>
          <p:cNvPr id="7" name="Text 4"/>
          <p:cNvSpPr/>
          <p:nvPr/>
        </p:nvSpPr>
        <p:spPr>
          <a:xfrm>
            <a:off x="704088" y="2320290"/>
            <a:ext cx="2157984" cy="292608"/>
          </a:xfrm>
          <a:prstGeom prst="rect">
            <a:avLst/>
          </a:prstGeom>
          <a:noFill/>
          <a:ln/>
        </p:spPr>
        <p:txBody>
          <a:bodyPr wrap="square" lIns="0" tIns="0" rIns="0" bIns="0" rtlCol="0" anchor="ctr"/>
          <a:lstStyle/>
          <a:p>
            <a:pPr marL="0" indent="0" algn="ctr">
              <a:buNone/>
            </a:pPr>
            <a:r>
              <a:rPr lang="en-US" sz="1350" b="1" dirty="0">
                <a:solidFill>
                  <a:srgbClr val="4E4A73"/>
                </a:solidFill>
                <a:latin typeface="Aptos Black" panose="020B0004020202020204" pitchFamily="34" charset="0"/>
                <a:ea typeface="Arial" pitchFamily="34" charset="-122"/>
                <a:cs typeface="Arial" pitchFamily="34" charset="-120"/>
              </a:rPr>
              <a:t>Generative Consistency</a:t>
            </a:r>
            <a:endParaRPr lang="en-US" sz="1350" dirty="0">
              <a:latin typeface="Aptos Black" panose="020B0004020202020204" pitchFamily="34" charset="0"/>
            </a:endParaRPr>
          </a:p>
        </p:txBody>
      </p:sp>
      <p:sp>
        <p:nvSpPr>
          <p:cNvPr id="8" name="Text 5"/>
          <p:cNvSpPr/>
          <p:nvPr/>
        </p:nvSpPr>
        <p:spPr>
          <a:xfrm>
            <a:off x="758952" y="2794327"/>
            <a:ext cx="2048256" cy="777240"/>
          </a:xfrm>
          <a:prstGeom prst="rect">
            <a:avLst/>
          </a:prstGeom>
          <a:noFill/>
          <a:ln/>
        </p:spPr>
        <p:txBody>
          <a:bodyPr wrap="square" lIns="0" tIns="0" rIns="0" bIns="0" rtlCol="0" anchor="t"/>
          <a:lstStyle/>
          <a:p>
            <a:pPr marL="0" indent="0" algn="ctr">
              <a:lnSpc>
                <a:spcPts val="1500"/>
              </a:lnSpc>
              <a:buNone/>
            </a:pPr>
            <a:r>
              <a:rPr lang="en-US" sz="1150" dirty="0">
                <a:solidFill>
                  <a:srgbClr val="2E2B45"/>
                </a:solidFill>
                <a:latin typeface="Bierstadt" panose="020B0004020202020204" pitchFamily="34" charset="0"/>
                <a:ea typeface="Calibri" pitchFamily="34" charset="-122"/>
                <a:cs typeface="Calibri" pitchFamily="34" charset="-120"/>
              </a:rPr>
              <a:t>Evaluates structural fidelity of reconstructions using MMD (distributional similarity) and F1 Score (edge-level precision/recall).</a:t>
            </a:r>
            <a:endParaRPr lang="en-US" sz="1150" dirty="0">
              <a:latin typeface="Bierstadt" panose="020B0004020202020204" pitchFamily="34" charset="0"/>
            </a:endParaRPr>
          </a:p>
        </p:txBody>
      </p:sp>
      <p:sp>
        <p:nvSpPr>
          <p:cNvPr id="9" name="Shape 6"/>
          <p:cNvSpPr/>
          <p:nvPr/>
        </p:nvSpPr>
        <p:spPr>
          <a:xfrm>
            <a:off x="3291840" y="1314450"/>
            <a:ext cx="2560320" cy="2606040"/>
          </a:xfrm>
          <a:prstGeom prst="roundRect">
            <a:avLst>
              <a:gd name="adj" fmla="val 2545"/>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10" name="Shape 7"/>
          <p:cNvSpPr/>
          <p:nvPr/>
        </p:nvSpPr>
        <p:spPr>
          <a:xfrm>
            <a:off x="4297680" y="1588770"/>
            <a:ext cx="548640" cy="548640"/>
          </a:xfrm>
          <a:prstGeom prst="ellipse">
            <a:avLst/>
          </a:prstGeom>
          <a:solidFill>
            <a:srgbClr val="F1EFF7"/>
          </a:solidFill>
          <a:ln w="12700">
            <a:solidFill>
              <a:srgbClr val="B7B1CD"/>
            </a:solidFill>
            <a:prstDash val="solid"/>
          </a:ln>
        </p:spPr>
        <p:txBody>
          <a:bodyPr/>
          <a:lstStyle/>
          <a:p>
            <a:endParaRPr lang="en-IL"/>
          </a:p>
        </p:txBody>
      </p:sp>
      <p:pic>
        <p:nvPicPr>
          <p:cNvPr id="11" name="Image 1" descr="preencoded.png"/>
          <p:cNvPicPr>
            <a:picLocks noChangeAspect="1"/>
          </p:cNvPicPr>
          <p:nvPr/>
        </p:nvPicPr>
        <p:blipFill>
          <a:blip r:embed="rId4"/>
          <a:stretch>
            <a:fillRect/>
          </a:stretch>
        </p:blipFill>
        <p:spPr>
          <a:xfrm>
            <a:off x="4440326" y="1731416"/>
            <a:ext cx="263347" cy="263347"/>
          </a:xfrm>
          <a:prstGeom prst="rect">
            <a:avLst/>
          </a:prstGeom>
        </p:spPr>
      </p:pic>
      <p:sp>
        <p:nvSpPr>
          <p:cNvPr id="12" name="Text 8"/>
          <p:cNvSpPr/>
          <p:nvPr/>
        </p:nvSpPr>
        <p:spPr>
          <a:xfrm>
            <a:off x="3493008" y="2320290"/>
            <a:ext cx="2157984" cy="292608"/>
          </a:xfrm>
          <a:prstGeom prst="rect">
            <a:avLst/>
          </a:prstGeom>
          <a:noFill/>
          <a:ln/>
        </p:spPr>
        <p:txBody>
          <a:bodyPr wrap="square" lIns="0" tIns="0" rIns="0" bIns="0" rtlCol="0" anchor="ctr"/>
          <a:lstStyle/>
          <a:p>
            <a:pPr marL="0" indent="0" algn="ctr">
              <a:buNone/>
            </a:pPr>
            <a:r>
              <a:rPr lang="en-US" sz="1350" b="1" dirty="0">
                <a:solidFill>
                  <a:srgbClr val="4E4A73"/>
                </a:solidFill>
                <a:latin typeface="Aptos Black" panose="020B0004020202020204" pitchFamily="34" charset="0"/>
                <a:ea typeface="Arial" pitchFamily="34" charset="-122"/>
                <a:cs typeface="Arial" pitchFamily="34" charset="-120"/>
              </a:rPr>
              <a:t>Robustness Degradation</a:t>
            </a:r>
            <a:endParaRPr lang="en-US" sz="1350" dirty="0">
              <a:latin typeface="Aptos Black" panose="020B0004020202020204" pitchFamily="34" charset="0"/>
            </a:endParaRPr>
          </a:p>
        </p:txBody>
      </p:sp>
      <p:sp>
        <p:nvSpPr>
          <p:cNvPr id="13" name="Text 9"/>
          <p:cNvSpPr/>
          <p:nvPr/>
        </p:nvSpPr>
        <p:spPr>
          <a:xfrm>
            <a:off x="3547872" y="2805067"/>
            <a:ext cx="2048256" cy="777240"/>
          </a:xfrm>
          <a:prstGeom prst="rect">
            <a:avLst/>
          </a:prstGeom>
          <a:noFill/>
          <a:ln/>
        </p:spPr>
        <p:txBody>
          <a:bodyPr wrap="square" lIns="0" tIns="0" rIns="0" bIns="0" rtlCol="0" anchor="t"/>
          <a:lstStyle/>
          <a:p>
            <a:pPr marL="0" indent="0" algn="ctr">
              <a:lnSpc>
                <a:spcPts val="1500"/>
              </a:lnSpc>
              <a:buNone/>
            </a:pPr>
            <a:r>
              <a:rPr lang="en-US" sz="1150" dirty="0">
                <a:solidFill>
                  <a:srgbClr val="2E2B45"/>
                </a:solidFill>
                <a:latin typeface="Bierstadt" panose="020B0004020202020204" pitchFamily="34" charset="0"/>
                <a:ea typeface="Calibri" pitchFamily="34" charset="-122"/>
                <a:cs typeface="Calibri" pitchFamily="34" charset="-120"/>
              </a:rPr>
              <a:t>Stress-tests across damage thresholds (10%–50%) under both random and targeted deletion.</a:t>
            </a:r>
            <a:endParaRPr lang="en-US" sz="1150" dirty="0">
              <a:latin typeface="Bierstadt" panose="020B0004020202020204" pitchFamily="34" charset="0"/>
            </a:endParaRPr>
          </a:p>
        </p:txBody>
      </p:sp>
      <p:sp>
        <p:nvSpPr>
          <p:cNvPr id="14" name="Shape 10"/>
          <p:cNvSpPr/>
          <p:nvPr/>
        </p:nvSpPr>
        <p:spPr>
          <a:xfrm>
            <a:off x="6080760" y="1314450"/>
            <a:ext cx="2560320" cy="2606040"/>
          </a:xfrm>
          <a:prstGeom prst="roundRect">
            <a:avLst>
              <a:gd name="adj" fmla="val 2545"/>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sp>
        <p:nvSpPr>
          <p:cNvPr id="15" name="Shape 11"/>
          <p:cNvSpPr/>
          <p:nvPr/>
        </p:nvSpPr>
        <p:spPr>
          <a:xfrm>
            <a:off x="7086600" y="1588770"/>
            <a:ext cx="548640" cy="548640"/>
          </a:xfrm>
          <a:prstGeom prst="ellipse">
            <a:avLst/>
          </a:prstGeom>
          <a:solidFill>
            <a:srgbClr val="F1EFF7"/>
          </a:solidFill>
          <a:ln w="12700">
            <a:solidFill>
              <a:srgbClr val="B7B1CD"/>
            </a:solidFill>
            <a:prstDash val="solid"/>
          </a:ln>
        </p:spPr>
        <p:txBody>
          <a:bodyPr/>
          <a:lstStyle/>
          <a:p>
            <a:endParaRPr lang="en-IL"/>
          </a:p>
        </p:txBody>
      </p:sp>
      <p:pic>
        <p:nvPicPr>
          <p:cNvPr id="16" name="Image 2" descr="preencoded.png"/>
          <p:cNvPicPr>
            <a:picLocks noChangeAspect="1"/>
          </p:cNvPicPr>
          <p:nvPr/>
        </p:nvPicPr>
        <p:blipFill>
          <a:blip r:embed="rId5"/>
          <a:stretch>
            <a:fillRect/>
          </a:stretch>
        </p:blipFill>
        <p:spPr>
          <a:xfrm>
            <a:off x="7229246" y="1731416"/>
            <a:ext cx="263347" cy="263347"/>
          </a:xfrm>
          <a:prstGeom prst="rect">
            <a:avLst/>
          </a:prstGeom>
        </p:spPr>
      </p:pic>
      <p:sp>
        <p:nvSpPr>
          <p:cNvPr id="17" name="Text 12"/>
          <p:cNvSpPr/>
          <p:nvPr/>
        </p:nvSpPr>
        <p:spPr>
          <a:xfrm>
            <a:off x="6281928" y="2320290"/>
            <a:ext cx="2157984" cy="292608"/>
          </a:xfrm>
          <a:prstGeom prst="rect">
            <a:avLst/>
          </a:prstGeom>
          <a:noFill/>
          <a:ln/>
        </p:spPr>
        <p:txBody>
          <a:bodyPr wrap="square" lIns="0" tIns="0" rIns="0" bIns="0" rtlCol="0" anchor="ctr"/>
          <a:lstStyle/>
          <a:p>
            <a:pPr marL="0" indent="0" algn="ctr">
              <a:buNone/>
            </a:pPr>
            <a:r>
              <a:rPr lang="en-US" sz="1350" b="1" dirty="0">
                <a:solidFill>
                  <a:srgbClr val="4E4A73"/>
                </a:solidFill>
                <a:latin typeface="Aptos Black" panose="020B0004020202020204" pitchFamily="34" charset="0"/>
                <a:ea typeface="Arial" pitchFamily="34" charset="-122"/>
                <a:cs typeface="Arial" pitchFamily="34" charset="-120"/>
              </a:rPr>
              <a:t>Comparison to Classical Metrics</a:t>
            </a:r>
            <a:endParaRPr lang="en-US" sz="1350" dirty="0">
              <a:latin typeface="Aptos Black" panose="020B0004020202020204" pitchFamily="34" charset="0"/>
            </a:endParaRPr>
          </a:p>
        </p:txBody>
      </p:sp>
      <p:sp>
        <p:nvSpPr>
          <p:cNvPr id="18" name="Text 13"/>
          <p:cNvSpPr/>
          <p:nvPr/>
        </p:nvSpPr>
        <p:spPr>
          <a:xfrm>
            <a:off x="6336792" y="2795924"/>
            <a:ext cx="2048256" cy="777240"/>
          </a:xfrm>
          <a:prstGeom prst="rect">
            <a:avLst/>
          </a:prstGeom>
          <a:noFill/>
          <a:ln/>
        </p:spPr>
        <p:txBody>
          <a:bodyPr wrap="square" lIns="0" tIns="0" rIns="0" bIns="0" rtlCol="0" anchor="t"/>
          <a:lstStyle/>
          <a:p>
            <a:pPr marL="0" indent="0" algn="ctr">
              <a:lnSpc>
                <a:spcPts val="1500"/>
              </a:lnSpc>
              <a:buNone/>
            </a:pPr>
            <a:r>
              <a:rPr lang="en-US" sz="1150" dirty="0">
                <a:solidFill>
                  <a:srgbClr val="2E2B45"/>
                </a:solidFill>
                <a:latin typeface="Bierstadt" panose="020B0004020202020204" pitchFamily="34" charset="0"/>
                <a:ea typeface="Calibri" pitchFamily="34" charset="-122"/>
                <a:cs typeface="Calibri" pitchFamily="34" charset="-120"/>
              </a:rPr>
              <a:t>Benchmarks proposed probabilistic metric against traditional deterministic measures (e.g., algebraic connectivity).</a:t>
            </a:r>
            <a:endParaRPr lang="en-US" sz="1150" dirty="0">
              <a:latin typeface="Bierstadt" panose="020B0004020202020204" pitchFamily="34" charset="0"/>
            </a:endParaRPr>
          </a:p>
        </p:txBody>
      </p:sp>
      <p:sp>
        <p:nvSpPr>
          <p:cNvPr id="19" name="Shape 14"/>
          <p:cNvSpPr/>
          <p:nvPr/>
        </p:nvSpPr>
        <p:spPr>
          <a:xfrm>
            <a:off x="502920" y="4057650"/>
            <a:ext cx="8138160" cy="731520"/>
          </a:xfrm>
          <a:prstGeom prst="roundRect">
            <a:avLst>
              <a:gd name="adj" fmla="val 8750"/>
            </a:avLst>
          </a:prstGeom>
          <a:solidFill>
            <a:srgbClr val="7A75A3"/>
          </a:solidFill>
          <a:ln w="12700">
            <a:solidFill>
              <a:srgbClr val="7A75A3"/>
            </a:solidFill>
            <a:prstDash val="solid"/>
          </a:ln>
          <a:effectLst>
            <a:outerShdw algn="bl" rotWithShape="0">
              <a:srgbClr val="3A3660">
                <a:alpha val="0"/>
              </a:srgbClr>
            </a:outerShdw>
          </a:effectLst>
        </p:spPr>
        <p:txBody>
          <a:bodyPr/>
          <a:lstStyle/>
          <a:p>
            <a:endParaRPr lang="en-IL"/>
          </a:p>
        </p:txBody>
      </p:sp>
      <p:sp>
        <p:nvSpPr>
          <p:cNvPr id="20" name="Shape 15"/>
          <p:cNvSpPr/>
          <p:nvPr/>
        </p:nvSpPr>
        <p:spPr>
          <a:xfrm>
            <a:off x="713232" y="4194810"/>
            <a:ext cx="457200" cy="457200"/>
          </a:xfrm>
          <a:prstGeom prst="ellipse">
            <a:avLst/>
          </a:prstGeom>
          <a:solidFill>
            <a:srgbClr val="FFFFFF"/>
          </a:solidFill>
          <a:ln/>
        </p:spPr>
        <p:txBody>
          <a:bodyPr/>
          <a:lstStyle/>
          <a:p>
            <a:endParaRPr lang="en-IL"/>
          </a:p>
        </p:txBody>
      </p:sp>
      <p:pic>
        <p:nvPicPr>
          <p:cNvPr id="21" name="Image 3" descr="preencoded.png"/>
          <p:cNvPicPr>
            <a:picLocks noChangeAspect="1"/>
          </p:cNvPicPr>
          <p:nvPr/>
        </p:nvPicPr>
        <p:blipFill>
          <a:blip r:embed="rId6"/>
          <a:stretch>
            <a:fillRect/>
          </a:stretch>
        </p:blipFill>
        <p:spPr>
          <a:xfrm>
            <a:off x="813816" y="4295394"/>
            <a:ext cx="256032" cy="256032"/>
          </a:xfrm>
          <a:prstGeom prst="rect">
            <a:avLst/>
          </a:prstGeom>
        </p:spPr>
      </p:pic>
      <p:sp>
        <p:nvSpPr>
          <p:cNvPr id="22" name="Text 16"/>
          <p:cNvSpPr/>
          <p:nvPr/>
        </p:nvSpPr>
        <p:spPr>
          <a:xfrm>
            <a:off x="1371600" y="4057650"/>
            <a:ext cx="7132320" cy="731520"/>
          </a:xfrm>
          <a:prstGeom prst="rect">
            <a:avLst/>
          </a:prstGeom>
          <a:noFill/>
          <a:ln/>
        </p:spPr>
        <p:txBody>
          <a:bodyPr wrap="square" lIns="0" tIns="0" rIns="0" bIns="0" rtlCol="0" anchor="ctr"/>
          <a:lstStyle/>
          <a:p>
            <a:pPr marL="0" indent="0">
              <a:buNone/>
            </a:pPr>
            <a:r>
              <a:rPr lang="en-US" sz="1300" b="1" dirty="0">
                <a:solidFill>
                  <a:srgbClr val="FFFFFF"/>
                </a:solidFill>
                <a:latin typeface="Bierstadt" panose="020B0004020202020204" pitchFamily="34" charset="0"/>
                <a:ea typeface="Calibri" pitchFamily="34" charset="-122"/>
                <a:cs typeface="Calibri" pitchFamily="34" charset="-120"/>
              </a:rPr>
              <a:t>Future Work   </a:t>
            </a:r>
            <a:r>
              <a:rPr lang="en-US" sz="1300" dirty="0">
                <a:solidFill>
                  <a:srgbClr val="FFFFFF"/>
                </a:solidFill>
                <a:latin typeface="Calibri" pitchFamily="34" charset="0"/>
                <a:ea typeface="Calibri" pitchFamily="34" charset="-122"/>
                <a:cs typeface="Calibri" pitchFamily="34" charset="-120"/>
              </a:rPr>
              <a:t>Comparison </a:t>
            </a:r>
            <a:r>
              <a:rPr lang="en-US" sz="1300" dirty="0">
                <a:solidFill>
                  <a:srgbClr val="FFFFFF"/>
                </a:solidFill>
                <a:latin typeface="Bierstadt" panose="020B0004020202020204" pitchFamily="34" charset="0"/>
                <a:ea typeface="Calibri" pitchFamily="34" charset="-122"/>
                <a:cs typeface="Calibri" pitchFamily="34" charset="-120"/>
              </a:rPr>
              <a:t>against</a:t>
            </a:r>
            <a:r>
              <a:rPr lang="en-US" sz="1300" dirty="0">
                <a:solidFill>
                  <a:srgbClr val="FFFFFF"/>
                </a:solidFill>
                <a:latin typeface="Calibri" pitchFamily="34" charset="0"/>
                <a:ea typeface="Calibri" pitchFamily="34" charset="-122"/>
                <a:cs typeface="Calibri" pitchFamily="34" charset="-120"/>
              </a:rPr>
              <a:t> alternative graph generation baselines, to isolate the contribution of hyperbolic geometry specifically.</a:t>
            </a:r>
            <a:endParaRPr lang="en-US" sz="1300" dirty="0"/>
          </a:p>
        </p:txBody>
      </p:sp>
      <p:sp>
        <p:nvSpPr>
          <p:cNvPr id="23" name="Text 6">
            <a:extLst>
              <a:ext uri="{FF2B5EF4-FFF2-40B4-BE49-F238E27FC236}">
                <a16:creationId xmlns:a16="http://schemas.microsoft.com/office/drawing/2014/main" id="{C218B196-5A93-46CC-ABD9-A365D72EFA47}"/>
              </a:ext>
            </a:extLst>
          </p:cNvPr>
          <p:cNvSpPr/>
          <p:nvPr/>
        </p:nvSpPr>
        <p:spPr>
          <a:xfrm>
            <a:off x="8770144" y="4876800"/>
            <a:ext cx="221456"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13" dirty="0">
                <a:solidFill>
                  <a:srgbClr val="7A75A3"/>
                </a:solidFill>
                <a:latin typeface="Arial" pitchFamily="34" charset="0"/>
                <a:ea typeface="Arial" pitchFamily="34" charset="-122"/>
                <a:cs typeface="Arial" pitchFamily="34" charset="-120"/>
              </a:rPr>
              <a:t>14</a:t>
            </a:r>
            <a:endParaRPr lang="en-US" sz="8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marL="0" indent="0">
              <a:buNone/>
            </a:pPr>
            <a:r>
              <a:rPr lang="en-US" sz="1100" b="1" kern="0" spc="300" dirty="0">
                <a:solidFill>
                  <a:srgbClr val="7A75A3"/>
                </a:solidFill>
                <a:latin typeface="Arial" pitchFamily="34" charset="0"/>
                <a:ea typeface="Arial" pitchFamily="34" charset="-122"/>
                <a:cs typeface="Arial" pitchFamily="34" charset="-120"/>
              </a:rPr>
              <a:t>CLOSING</a:t>
            </a:r>
            <a:endParaRPr lang="en-US" sz="1100" dirty="0"/>
          </a:p>
        </p:txBody>
      </p:sp>
      <p:sp>
        <p:nvSpPr>
          <p:cNvPr id="3" name="Text 1"/>
          <p:cNvSpPr/>
          <p:nvPr/>
        </p:nvSpPr>
        <p:spPr>
          <a:xfrm>
            <a:off x="502920" y="502920"/>
            <a:ext cx="8138160" cy="566928"/>
          </a:xfrm>
          <a:prstGeom prst="rect">
            <a:avLst/>
          </a:prstGeom>
          <a:noFill/>
          <a:ln/>
        </p:spPr>
        <p:txBody>
          <a:bodyPr wrap="square" lIns="0" tIns="0" rIns="0" bIns="0" rtlCol="0" anchor="ctr"/>
          <a:lstStyle/>
          <a:p>
            <a:pPr marL="0" indent="0">
              <a:buNone/>
            </a:pPr>
            <a:r>
              <a:rPr lang="en-US" sz="3000" b="1" dirty="0">
                <a:solidFill>
                  <a:srgbClr val="2E2B45"/>
                </a:solidFill>
                <a:latin typeface="Arial Black" panose="020B0A04020102020204" pitchFamily="34" charset="0"/>
                <a:ea typeface="Arial" pitchFamily="34" charset="-122"/>
                <a:cs typeface="Arial" pitchFamily="34" charset="-120"/>
              </a:rPr>
              <a:t>Summary &amp; Conclusion</a:t>
            </a:r>
            <a:endParaRPr lang="en-US" sz="3000" dirty="0">
              <a:latin typeface="Arial Black" panose="020B0A04020102020204" pitchFamily="34" charset="0"/>
            </a:endParaRPr>
          </a:p>
        </p:txBody>
      </p:sp>
      <p:sp>
        <p:nvSpPr>
          <p:cNvPr id="4" name="Shape 2"/>
          <p:cNvSpPr/>
          <p:nvPr/>
        </p:nvSpPr>
        <p:spPr>
          <a:xfrm>
            <a:off x="502920" y="1371600"/>
            <a:ext cx="2560320" cy="3474720"/>
          </a:xfrm>
          <a:prstGeom prst="roundRect">
            <a:avLst>
              <a:gd name="adj" fmla="val 25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pic>
        <p:nvPicPr>
          <p:cNvPr id="5" name="Image 0" descr="assets/shift.png"/>
          <p:cNvPicPr>
            <a:picLocks noChangeAspect="1"/>
          </p:cNvPicPr>
          <p:nvPr/>
        </p:nvPicPr>
        <p:blipFill>
          <a:blip r:embed="rId3"/>
          <a:stretch>
            <a:fillRect/>
          </a:stretch>
        </p:blipFill>
        <p:spPr>
          <a:xfrm>
            <a:off x="822960" y="1600200"/>
            <a:ext cx="1920240" cy="1417320"/>
          </a:xfrm>
          <a:prstGeom prst="rect">
            <a:avLst/>
          </a:prstGeom>
        </p:spPr>
      </p:pic>
      <p:sp>
        <p:nvSpPr>
          <p:cNvPr id="6" name="Text 3"/>
          <p:cNvSpPr/>
          <p:nvPr/>
        </p:nvSpPr>
        <p:spPr>
          <a:xfrm>
            <a:off x="704088" y="3154680"/>
            <a:ext cx="2157984" cy="292608"/>
          </a:xfrm>
          <a:prstGeom prst="rect">
            <a:avLst/>
          </a:prstGeom>
          <a:noFill/>
          <a:ln/>
        </p:spPr>
        <p:txBody>
          <a:bodyPr wrap="square" lIns="0" tIns="0" rIns="0" bIns="0" rtlCol="0" anchor="ctr"/>
          <a:lstStyle/>
          <a:p>
            <a:pPr marL="0" indent="0" algn="ctr">
              <a:buNone/>
            </a:pPr>
            <a:r>
              <a:rPr lang="en-US" sz="1400" b="1" dirty="0">
                <a:solidFill>
                  <a:srgbClr val="4E4A73"/>
                </a:solidFill>
                <a:latin typeface="Aptos Black" panose="020B0004020202020204" pitchFamily="34" charset="0"/>
                <a:ea typeface="Arial" pitchFamily="34" charset="-122"/>
                <a:cs typeface="Arial" pitchFamily="34" charset="-120"/>
              </a:rPr>
              <a:t>The Shift</a:t>
            </a:r>
            <a:endParaRPr lang="en-US" sz="1400" dirty="0">
              <a:latin typeface="Aptos Black" panose="020B0004020202020204" pitchFamily="34" charset="0"/>
            </a:endParaRPr>
          </a:p>
        </p:txBody>
      </p:sp>
      <p:sp>
        <p:nvSpPr>
          <p:cNvPr id="7" name="Text 4"/>
          <p:cNvSpPr/>
          <p:nvPr/>
        </p:nvSpPr>
        <p:spPr>
          <a:xfrm>
            <a:off x="758952" y="3566160"/>
            <a:ext cx="2048256" cy="1143000"/>
          </a:xfrm>
          <a:prstGeom prst="rect">
            <a:avLst/>
          </a:prstGeom>
          <a:noFill/>
          <a:ln/>
        </p:spPr>
        <p:txBody>
          <a:bodyPr wrap="square" lIns="0" tIns="0" rIns="0" bIns="0" rtlCol="0" anchor="t"/>
          <a:lstStyle/>
          <a:p>
            <a:pPr marL="0" indent="0" algn="ctr">
              <a:lnSpc>
                <a:spcPts val="1500"/>
              </a:lnSpc>
              <a:buNone/>
            </a:pPr>
            <a:r>
              <a:rPr lang="en-US" sz="1150" dirty="0">
                <a:solidFill>
                  <a:srgbClr val="2E2B45"/>
                </a:solidFill>
                <a:latin typeface="Bierstadt" panose="020B0004020202020204" pitchFamily="34" charset="0"/>
                <a:ea typeface="Calibri" pitchFamily="34" charset="-122"/>
                <a:cs typeface="Calibri" pitchFamily="34" charset="-120"/>
              </a:rPr>
              <a:t>Transitioning from deterministic metrics to an uncertainty-aware, probabilistic framework for network evaluation.</a:t>
            </a:r>
            <a:endParaRPr lang="en-US" sz="1150" dirty="0">
              <a:latin typeface="Bierstadt" panose="020B0004020202020204" pitchFamily="34" charset="0"/>
            </a:endParaRPr>
          </a:p>
        </p:txBody>
      </p:sp>
      <p:sp>
        <p:nvSpPr>
          <p:cNvPr id="8" name="Shape 5"/>
          <p:cNvSpPr/>
          <p:nvPr/>
        </p:nvSpPr>
        <p:spPr>
          <a:xfrm>
            <a:off x="3291840" y="1371600"/>
            <a:ext cx="2560320" cy="3474720"/>
          </a:xfrm>
          <a:prstGeom prst="roundRect">
            <a:avLst>
              <a:gd name="adj" fmla="val 25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pic>
        <p:nvPicPr>
          <p:cNvPr id="9" name="Image 1" descr="assets/poincare.png"/>
          <p:cNvPicPr>
            <a:picLocks noChangeAspect="1"/>
          </p:cNvPicPr>
          <p:nvPr/>
        </p:nvPicPr>
        <p:blipFill>
          <a:blip r:embed="rId4"/>
          <a:stretch>
            <a:fillRect/>
          </a:stretch>
        </p:blipFill>
        <p:spPr>
          <a:xfrm>
            <a:off x="3886200" y="1600200"/>
            <a:ext cx="1371600" cy="1371600"/>
          </a:xfrm>
          <a:prstGeom prst="rect">
            <a:avLst/>
          </a:prstGeom>
        </p:spPr>
      </p:pic>
      <p:sp>
        <p:nvSpPr>
          <p:cNvPr id="10" name="Text 6"/>
          <p:cNvSpPr/>
          <p:nvPr/>
        </p:nvSpPr>
        <p:spPr>
          <a:xfrm>
            <a:off x="3493008" y="3154680"/>
            <a:ext cx="2157984" cy="292608"/>
          </a:xfrm>
          <a:prstGeom prst="rect">
            <a:avLst/>
          </a:prstGeom>
          <a:noFill/>
          <a:ln/>
        </p:spPr>
        <p:txBody>
          <a:bodyPr wrap="square" lIns="0" tIns="0" rIns="0" bIns="0" rtlCol="0" anchor="ctr"/>
          <a:lstStyle/>
          <a:p>
            <a:pPr marL="0" indent="0" algn="ctr">
              <a:buNone/>
            </a:pPr>
            <a:r>
              <a:rPr lang="en-US" sz="1400" b="1" dirty="0">
                <a:solidFill>
                  <a:srgbClr val="4E4A73"/>
                </a:solidFill>
                <a:latin typeface="Aptos Black" panose="020B0004020202020204" pitchFamily="34" charset="0"/>
                <a:ea typeface="Arial" pitchFamily="34" charset="-122"/>
                <a:cs typeface="Arial" pitchFamily="34" charset="-120"/>
              </a:rPr>
              <a:t>The Innovation</a:t>
            </a:r>
            <a:endParaRPr lang="en-US" sz="1400" dirty="0">
              <a:latin typeface="Aptos Black" panose="020B0004020202020204" pitchFamily="34" charset="0"/>
            </a:endParaRPr>
          </a:p>
        </p:txBody>
      </p:sp>
      <p:sp>
        <p:nvSpPr>
          <p:cNvPr id="11" name="Text 7"/>
          <p:cNvSpPr/>
          <p:nvPr/>
        </p:nvSpPr>
        <p:spPr>
          <a:xfrm>
            <a:off x="3547872" y="3566160"/>
            <a:ext cx="2048256" cy="1143000"/>
          </a:xfrm>
          <a:prstGeom prst="rect">
            <a:avLst/>
          </a:prstGeom>
          <a:noFill/>
          <a:ln/>
        </p:spPr>
        <p:txBody>
          <a:bodyPr wrap="square" lIns="0" tIns="0" rIns="0" bIns="0" rtlCol="0" anchor="t"/>
          <a:lstStyle/>
          <a:p>
            <a:pPr algn="ctr">
              <a:lnSpc>
                <a:spcPts val="1500"/>
              </a:lnSpc>
            </a:pPr>
            <a:r>
              <a:rPr lang="en-IL" sz="1200" dirty="0">
                <a:latin typeface="Bierstadt" panose="020B0004020202020204" pitchFamily="34" charset="0"/>
              </a:rPr>
              <a:t>Repurposing HypDiff, a generative model built only for graph generation, into a stability-evaluation pipeline via guided partial recovery.</a:t>
            </a:r>
            <a:endParaRPr lang="en-US" sz="1150" dirty="0">
              <a:latin typeface="Bierstadt" panose="020B0004020202020204" pitchFamily="34" charset="0"/>
            </a:endParaRPr>
          </a:p>
        </p:txBody>
      </p:sp>
      <p:sp>
        <p:nvSpPr>
          <p:cNvPr id="12" name="Shape 8"/>
          <p:cNvSpPr/>
          <p:nvPr/>
        </p:nvSpPr>
        <p:spPr>
          <a:xfrm>
            <a:off x="6080760" y="1371600"/>
            <a:ext cx="2560320" cy="3474720"/>
          </a:xfrm>
          <a:prstGeom prst="roundRect">
            <a:avLst>
              <a:gd name="adj" fmla="val 2500"/>
            </a:avLst>
          </a:prstGeom>
          <a:solidFill>
            <a:srgbClr val="FFFFFF"/>
          </a:solidFill>
          <a:ln w="12700">
            <a:solidFill>
              <a:srgbClr val="D8D6E2"/>
            </a:solidFill>
            <a:prstDash val="solid"/>
          </a:ln>
          <a:effectLst>
            <a:outerShdw algn="bl" rotWithShape="0">
              <a:srgbClr val="3A3660">
                <a:alpha val="0"/>
              </a:srgbClr>
            </a:outerShdw>
          </a:effectLst>
        </p:spPr>
        <p:txBody>
          <a:bodyPr/>
          <a:lstStyle/>
          <a:p>
            <a:endParaRPr lang="en-IL"/>
          </a:p>
        </p:txBody>
      </p:sp>
      <p:pic>
        <p:nvPicPr>
          <p:cNvPr id="13" name="Image 2" descr="assets/degradation.png"/>
          <p:cNvPicPr>
            <a:picLocks noChangeAspect="1"/>
          </p:cNvPicPr>
          <p:nvPr/>
        </p:nvPicPr>
        <p:blipFill>
          <a:blip r:embed="rId5"/>
          <a:stretch>
            <a:fillRect/>
          </a:stretch>
        </p:blipFill>
        <p:spPr>
          <a:xfrm>
            <a:off x="6423660" y="1600200"/>
            <a:ext cx="1874520" cy="1371600"/>
          </a:xfrm>
          <a:prstGeom prst="rect">
            <a:avLst/>
          </a:prstGeom>
        </p:spPr>
      </p:pic>
      <p:sp>
        <p:nvSpPr>
          <p:cNvPr id="14" name="Text 9"/>
          <p:cNvSpPr/>
          <p:nvPr/>
        </p:nvSpPr>
        <p:spPr>
          <a:xfrm>
            <a:off x="6281928" y="3154680"/>
            <a:ext cx="2157984" cy="292608"/>
          </a:xfrm>
          <a:prstGeom prst="rect">
            <a:avLst/>
          </a:prstGeom>
          <a:noFill/>
          <a:ln/>
        </p:spPr>
        <p:txBody>
          <a:bodyPr wrap="square" lIns="0" tIns="0" rIns="0" bIns="0" rtlCol="0" anchor="ctr"/>
          <a:lstStyle/>
          <a:p>
            <a:pPr marL="0" indent="0" algn="ctr">
              <a:buNone/>
            </a:pPr>
            <a:r>
              <a:rPr lang="en-US" sz="1400" b="1" dirty="0">
                <a:solidFill>
                  <a:srgbClr val="4E4A73"/>
                </a:solidFill>
                <a:latin typeface="Aptos Black" panose="020B0004020202020204" pitchFamily="34" charset="0"/>
                <a:ea typeface="Arial" pitchFamily="34" charset="-122"/>
                <a:cs typeface="Arial" pitchFamily="34" charset="-120"/>
              </a:rPr>
              <a:t>The Impact</a:t>
            </a:r>
            <a:endParaRPr lang="en-US" sz="1400" dirty="0">
              <a:latin typeface="Aptos Black" panose="020B0004020202020204" pitchFamily="34" charset="0"/>
            </a:endParaRPr>
          </a:p>
        </p:txBody>
      </p:sp>
      <p:sp>
        <p:nvSpPr>
          <p:cNvPr id="15" name="Text 10"/>
          <p:cNvSpPr/>
          <p:nvPr/>
        </p:nvSpPr>
        <p:spPr>
          <a:xfrm>
            <a:off x="6336792" y="3566160"/>
            <a:ext cx="2048256" cy="1143000"/>
          </a:xfrm>
          <a:prstGeom prst="rect">
            <a:avLst/>
          </a:prstGeom>
          <a:noFill/>
          <a:ln/>
        </p:spPr>
        <p:txBody>
          <a:bodyPr wrap="square" lIns="0" tIns="0" rIns="0" bIns="0" rtlCol="0" anchor="t"/>
          <a:lstStyle/>
          <a:p>
            <a:pPr marL="0" indent="0" algn="ctr">
              <a:lnSpc>
                <a:spcPts val="1500"/>
              </a:lnSpc>
              <a:buNone/>
            </a:pPr>
            <a:r>
              <a:rPr lang="en-US" sz="1150" dirty="0">
                <a:solidFill>
                  <a:srgbClr val="2E2B45"/>
                </a:solidFill>
                <a:latin typeface="Bierstadt" panose="020B0004020202020204" pitchFamily="34" charset="0"/>
                <a:ea typeface="Calibri" pitchFamily="34" charset="-122"/>
                <a:cs typeface="Calibri" pitchFamily="34" charset="-120"/>
              </a:rPr>
              <a:t>The dynamic score provides a precise, geometry-derived measurement of true structural resilience under dynamic stress.</a:t>
            </a:r>
            <a:endParaRPr lang="en-US" sz="1150" dirty="0">
              <a:latin typeface="Bierstadt" panose="020B0004020202020204" pitchFamily="34" charset="0"/>
            </a:endParaRPr>
          </a:p>
        </p:txBody>
      </p:sp>
      <p:sp>
        <p:nvSpPr>
          <p:cNvPr id="16" name="Text 6">
            <a:extLst>
              <a:ext uri="{FF2B5EF4-FFF2-40B4-BE49-F238E27FC236}">
                <a16:creationId xmlns:a16="http://schemas.microsoft.com/office/drawing/2014/main" id="{95C20EB9-269A-5DE1-3CD2-6C93F42CF9C9}"/>
              </a:ext>
            </a:extLst>
          </p:cNvPr>
          <p:cNvSpPr/>
          <p:nvPr/>
        </p:nvSpPr>
        <p:spPr>
          <a:xfrm>
            <a:off x="8770144" y="4876800"/>
            <a:ext cx="221456" cy="152400"/>
          </a:xfrm>
          <a:prstGeom prst="rect">
            <a:avLst/>
          </a:prstGeom>
          <a:noFill/>
          <a:ln/>
        </p:spPr>
        <p:txBody>
          <a:bodyPr wrap="square" lIns="25400" tIns="25400" rIns="25400" bIns="25400" rtlCol="0" anchor="t">
            <a:normAutofit fontScale="92500" lnSpcReduction="20000"/>
          </a:bodyPr>
          <a:lstStyle/>
          <a:p>
            <a:pPr marL="0" indent="0" algn="l">
              <a:buNone/>
            </a:pPr>
            <a:r>
              <a:rPr lang="en-US" sz="825" b="1" kern="0" spc="113" dirty="0">
                <a:solidFill>
                  <a:srgbClr val="7A75A3"/>
                </a:solidFill>
                <a:latin typeface="Arial" pitchFamily="34" charset="0"/>
                <a:ea typeface="Arial" pitchFamily="34" charset="-122"/>
                <a:cs typeface="Arial" pitchFamily="34" charset="-120"/>
              </a:rPr>
              <a:t>15</a:t>
            </a:r>
            <a:endParaRPr lang="en-US" sz="8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1828800"/>
            <a:ext cx="7863840" cy="822960"/>
          </a:xfrm>
          <a:prstGeom prst="rect">
            <a:avLst/>
          </a:prstGeom>
          <a:noFill/>
          <a:ln/>
        </p:spPr>
        <p:txBody>
          <a:bodyPr wrap="square" lIns="0" tIns="0" rIns="0" bIns="0" rtlCol="0" anchor="ctr"/>
          <a:lstStyle/>
          <a:p>
            <a:pPr marL="0" indent="0">
              <a:buNone/>
            </a:pPr>
            <a:r>
              <a:rPr lang="en-US" sz="4800" b="1" dirty="0">
                <a:solidFill>
                  <a:srgbClr val="FFFFFF"/>
                </a:solidFill>
                <a:latin typeface="Arial" pitchFamily="34" charset="0"/>
                <a:ea typeface="Arial" pitchFamily="34" charset="-122"/>
                <a:cs typeface="Arial" pitchFamily="34" charset="-120"/>
              </a:rPr>
              <a:t>Thank You</a:t>
            </a:r>
            <a:endParaRPr lang="en-US" sz="4800" dirty="0"/>
          </a:p>
        </p:txBody>
      </p:sp>
      <p:sp>
        <p:nvSpPr>
          <p:cNvPr id="3" name="Text 1"/>
          <p:cNvSpPr/>
          <p:nvPr/>
        </p:nvSpPr>
        <p:spPr>
          <a:xfrm>
            <a:off x="640080" y="2743200"/>
            <a:ext cx="7863840" cy="457200"/>
          </a:xfrm>
          <a:prstGeom prst="rect">
            <a:avLst/>
          </a:prstGeom>
          <a:noFill/>
          <a:ln/>
        </p:spPr>
        <p:txBody>
          <a:bodyPr wrap="square" lIns="0" tIns="0" rIns="0" bIns="0" rtlCol="0" anchor="ctr"/>
          <a:lstStyle/>
          <a:p>
            <a:pPr marL="0" indent="0">
              <a:buNone/>
            </a:pPr>
            <a:r>
              <a:rPr lang="en-US" sz="2200" dirty="0">
                <a:solidFill>
                  <a:srgbClr val="B7B1CD"/>
                </a:solidFill>
                <a:latin typeface="Calibri" pitchFamily="34" charset="0"/>
                <a:ea typeface="Calibri" pitchFamily="34" charset="-122"/>
                <a:cs typeface="Calibri" pitchFamily="34" charset="-120"/>
              </a:rPr>
              <a:t>Questions?</a:t>
            </a:r>
            <a:endParaRPr lang="en-US" sz="2200" dirty="0"/>
          </a:p>
        </p:txBody>
      </p:sp>
      <p:sp>
        <p:nvSpPr>
          <p:cNvPr id="4" name="Text 2"/>
          <p:cNvSpPr/>
          <p:nvPr/>
        </p:nvSpPr>
        <p:spPr>
          <a:xfrm>
            <a:off x="640080" y="4206240"/>
            <a:ext cx="7863840" cy="320040"/>
          </a:xfrm>
          <a:prstGeom prst="rect">
            <a:avLst/>
          </a:prstGeom>
          <a:noFill/>
          <a:ln/>
        </p:spPr>
        <p:txBody>
          <a:bodyPr wrap="square" lIns="0" tIns="0" rIns="0" bIns="0" rtlCol="0" anchor="ctr"/>
          <a:lstStyle/>
          <a:p>
            <a:pPr marL="0" indent="0">
              <a:buNone/>
            </a:pPr>
            <a:r>
              <a:rPr lang="en-US" sz="1300" dirty="0">
                <a:solidFill>
                  <a:srgbClr val="B7B1CD"/>
                </a:solidFill>
                <a:latin typeface="Calibri" pitchFamily="34" charset="0"/>
                <a:ea typeface="Calibri" pitchFamily="34" charset="-122"/>
                <a:cs typeface="Calibri" pitchFamily="34" charset="-120"/>
              </a:rPr>
              <a:t>Rotem Maravent  ·  Irit Kogan     |     Advisors: Dr. Renata Avros  ·  Prof. Zeev Volkovich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2898</TotalTime>
  <Words>2858</Words>
  <Application>Microsoft Office PowerPoint</Application>
  <PresentationFormat>‫הצגה על המסך (16:9)</PresentationFormat>
  <Paragraphs>254</Paragraphs>
  <Slides>16</Slides>
  <Notes>16</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16</vt:i4>
      </vt:variant>
    </vt:vector>
  </HeadingPairs>
  <TitlesOfParts>
    <vt:vector size="23" baseType="lpstr">
      <vt:lpstr>Aptos Black</vt:lpstr>
      <vt:lpstr>Arial</vt:lpstr>
      <vt:lpstr>Arial Black</vt:lpstr>
      <vt:lpstr>Bierstadt</vt:lpstr>
      <vt:lpstr>Calibri</vt:lpstr>
      <vt:lpstr>Cambria Math</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Stability using Hyperbolic Geometric Latent Diffusion Model</dc:title>
  <dc:subject>PptxGenJS Presentation</dc:subject>
  <dc:creator>PptxGenJS</dc:creator>
  <cp:lastModifiedBy>רותם מרבנט</cp:lastModifiedBy>
  <cp:revision>4</cp:revision>
  <dcterms:created xsi:type="dcterms:W3CDTF">2026-07-01T20:26:06Z</dcterms:created>
  <dcterms:modified xsi:type="dcterms:W3CDTF">2026-07-05T00:30:23Z</dcterms:modified>
</cp:coreProperties>
</file>